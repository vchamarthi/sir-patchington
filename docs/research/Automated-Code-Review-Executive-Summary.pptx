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980bafae614fc5" /><Relationship Type="http://schemas.openxmlformats.org/officeDocument/2006/relationships/extended-properties" Target="/docProps/app.xml" Id="Ra32f5097e38742bc" /><Relationship Type="http://schemas.openxmlformats.org/officeDocument/2006/relationships/officeDocument" Target="/ppt/presentation.xml" Id="Re252d1d66a3b4466" /></Relationships>
</file>

<file path=ppt/presentation.xml><?xml version="1.0" encoding="utf-8"?>
<p:presentation xmlns:p="http://schemas.openxmlformats.org/presentationml/2006/main">
  <p:sldMasterIdLst>
    <p:sldMasterId xmlns:r="http://schemas.openxmlformats.org/officeDocument/2006/relationships" id="2147483648" r:id="R2aa871fedd2343d9"/>
  </p:sldMasterIdLst>
  <p:notesMasterIdLst>
    <p:notesMasterId xmlns:r="http://schemas.openxmlformats.org/officeDocument/2006/relationships" r:id="Rcc43a6656dea477c"/>
  </p:notesMasterIdLst>
  <p:sldIdLst>
    <p:sldId xmlns:r="http://schemas.openxmlformats.org/officeDocument/2006/relationships" id="256" r:id="R07d694dd3b4d4f4a"/>
    <p:sldId xmlns:r="http://schemas.openxmlformats.org/officeDocument/2006/relationships" id="257" r:id="R6814558fc7974e1e"/>
    <p:sldId xmlns:r="http://schemas.openxmlformats.org/officeDocument/2006/relationships" id="258" r:id="R7853c29b9fa84753"/>
    <p:sldId xmlns:r="http://schemas.openxmlformats.org/officeDocument/2006/relationships" id="259" r:id="Reef4edbed5f241e9"/>
    <p:sldId xmlns:r="http://schemas.openxmlformats.org/officeDocument/2006/relationships" id="260" r:id="R3cc995f04fdd493e"/>
    <p:sldId xmlns:r="http://schemas.openxmlformats.org/officeDocument/2006/relationships" id="261" r:id="R1924feea81414e09"/>
    <p:sldId xmlns:r="http://schemas.openxmlformats.org/officeDocument/2006/relationships" id="262" r:id="R0830a6c447684c58"/>
    <p:sldId xmlns:r="http://schemas.openxmlformats.org/officeDocument/2006/relationships" id="263" r:id="R63e9a248731e4afc"/>
    <p:sldId xmlns:r="http://schemas.openxmlformats.org/officeDocument/2006/relationships" id="264" r:id="R249d491bca1547bb"/>
    <p:sldId xmlns:r="http://schemas.openxmlformats.org/officeDocument/2006/relationships" id="265" r:id="R50eac2ac74e0484a"/>
    <p:sldId xmlns:r="http://schemas.openxmlformats.org/officeDocument/2006/relationships" id="266" r:id="R0c89359cae5140a0"/>
    <p:sldId xmlns:r="http://schemas.openxmlformats.org/officeDocument/2006/relationships" id="267" r:id="R865364cfb52447d2"/>
    <p:sldId xmlns:r="http://schemas.openxmlformats.org/officeDocument/2006/relationships" id="268" r:id="R87a157d81cd34476"/>
    <p:sldId xmlns:r="http://schemas.openxmlformats.org/officeDocument/2006/relationships" id="269" r:id="R1682388044924421"/>
    <p:sldId xmlns:r="http://schemas.openxmlformats.org/officeDocument/2006/relationships" id="270" r:id="Rd31ec9abedb54140"/>
    <p:sldId xmlns:r="http://schemas.openxmlformats.org/officeDocument/2006/relationships" id="271" r:id="R3819dd1054ea4b2b"/>
    <p:sldId xmlns:r="http://schemas.openxmlformats.org/officeDocument/2006/relationships" id="272" r:id="R76634e7e863f44a1"/>
    <p:sldId xmlns:r="http://schemas.openxmlformats.org/officeDocument/2006/relationships" id="273" r:id="R97d85aa7f20d4fdd"/>
    <p:sldId xmlns:r="http://schemas.openxmlformats.org/officeDocument/2006/relationships" id="274" r:id="Rf1a8adc4af6440b9"/>
    <p:sldId xmlns:r="http://schemas.openxmlformats.org/officeDocument/2006/relationships" id="275" r:id="Rd5551e7dfb4c47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b8d5a34aac474a" /><Relationship Type="http://schemas.openxmlformats.org/officeDocument/2006/relationships/slideMaster" Target="/ppt/slideMasters/slideMaster1.xml" Id="R2aa871fedd2343d9" /><Relationship Type="http://schemas.openxmlformats.org/officeDocument/2006/relationships/notesMaster" Target="/ppt/notesMasters/notesMaster1.xml" Id="Rcc43a6656dea477c" /><Relationship Type="http://schemas.openxmlformats.org/officeDocument/2006/relationships/presProps" Target="/ppt/presProps.xml" Id="R47990e41ef5e4030" /><Relationship Type="http://schemas.openxmlformats.org/officeDocument/2006/relationships/tableStyles" Target="/ppt/tableStyles.xml" Id="R2073111ec1564977" /><Relationship Type="http://schemas.openxmlformats.org/officeDocument/2006/relationships/slide" Target="/ppt/slides/slide1.xml" Id="R07d694dd3b4d4f4a" /><Relationship Type="http://schemas.openxmlformats.org/officeDocument/2006/relationships/slide" Target="/ppt/slides/slide2.xml" Id="R6814558fc7974e1e" /><Relationship Type="http://schemas.openxmlformats.org/officeDocument/2006/relationships/slide" Target="/ppt/slides/slide3.xml" Id="R7853c29b9fa84753" /><Relationship Type="http://schemas.openxmlformats.org/officeDocument/2006/relationships/slide" Target="/ppt/slides/slide4.xml" Id="Reef4edbed5f241e9" /><Relationship Type="http://schemas.openxmlformats.org/officeDocument/2006/relationships/slide" Target="/ppt/slides/slide5.xml" Id="R3cc995f04fdd493e" /><Relationship Type="http://schemas.openxmlformats.org/officeDocument/2006/relationships/slide" Target="/ppt/slides/slide6.xml" Id="R1924feea81414e09" /><Relationship Type="http://schemas.openxmlformats.org/officeDocument/2006/relationships/slide" Target="/ppt/slides/slide7.xml" Id="R0830a6c447684c58" /><Relationship Type="http://schemas.openxmlformats.org/officeDocument/2006/relationships/slide" Target="/ppt/slides/slide8.xml" Id="R63e9a248731e4afc" /><Relationship Type="http://schemas.openxmlformats.org/officeDocument/2006/relationships/slide" Target="/ppt/slides/slide9.xml" Id="R249d491bca1547bb" /><Relationship Type="http://schemas.openxmlformats.org/officeDocument/2006/relationships/slide" Target="/ppt/slides/slide10.xml" Id="R50eac2ac74e0484a" /><Relationship Type="http://schemas.openxmlformats.org/officeDocument/2006/relationships/slide" Target="/ppt/slides/slide11.xml" Id="R0c89359cae5140a0" /><Relationship Type="http://schemas.openxmlformats.org/officeDocument/2006/relationships/slide" Target="/ppt/slides/slide12.xml" Id="R865364cfb52447d2" /><Relationship Type="http://schemas.openxmlformats.org/officeDocument/2006/relationships/slide" Target="/ppt/slides/slide13.xml" Id="R87a157d81cd34476" /><Relationship Type="http://schemas.openxmlformats.org/officeDocument/2006/relationships/slide" Target="/ppt/slides/slide14.xml" Id="R1682388044924421" /><Relationship Type="http://schemas.openxmlformats.org/officeDocument/2006/relationships/slide" Target="/ppt/slides/slide15.xml" Id="Rd31ec9abedb54140" /><Relationship Type="http://schemas.openxmlformats.org/officeDocument/2006/relationships/slide" Target="/ppt/slides/slide16.xml" Id="R3819dd1054ea4b2b" /><Relationship Type="http://schemas.openxmlformats.org/officeDocument/2006/relationships/slide" Target="/ppt/slides/slide17.xml" Id="R76634e7e863f44a1" /><Relationship Type="http://schemas.openxmlformats.org/officeDocument/2006/relationships/slide" Target="/ppt/slides/slide18.xml" Id="R97d85aa7f20d4fdd" /><Relationship Type="http://schemas.openxmlformats.org/officeDocument/2006/relationships/slide" Target="/ppt/slides/slide19.xml" Id="Rf1a8adc4af6440b9" /><Relationship Type="http://schemas.openxmlformats.org/officeDocument/2006/relationships/slide" Target="/ppt/slides/slide20.xml" Id="Rd5551e7dfb4c47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f4faa5604048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1f78862daa4d92" /><Relationship Type="http://schemas.openxmlformats.org/officeDocument/2006/relationships/notesMaster" Target="/ppt/notesMasters/notesMaster1.xml" Id="Rf1b495df9e0f4a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f4e7cb469a4f82" /><Relationship Type="http://schemas.openxmlformats.org/officeDocument/2006/relationships/notesMaster" Target="/ppt/notesMasters/notesMaster1.xml" Id="Rd6cac2eba52447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984225f1c045ae" /><Relationship Type="http://schemas.openxmlformats.org/officeDocument/2006/relationships/notesMaster" Target="/ppt/notesMasters/notesMaster1.xml" Id="Rf4253faf91f54c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47e9742ced4b5f" /><Relationship Type="http://schemas.openxmlformats.org/officeDocument/2006/relationships/notesMaster" Target="/ppt/notesMasters/notesMaster1.xml" Id="R7f1eb72edecc4d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8b5c31a1f64b1f" /><Relationship Type="http://schemas.openxmlformats.org/officeDocument/2006/relationships/notesMaster" Target="/ppt/notesMasters/notesMaster1.xml" Id="R79d714f8b71f46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7171189a374e27" /><Relationship Type="http://schemas.openxmlformats.org/officeDocument/2006/relationships/notesMaster" Target="/ppt/notesMasters/notesMaster1.xml" Id="R73453286370747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43c9e9041f4fa7" /><Relationship Type="http://schemas.openxmlformats.org/officeDocument/2006/relationships/notesMaster" Target="/ppt/notesMasters/notesMaster1.xml" Id="R7bb1ceb29f0042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c8cdbc9c4544ab" /><Relationship Type="http://schemas.openxmlformats.org/officeDocument/2006/relationships/notesMaster" Target="/ppt/notesMasters/notesMaster1.xml" Id="R962f3c34552c49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ee2a6a9b524fb6" /><Relationship Type="http://schemas.openxmlformats.org/officeDocument/2006/relationships/notesMaster" Target="/ppt/notesMasters/notesMaster1.xml" Id="R1e9a3e0144c84d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84127374c242ba" /><Relationship Type="http://schemas.openxmlformats.org/officeDocument/2006/relationships/notesMaster" Target="/ppt/notesMasters/notesMaster1.xml" Id="R5bf61fc2bbb242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7aa8abcc9141b1" /><Relationship Type="http://schemas.openxmlformats.org/officeDocument/2006/relationships/notesMaster" Target="/ppt/notesMasters/notesMaster1.xml" Id="R16e62125524a44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219a29f7c54ccf" /><Relationship Type="http://schemas.openxmlformats.org/officeDocument/2006/relationships/notesMaster" Target="/ppt/notesMasters/notesMaster1.xml" Id="R0bc4e7da62b148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3377c57688466c" /><Relationship Type="http://schemas.openxmlformats.org/officeDocument/2006/relationships/notesMaster" Target="/ppt/notesMasters/notesMaster1.xml" Id="R3afc095c14fd4b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7b3c58b1274173" /><Relationship Type="http://schemas.openxmlformats.org/officeDocument/2006/relationships/notesMaster" Target="/ppt/notesMasters/notesMaster1.xml" Id="R46fec714046a41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b77fdc49624a67" /><Relationship Type="http://schemas.openxmlformats.org/officeDocument/2006/relationships/notesMaster" Target="/ppt/notesMasters/notesMaster1.xml" Id="R36f58397972040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b64eadc25e42da" /><Relationship Type="http://schemas.openxmlformats.org/officeDocument/2006/relationships/notesMaster" Target="/ppt/notesMasters/notesMaster1.xml" Id="R6fbdd38ae34c4a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9182e5ab7849f3" /><Relationship Type="http://schemas.openxmlformats.org/officeDocument/2006/relationships/notesMaster" Target="/ppt/notesMasters/notesMaster1.xml" Id="Ra92ea4fb42504d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cf123ca20e401c" /><Relationship Type="http://schemas.openxmlformats.org/officeDocument/2006/relationships/notesMaster" Target="/ppt/notesMasters/notesMaster1.xml" Id="R840ef92cc2ce4d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84138b07fd448d" /><Relationship Type="http://schemas.openxmlformats.org/officeDocument/2006/relationships/notesMaster" Target="/ppt/notesMasters/notesMaster1.xml" Id="R50d2440631394d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5929897834457b" /><Relationship Type="http://schemas.openxmlformats.org/officeDocument/2006/relationships/notesMaster" Target="/ppt/notesMasters/notesMaster1.xml" Id="Rbd0dc5c1f1e648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target-design research, not a pilot or implemented product. The report separates public code, documented behavior, vendor-reported results and proposals. Source and transcript evidence is linked throughout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private and public design ideas first; source-code availability does not filter the target. Implementation choices follow. The controller owns state, evidence and publishing. These are design recommendations from source inspection, not measured product rankings. Sources: https://www.qodo.ai/resources/high-signal-ai-code-review-a-multi-agent-blueprint/ https://www.greptile.com/blog/how-to-build-a-code-review-agent https://www.uber.com/us/en/blog/ureview/ https://code.claude.com/docs/en/code-review https://deepmind.google/blog/introducing-codemender-an-ai-agent-for-code-security/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Reviewing code, implementing feedback and independently checking a patch are separate workflows. A replacement snippet or an addressed comment is not proof of an executable, safe fix. Proposed conceptual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categories, not a ranking. Open-source engines: PR-Agent, Kodus (AGPL plus commercial EE), Shippie. Hosted engines are not established as open source. Reviewdog does deterministic diagnostic transport, not semantic review. Sources: https://github.com/The-PR-Agent/pr-agent https://github.com/kodustech/kodus-ai https://github.com/OpenHands/software-agent-sdk https://github.com/github/gh-aw https://cursor.com/docs/bugbot https://www.greptile.com/docs/introduction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launcher source was inspected and pins claude-sonnet-5-5; live auth/quota/generation were not requalified. Official Claude Action docs support subscription OAuth on Pro/Max/Team/Enterprise, but recommend API or workload identity for shared organization secrets. Managed Code Review is billed separately from included usage. Sources: https://code.claude.com/docs/en/github-actions https://code.claude.com/docs/en/code-review-costs Local launcher: /Users/denniscvsg/.hermes/scripts/claude_code_work/runner.py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Uber Figure 2, reproduced with attribution. It shows specialized comment assistants, review grading, duplicate filtering and category filtering. Source: https://www.uber.com/us/en/blog/ureview/ Image: https://tb-static.uber.com/prod/udam-assets/b4413453-80e2-5d89-8aca-bec46d4c4841.png . This is Uber's documented internal architecture, not public uReview source. Self-reported usefulness is not independently measured 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Uber Figure 1, an incorrect metric bug caught by uReview. It is a documented example rather than an experiment performed in this research. Source: https://www.uber.com/us/en/blog/ureview/ Image: https://tb-static.uber.com/prod/udam-assets/a898698b-6e21-5e5e-ad71-b2d55fa5013c.png . Our recommendation adds reproduction and independent patch checks; the image does not prove those were executed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Deterministic controller owns immutable revision identity, one active generation per PR, finding ledger, bounded tasks, independent checks, exact-candidate approval and remote-effect reconciliation. Workers do not receive publication credentials. This design has not been built or executed by this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publication contract. Approval binds old head, tested base, candidate identity, evidence and policy. The publisher rechecks the remote head immediately before the approved effect, and reconciles uncertain results before retrying. Source for analogous commit-bound internal practice: https://claude.dev/blog/solving-code-review-at-anthropic/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compatibility judgments, not claims that the products have no use. OpenQodex does not pin exact model or reject all API credentials in the inspected driver; managed Claude review uses separate billing and no build execution; stock Copilot /pr fix commits and pushes. Sources: https://github.com/openqodex/openqodex https://code.claude.com/docs/en/code-review-costs https://code.claude.com/docs/en/code-review https://docs.github.com/en/copilot/how-tos/copilot-cli/use-copilot-cli/manage-pull-requests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evidence limits: Uber filtering https://www.uber.com/us/en/blog/ureview/; Google CodeMender security research https://deepmind.google/blog/introducing-codemender-an-ai-agent-for-code-security/ (current production availability is separately restricted); Meta AI Regression Solver https://engineering.fb.com/2026/04/16/developer-tools/capacity-efficiency-at-meta-how-unified-ai-agents-optimize-performance-at-hyperscale/; Anthropic internal convergence and incident replay https://claude.dev/blog/solving-code-review-at-anthropic/; SpaceX acquisition statement https://cursor.com/blog/joining-spacex does not document internal flight-code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evaluation dimensions: useful precision, severe known-bug recall, clean-change false alarms, independent repair success/regressions, human effort and authorization reliability. Vendor scores, addressed-comment rates and SWE-bench issue-resolution scores measure different things. Source: https://arxiv.org/abs/2610.13668; https://github.com/review-bench/ReviewBench . No comparative runtime score is claimed in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conclusion: compose established components and retain one authoritative controller for policy, evidence and publication. Both personal and organizational end states are covered in the report. There is no claim of perfect review or a completed implementation; environment-specific qualification remains necessary. Slides 14–20 are an optional beginner walkthrough; the preceding 13 slides are the executive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repository holds project history. A branch points to a commit. A commit identifies a saved tree and its history. A pull request proposes merging changes from a head branch into a base branch; its diff is the change under review. The bot must record immutable identities rather than infer them from branch names. Current event semantics: https://docs.github.com/en/actions/reference/workflows-and-actions/events-that-trigger-workflows . Explain aloud: a PR number identifies a discussion; a commit identifies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Invented teaching example, not production code or an executed test. Intended rule: delivery is free for subtotal &gt;=50. Head changes &gt;= to &gt; and wrongly charges at exactly50. Because intended behavior is supplied explicitly, the finding is falsifiable. Without that requirement the bot should ask or retrieve evidence instead of inventing policy. Follow the same B1/H1/C1 example in the field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results for the invented example, not observed test outcomes. The trusted requirement is free delivery at &gt;=50. Test baseline B1, faulty head H1 and candidate C1 separately. Candidate check must also cover neighboring inputs, existing tests and relevant environments. Explain aloud: the reproducer identifies the defect; regression tests look for damage elsewhere.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labels and availability are documented, not settings installed on your repositories. Rulesets can require status checks, dismiss stale approvals or require approval of the most recent reviewable push, and require conversation resolution. Plan/repository visibility affects availability. These merge controls are not an exact-patch approval-before-push implementation. Source: https://docs.github.com/en/repositories/configuring-branches-and-merges-in-your-repository/managing-rulesets/available-rules-for-rulesets . Explain aloud: GitHub can enforce merge rules while a bot still has too much authority to push.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routing strategies, not universal hardcoded rules. Docs can change executable instructions; dependency updates can change install hooks; native numerical code needs actual compiler/device validation. Escalate risk by content, not by author or filename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Hypothetical race: analyze H1, generate/test C1, author pushes H2 before publication. The candidate must not be blindly rebased and pushed under old approval. Reconcile and verify new work; re-approve as required. GitHub concurrency cancellation alone is not a publisher compare-and-set. Source: https://docs.github.com/en/actions/how-tos/write-workflows/choose-when-workflows-run/control-workflow-concurrency . Two PRs may also share a head ref, requiring repo/ref fencing.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teach-back. Follow the field guide for examples and the research report for full edge cases, live-checked settings, YAML and source inspections. Answers must identify exact code, the falsifiable defect, evidence and its limits, and the responsible publication authority. No tool or source reviewed here eliminates every bug.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46331fcbe849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a8e85843b84f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cc4c7aa1bd47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8a698421114c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a1a60280dc48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ea1a0c2f5c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76BE93-D5AE-4168-A86D-A00BC59A42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953FFF-9717-415A-A2E9-62616F3075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C9BEE1-A902-4F63-941E-D779E7AE16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4A297F-0AC0-4DCF-BA9F-C8C3BDA6D3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D78AE9-43A4-42AB-8567-3DACDA871A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49ABA8-EA63-42D4-9838-41EB7BBF71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443ABF-20AD-4531-811A-E94EAECBD5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C69611-ADFF-4EEA-8A23-538A6920FA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17216E-A85A-406D-8C27-E0D99E6E5C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248658-2703-4A58-9E76-1539E9C280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38945539324927" /><Relationship Type="http://schemas.openxmlformats.org/officeDocument/2006/relationships/slideLayout" Target="/ppt/slideLayouts/slideLayout1.xml" Id="Refa0faa059ba4054" /><Relationship Type="http://schemas.openxmlformats.org/officeDocument/2006/relationships/slideLayout" Target="/ppt/slideLayouts/slideLayout2.xml" Id="Ra375883a6280436e" /><Relationship Type="http://schemas.openxmlformats.org/officeDocument/2006/relationships/slideLayout" Target="/ppt/slideLayouts/slideLayout3.xml" Id="R4aaa2e98362b46ee" /><Relationship Type="http://schemas.openxmlformats.org/officeDocument/2006/relationships/slideLayout" Target="/ppt/slideLayouts/slideLayout4.xml" Id="Ra8dc38ea2e2f49f8" /><Relationship Type="http://schemas.openxmlformats.org/officeDocument/2006/relationships/slideLayout" Target="/ppt/slideLayouts/slideLayout5.xml" Id="R035a745c27464bee" /><Relationship Type="http://schemas.openxmlformats.org/officeDocument/2006/relationships/slideLayout" Target="/ppt/slideLayouts/slideLayout6.xml" Id="R4b73f25060204c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a0faa059ba4054"/>
    <p:sldLayoutId xmlns:r="http://schemas.openxmlformats.org/officeDocument/2006/relationships" id="2147483650" r:id="Ra375883a6280436e"/>
    <p:sldLayoutId xmlns:r="http://schemas.openxmlformats.org/officeDocument/2006/relationships" id="2147483651" r:id="R4aaa2e98362b46ee"/>
    <p:sldLayoutId xmlns:r="http://schemas.openxmlformats.org/officeDocument/2006/relationships" id="2147483652" r:id="Ra8dc38ea2e2f49f8"/>
    <p:sldLayoutId xmlns:r="http://schemas.openxmlformats.org/officeDocument/2006/relationships" id="2147483653" r:id="R035a745c27464bee"/>
    <p:sldLayoutId xmlns:r="http://schemas.openxmlformats.org/officeDocument/2006/relationships" id="2147483654" r:id="R4b73f25060204c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b836b8fd3543b8" /><Relationship Type="http://schemas.openxmlformats.org/officeDocument/2006/relationships/notesSlide" Target="/ppt/notesSlides/notesSlide1.xml" Id="R1504cfddd50645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ffb4181ec248ab" /><Relationship Type="http://schemas.openxmlformats.org/officeDocument/2006/relationships/notesSlide" Target="/ppt/notesSlides/notesSlide2.xml" Id="Rcc4fd96ab30845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9572884d274a05" /><Relationship Type="http://schemas.openxmlformats.org/officeDocument/2006/relationships/notesSlide" Target="/ppt/notesSlides/notesSlide3.xml" Id="R05218c4370394d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b2afe57977403c" /><Relationship Type="http://schemas.openxmlformats.org/officeDocument/2006/relationships/notesSlide" Target="/ppt/notesSlides/notesSlide4.xml" Id="R55b6b5d91875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9407ddda3f4c75" /><Relationship Type="http://schemas.openxmlformats.org/officeDocument/2006/relationships/notesSlide" Target="/ppt/notesSlides/notesSlide5.xml" Id="R2770cfa5cfb047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5f62b91f80414b" /><Relationship Type="http://schemas.openxmlformats.org/officeDocument/2006/relationships/image" Target="/ppt/media/image.png" Id="R9c5b1c86b0b74177" /><Relationship Type="http://schemas.openxmlformats.org/officeDocument/2006/relationships/notesSlide" Target="/ppt/notesSlides/notesSlide6.xml" Id="R831131bbd13948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865c3c5ecf4f90" /><Relationship Type="http://schemas.openxmlformats.org/officeDocument/2006/relationships/image" Target="/ppt/media/image2.png" Id="Rc30d4434d2f74963" /><Relationship Type="http://schemas.openxmlformats.org/officeDocument/2006/relationships/notesSlide" Target="/ppt/notesSlides/notesSlide7.xml" Id="R510f8aec80fc46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29697ab5d6a402d" /><Relationship Type="http://schemas.openxmlformats.org/officeDocument/2006/relationships/notesSlide" Target="/ppt/notesSlides/notesSlide8.xml" Id="R2bea75afb41946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3e87fce6e14cc8" /><Relationship Type="http://schemas.openxmlformats.org/officeDocument/2006/relationships/notesSlide" Target="/ppt/notesSlides/notesSlide9.xml" Id="Rf8bde63d7fc148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659c24968c4fec" /><Relationship Type="http://schemas.openxmlformats.org/officeDocument/2006/relationships/notesSlide" Target="/ppt/notesSlides/notesSlide10.xml" Id="R2937342cbff749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58f22bb4f34588" /><Relationship Type="http://schemas.openxmlformats.org/officeDocument/2006/relationships/notesSlide" Target="/ppt/notesSlides/notesSlide11.xml" Id="Rbab8bb12e6074e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e5c879fbb954c92" /><Relationship Type="http://schemas.openxmlformats.org/officeDocument/2006/relationships/notesSlide" Target="/ppt/notesSlides/notesSlide12.xml" Id="R4bef2a5c3cb94f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0afc3e637654214" /><Relationship Type="http://schemas.openxmlformats.org/officeDocument/2006/relationships/notesSlide" Target="/ppt/notesSlides/notesSlide13.xml" Id="R3032a6f8fbbf4a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ffe5955ab947da" /><Relationship Type="http://schemas.openxmlformats.org/officeDocument/2006/relationships/notesSlide" Target="/ppt/notesSlides/notesSlide14.xml" Id="R919893f177324c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4a263e6ac894cd1" /><Relationship Type="http://schemas.openxmlformats.org/officeDocument/2006/relationships/notesSlide" Target="/ppt/notesSlides/notesSlide15.xml" Id="Rdf7d4ad5104749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47d6d18323c4fcf" /><Relationship Type="http://schemas.openxmlformats.org/officeDocument/2006/relationships/notesSlide" Target="/ppt/notesSlides/notesSlide16.xml" Id="R28c0a8bdfa4c47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145efe286f4f10" /><Relationship Type="http://schemas.openxmlformats.org/officeDocument/2006/relationships/notesSlide" Target="/ppt/notesSlides/notesSlide17.xml" Id="R527a17e9853349a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a59dbbe4154765" /><Relationship Type="http://schemas.openxmlformats.org/officeDocument/2006/relationships/notesSlide" Target="/ppt/notesSlides/notesSlide18.xml" Id="R312e0c2f1c5a4f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e253d10ed254f41" /><Relationship Type="http://schemas.openxmlformats.org/officeDocument/2006/relationships/notesSlide" Target="/ppt/notesSlides/notesSlide19.xml" Id="R7f58336be89d46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fee13af061145ad" /><Relationship Type="http://schemas.openxmlformats.org/officeDocument/2006/relationships/notesSlide" Target="/ppt/notesSlides/notesSlide20.xml" Id="R2432b92f108d42c0" /></Relationships>
</file>

<file path=ppt/slides/slide1.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C12B581F-9762-4B6B-BA0C-C1030F3CF735}"/>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01</a:t>
            </a:r>
          </a:p>
        </p:txBody>
      </p:sp>
      <p:sp>
        <p:nvSpPr>
          <p:cNvPr id="2" name="Automated&#10;code review">
            <a:extLst xmlns:a="http://schemas.openxmlformats.org/drawingml/2006/main">
              <a:ext uri="{FF2B5EF4-FFF2-40B4-BE49-F238E27FC236}">
                <a16:creationId xmlns:a16="http://schemas.microsoft.com/office/drawing/2014/main" id="{A5450CAA-F0F1-4EEF-805F-54F86A523ED9}"/>
              </a:ext>
            </a:extLst>
          </p:cNvPr>
          <p:cNvSpPr>
            <a:spLocks xmlns:a="http://schemas.openxmlformats.org/drawingml/2006/main" noGrp="1"/>
          </p:cNvSpPr>
          <p:nvPr/>
        </p:nvSpPr>
        <p:spPr>
          <a:xfrm xmlns:a="http://schemas.openxmlformats.org/drawingml/2006/main">
            <a:off x="742950" y="1143000"/>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0">
                <a:solidFill>
                  <a:srgbClr val="4B2E23"/>
                </a:solidFill>
                <a:latin typeface="Georgia"/>
                <a:ea typeface="Georgia"/>
                <a:cs typeface="Georgia"/>
              </a:defRPr>
            </a:defPPr>
            <a:lvl1pPr>
              <a:defRPr sz="6450" b="0">
                <a:solidFill>
                  <a:srgbClr val="4B2E23"/>
                </a:solidFill>
                <a:latin typeface="Georgia"/>
                <a:ea typeface="Georgia"/>
                <a:cs typeface="Georgia"/>
              </a:defRPr>
            </a:lvl1pPr>
            <a:lvl2pPr>
              <a:defRPr sz="6450" b="0">
                <a:solidFill>
                  <a:srgbClr val="4B2E23"/>
                </a:solidFill>
                <a:latin typeface="Georgia"/>
                <a:ea typeface="Georgia"/>
                <a:cs typeface="Georgia"/>
              </a:defRPr>
            </a:lvl2pPr>
            <a:lvl3pPr>
              <a:defRPr sz="6450" b="0">
                <a:solidFill>
                  <a:srgbClr val="4B2E23"/>
                </a:solidFill>
                <a:latin typeface="Georgia"/>
                <a:ea typeface="Georgia"/>
                <a:cs typeface="Georgia"/>
              </a:defRPr>
            </a:lvl3pPr>
            <a:lvl4pPr>
              <a:defRPr sz="6450" b="0">
                <a:solidFill>
                  <a:srgbClr val="4B2E23"/>
                </a:solidFill>
                <a:latin typeface="Georgia"/>
                <a:ea typeface="Georgia"/>
                <a:cs typeface="Georgia"/>
              </a:defRPr>
            </a:lvl4pPr>
            <a:lvl5pPr>
              <a:defRPr sz="6450" b="0">
                <a:solidFill>
                  <a:srgbClr val="4B2E23"/>
                </a:solidFill>
                <a:latin typeface="Georgia"/>
                <a:ea typeface="Georgia"/>
                <a:cs typeface="Georgia"/>
              </a:defRPr>
            </a:lvl5pPr>
            <a:lvl6pPr>
              <a:defRPr sz="6450" b="0">
                <a:solidFill>
                  <a:srgbClr val="4B2E23"/>
                </a:solidFill>
                <a:latin typeface="Georgia"/>
                <a:ea typeface="Georgia"/>
                <a:cs typeface="Georgia"/>
              </a:defRPr>
            </a:lvl6pPr>
            <a:lvl7pPr>
              <a:defRPr sz="6450" b="0">
                <a:solidFill>
                  <a:srgbClr val="4B2E23"/>
                </a:solidFill>
                <a:latin typeface="Georgia"/>
                <a:ea typeface="Georgia"/>
                <a:cs typeface="Georgia"/>
              </a:defRPr>
            </a:lvl7pPr>
            <a:lvl8pPr>
              <a:defRPr sz="6450" b="0">
                <a:solidFill>
                  <a:srgbClr val="4B2E23"/>
                </a:solidFill>
                <a:latin typeface="Georgia"/>
                <a:ea typeface="Georgia"/>
                <a:cs typeface="Georgia"/>
              </a:defRPr>
            </a:lvl8pPr>
            <a:lvl9pPr>
              <a:defRPr sz="6450" b="0">
                <a:solidFill>
                  <a:srgbClr val="4B2E23"/>
                </a:solidFill>
                <a:latin typeface="Georgia"/>
                <a:ea typeface="Georgia"/>
                <a:cs typeface="Georgia"/>
              </a:defRPr>
            </a:lvl9pPr>
          </a:lstStyle>
          <a:p xmlns:a="http://schemas.openxmlformats.org/drawingml/2006/main">
            <a:pPr>
              <a:defRPr sz="6450" b="0">
                <a:solidFill>
                  <a:srgbClr val="4B2E23"/>
                </a:solidFill>
                <a:latin typeface="Georgia"/>
                <a:ea typeface="Georgia"/>
                <a:cs typeface="Georgia"/>
              </a:defRPr>
            </a:pPr>
            <a:r>
              <a:rPr sz="6450" b="0">
                <a:solidFill>
                  <a:srgbClr val="4B2E23"/>
                </a:solidFill>
                <a:latin typeface="Georgia"/>
                <a:ea typeface="Georgia"/>
                <a:cs typeface="Georgia"/>
              </a:rPr>
              <a:t>Automated</a:t>
            </a:r>
          </a:p>
          <a:p xmlns:a="http://schemas.openxmlformats.org/drawingml/2006/main">
            <a:pPr>
              <a:defRPr sz="6450" b="0">
                <a:solidFill>
                  <a:srgbClr val="4B2E23"/>
                </a:solidFill>
                <a:latin typeface="Georgia"/>
                <a:ea typeface="Georgia"/>
                <a:cs typeface="Georgia"/>
              </a:defRPr>
            </a:pPr>
            <a:r>
              <a:rPr sz="6450" b="0">
                <a:solidFill>
                  <a:srgbClr val="4B2E23"/>
                </a:solidFill>
                <a:latin typeface="Georgia"/>
                <a:ea typeface="Georgia"/>
                <a:cs typeface="Georgia"/>
              </a:rPr>
              <a:t>code review</a:t>
            </a:r>
          </a:p>
        </p:txBody>
      </p:sp>
      <p:sp>
        <p:nvSpPr>
          <p:cNvPr id="3" name="And fixes you can trust">
            <a:extLst xmlns:a="http://schemas.openxmlformats.org/drawingml/2006/main">
              <a:ext uri="{FF2B5EF4-FFF2-40B4-BE49-F238E27FC236}">
                <a16:creationId xmlns:a16="http://schemas.microsoft.com/office/drawing/2014/main" id="{AA6EEE95-46CB-4BE5-B1CB-1F23AE8CE1A2}"/>
              </a:ext>
            </a:extLst>
          </p:cNvPr>
          <p:cNvSpPr>
            <a:spLocks xmlns:a="http://schemas.openxmlformats.org/drawingml/2006/main" noGrp="1"/>
          </p:cNvSpPr>
          <p:nvPr/>
        </p:nvSpPr>
        <p:spPr>
          <a:xfrm xmlns:a="http://schemas.openxmlformats.org/drawingml/2006/main">
            <a:off x="781050" y="382905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8E5033"/>
                </a:solidFill>
                <a:latin typeface="Avenir Next"/>
                <a:ea typeface="Avenir Next"/>
                <a:cs typeface="Avenir Next"/>
              </a:defRPr>
            </a:defPPr>
            <a:lvl1pPr>
              <a:defRPr sz="3150" b="0">
                <a:solidFill>
                  <a:srgbClr val="8E5033"/>
                </a:solidFill>
                <a:latin typeface="Avenir Next"/>
                <a:ea typeface="Avenir Next"/>
                <a:cs typeface="Avenir Next"/>
              </a:defRPr>
            </a:lvl1pPr>
            <a:lvl2pPr>
              <a:defRPr sz="3150" b="0">
                <a:solidFill>
                  <a:srgbClr val="8E5033"/>
                </a:solidFill>
                <a:latin typeface="Avenir Next"/>
                <a:ea typeface="Avenir Next"/>
                <a:cs typeface="Avenir Next"/>
              </a:defRPr>
            </a:lvl2pPr>
            <a:lvl3pPr>
              <a:defRPr sz="3150" b="0">
                <a:solidFill>
                  <a:srgbClr val="8E5033"/>
                </a:solidFill>
                <a:latin typeface="Avenir Next"/>
                <a:ea typeface="Avenir Next"/>
                <a:cs typeface="Avenir Next"/>
              </a:defRPr>
            </a:lvl3pPr>
            <a:lvl4pPr>
              <a:defRPr sz="3150" b="0">
                <a:solidFill>
                  <a:srgbClr val="8E5033"/>
                </a:solidFill>
                <a:latin typeface="Avenir Next"/>
                <a:ea typeface="Avenir Next"/>
                <a:cs typeface="Avenir Next"/>
              </a:defRPr>
            </a:lvl4pPr>
            <a:lvl5pPr>
              <a:defRPr sz="3150" b="0">
                <a:solidFill>
                  <a:srgbClr val="8E5033"/>
                </a:solidFill>
                <a:latin typeface="Avenir Next"/>
                <a:ea typeface="Avenir Next"/>
                <a:cs typeface="Avenir Next"/>
              </a:defRPr>
            </a:lvl5pPr>
            <a:lvl6pPr>
              <a:defRPr sz="3150" b="0">
                <a:solidFill>
                  <a:srgbClr val="8E5033"/>
                </a:solidFill>
                <a:latin typeface="Avenir Next"/>
                <a:ea typeface="Avenir Next"/>
                <a:cs typeface="Avenir Next"/>
              </a:defRPr>
            </a:lvl6pPr>
            <a:lvl7pPr>
              <a:defRPr sz="3150" b="0">
                <a:solidFill>
                  <a:srgbClr val="8E5033"/>
                </a:solidFill>
                <a:latin typeface="Avenir Next"/>
                <a:ea typeface="Avenir Next"/>
                <a:cs typeface="Avenir Next"/>
              </a:defRPr>
            </a:lvl7pPr>
            <a:lvl8pPr>
              <a:defRPr sz="3150" b="0">
                <a:solidFill>
                  <a:srgbClr val="8E5033"/>
                </a:solidFill>
                <a:latin typeface="Avenir Next"/>
                <a:ea typeface="Avenir Next"/>
                <a:cs typeface="Avenir Next"/>
              </a:defRPr>
            </a:lvl8pPr>
            <a:lvl9pPr>
              <a:defRPr sz="3150" b="0">
                <a:solidFill>
                  <a:srgbClr val="8E5033"/>
                </a:solidFill>
                <a:latin typeface="Avenir Next"/>
                <a:ea typeface="Avenir Next"/>
                <a:cs typeface="Avenir Next"/>
              </a:defRPr>
            </a:lvl9pPr>
          </a:lstStyle>
          <a:p xmlns:a="http://schemas.openxmlformats.org/drawingml/2006/main">
            <a:pPr>
              <a:defRPr sz="3150" b="0">
                <a:solidFill>
                  <a:srgbClr val="8E5033"/>
                </a:solidFill>
                <a:latin typeface="Avenir Next"/>
                <a:ea typeface="Avenir Next"/>
                <a:cs typeface="Avenir Next"/>
              </a:defRPr>
            </a:pPr>
            <a:r>
              <a:rPr sz="3150" b="0">
                <a:solidFill>
                  <a:srgbClr val="8E5033"/>
                </a:solidFill>
                <a:latin typeface="Avenir Next"/>
                <a:ea typeface="Avenir Next"/>
                <a:cs typeface="Avenir Next"/>
              </a:rPr>
              <a:t>And fixes you can trust</a:t>
            </a:r>
          </a:p>
        </p:txBody>
      </p:sp>
      <p:sp>
        <p:nvSpPr>
          <p:cNvPr id="4" name="A research assessment for personal and organi">
            <a:extLst xmlns:a="http://schemas.openxmlformats.org/drawingml/2006/main">
              <a:ext uri="{FF2B5EF4-FFF2-40B4-BE49-F238E27FC236}">
                <a16:creationId xmlns:a16="http://schemas.microsoft.com/office/drawing/2014/main" id="{CF843B6D-B75E-48EF-8F3F-C8784BFEF49E}"/>
              </a:ext>
            </a:extLst>
          </p:cNvPr>
          <p:cNvSpPr>
            <a:spLocks xmlns:a="http://schemas.openxmlformats.org/drawingml/2006/main" noGrp="1"/>
          </p:cNvSpPr>
          <p:nvPr/>
        </p:nvSpPr>
        <p:spPr>
          <a:xfrm xmlns:a="http://schemas.openxmlformats.org/drawingml/2006/main">
            <a:off x="781050" y="50482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B2E23"/>
                </a:solidFill>
                <a:latin typeface="Avenir Next"/>
                <a:ea typeface="Avenir Next"/>
                <a:cs typeface="Avenir Next"/>
              </a:defRPr>
            </a:defPPr>
            <a:lvl1pPr>
              <a:defRPr sz="1875" b="0">
                <a:solidFill>
                  <a:srgbClr val="4B2E23"/>
                </a:solidFill>
                <a:latin typeface="Avenir Next"/>
                <a:ea typeface="Avenir Next"/>
                <a:cs typeface="Avenir Next"/>
              </a:defRPr>
            </a:lvl1pPr>
            <a:lvl2pPr>
              <a:defRPr sz="1875" b="0">
                <a:solidFill>
                  <a:srgbClr val="4B2E23"/>
                </a:solidFill>
                <a:latin typeface="Avenir Next"/>
                <a:ea typeface="Avenir Next"/>
                <a:cs typeface="Avenir Next"/>
              </a:defRPr>
            </a:lvl2pPr>
            <a:lvl3pPr>
              <a:defRPr sz="1875" b="0">
                <a:solidFill>
                  <a:srgbClr val="4B2E23"/>
                </a:solidFill>
                <a:latin typeface="Avenir Next"/>
                <a:ea typeface="Avenir Next"/>
                <a:cs typeface="Avenir Next"/>
              </a:defRPr>
            </a:lvl3pPr>
            <a:lvl4pPr>
              <a:defRPr sz="1875" b="0">
                <a:solidFill>
                  <a:srgbClr val="4B2E23"/>
                </a:solidFill>
                <a:latin typeface="Avenir Next"/>
                <a:ea typeface="Avenir Next"/>
                <a:cs typeface="Avenir Next"/>
              </a:defRPr>
            </a:lvl4pPr>
            <a:lvl5pPr>
              <a:defRPr sz="1875" b="0">
                <a:solidFill>
                  <a:srgbClr val="4B2E23"/>
                </a:solidFill>
                <a:latin typeface="Avenir Next"/>
                <a:ea typeface="Avenir Next"/>
                <a:cs typeface="Avenir Next"/>
              </a:defRPr>
            </a:lvl5pPr>
            <a:lvl6pPr>
              <a:defRPr sz="1875" b="0">
                <a:solidFill>
                  <a:srgbClr val="4B2E23"/>
                </a:solidFill>
                <a:latin typeface="Avenir Next"/>
                <a:ea typeface="Avenir Next"/>
                <a:cs typeface="Avenir Next"/>
              </a:defRPr>
            </a:lvl6pPr>
            <a:lvl7pPr>
              <a:defRPr sz="1875" b="0">
                <a:solidFill>
                  <a:srgbClr val="4B2E23"/>
                </a:solidFill>
                <a:latin typeface="Avenir Next"/>
                <a:ea typeface="Avenir Next"/>
                <a:cs typeface="Avenir Next"/>
              </a:defRPr>
            </a:lvl7pPr>
            <a:lvl8pPr>
              <a:defRPr sz="1875" b="0">
                <a:solidFill>
                  <a:srgbClr val="4B2E23"/>
                </a:solidFill>
                <a:latin typeface="Avenir Next"/>
                <a:ea typeface="Avenir Next"/>
                <a:cs typeface="Avenir Next"/>
              </a:defRPr>
            </a:lvl8pPr>
            <a:lvl9pPr>
              <a:defRPr sz="1875" b="0">
                <a:solidFill>
                  <a:srgbClr val="4B2E23"/>
                </a:solidFill>
                <a:latin typeface="Avenir Next"/>
                <a:ea typeface="Avenir Next"/>
                <a:cs typeface="Avenir Next"/>
              </a:defRPr>
            </a:lvl9pPr>
          </a:lstStyle>
          <a:p xmlns:a="http://schemas.openxmlformats.org/drawingml/2006/main">
            <a:pPr>
              <a:defRPr sz="1875" b="0">
                <a:solidFill>
                  <a:srgbClr val="4B2E23"/>
                </a:solidFill>
                <a:latin typeface="Avenir Next"/>
                <a:ea typeface="Avenir Next"/>
                <a:cs typeface="Avenir Next"/>
              </a:defRPr>
            </a:pPr>
            <a:r>
              <a:rPr sz="1875" b="0">
                <a:solidFill>
                  <a:srgbClr val="4B2E23"/>
                </a:solidFill>
                <a:latin typeface="Avenir Next"/>
                <a:ea typeface="Avenir Next"/>
                <a:cs typeface="Avenir Next"/>
              </a:rPr>
              <a:t>A research assessment for personal and organization repositories</a:t>
            </a:r>
          </a:p>
        </p:txBody>
      </p:sp>
      <p:sp>
        <p:nvSpPr>
          <p:cNvPr id="5" name="21 October 2026">
            <a:extLst xmlns:a="http://schemas.openxmlformats.org/drawingml/2006/main">
              <a:ext uri="{FF2B5EF4-FFF2-40B4-BE49-F238E27FC236}">
                <a16:creationId xmlns:a16="http://schemas.microsoft.com/office/drawing/2014/main" id="{64B8A58C-B8C3-4A5B-A35B-56294F2B8B8E}"/>
              </a:ext>
            </a:extLst>
          </p:cNvPr>
          <p:cNvSpPr>
            <a:spLocks xmlns:a="http://schemas.openxmlformats.org/drawingml/2006/main" noGrp="1"/>
          </p:cNvSpPr>
          <p:nvPr/>
        </p:nvSpPr>
        <p:spPr>
          <a:xfrm xmlns:a="http://schemas.openxmlformats.org/drawingml/2006/main">
            <a:off x="781050" y="6067425"/>
            <a:ext cx="571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8E5033"/>
                </a:solidFill>
                <a:latin typeface="Avenir Next"/>
                <a:ea typeface="Avenir Next"/>
                <a:cs typeface="Avenir Next"/>
              </a:defRPr>
            </a:defPPr>
            <a:lvl1pPr>
              <a:defRPr sz="1350" b="0">
                <a:solidFill>
                  <a:srgbClr val="8E5033"/>
                </a:solidFill>
                <a:latin typeface="Avenir Next"/>
                <a:ea typeface="Avenir Next"/>
                <a:cs typeface="Avenir Next"/>
              </a:defRPr>
            </a:lvl1pPr>
            <a:lvl2pPr>
              <a:defRPr sz="1350" b="0">
                <a:solidFill>
                  <a:srgbClr val="8E5033"/>
                </a:solidFill>
                <a:latin typeface="Avenir Next"/>
                <a:ea typeface="Avenir Next"/>
                <a:cs typeface="Avenir Next"/>
              </a:defRPr>
            </a:lvl2pPr>
            <a:lvl3pPr>
              <a:defRPr sz="1350" b="0">
                <a:solidFill>
                  <a:srgbClr val="8E5033"/>
                </a:solidFill>
                <a:latin typeface="Avenir Next"/>
                <a:ea typeface="Avenir Next"/>
                <a:cs typeface="Avenir Next"/>
              </a:defRPr>
            </a:lvl3pPr>
            <a:lvl4pPr>
              <a:defRPr sz="1350" b="0">
                <a:solidFill>
                  <a:srgbClr val="8E5033"/>
                </a:solidFill>
                <a:latin typeface="Avenir Next"/>
                <a:ea typeface="Avenir Next"/>
                <a:cs typeface="Avenir Next"/>
              </a:defRPr>
            </a:lvl4pPr>
            <a:lvl5pPr>
              <a:defRPr sz="1350" b="0">
                <a:solidFill>
                  <a:srgbClr val="8E5033"/>
                </a:solidFill>
                <a:latin typeface="Avenir Next"/>
                <a:ea typeface="Avenir Next"/>
                <a:cs typeface="Avenir Next"/>
              </a:defRPr>
            </a:lvl5pPr>
            <a:lvl6pPr>
              <a:defRPr sz="1350" b="0">
                <a:solidFill>
                  <a:srgbClr val="8E5033"/>
                </a:solidFill>
                <a:latin typeface="Avenir Next"/>
                <a:ea typeface="Avenir Next"/>
                <a:cs typeface="Avenir Next"/>
              </a:defRPr>
            </a:lvl6pPr>
            <a:lvl7pPr>
              <a:defRPr sz="1350" b="0">
                <a:solidFill>
                  <a:srgbClr val="8E5033"/>
                </a:solidFill>
                <a:latin typeface="Avenir Next"/>
                <a:ea typeface="Avenir Next"/>
                <a:cs typeface="Avenir Next"/>
              </a:defRPr>
            </a:lvl7pPr>
            <a:lvl8pPr>
              <a:defRPr sz="1350" b="0">
                <a:solidFill>
                  <a:srgbClr val="8E5033"/>
                </a:solidFill>
                <a:latin typeface="Avenir Next"/>
                <a:ea typeface="Avenir Next"/>
                <a:cs typeface="Avenir Next"/>
              </a:defRPr>
            </a:lvl8pPr>
            <a:lvl9pPr>
              <a:defRPr sz="1350" b="0">
                <a:solidFill>
                  <a:srgbClr val="8E5033"/>
                </a:solidFill>
                <a:latin typeface="Avenir Next"/>
                <a:ea typeface="Avenir Next"/>
                <a:cs typeface="Avenir Next"/>
              </a:defRPr>
            </a:lvl9pPr>
          </a:lstStyle>
          <a:p xmlns:a="http://schemas.openxmlformats.org/drawingml/2006/main">
            <a:pPr>
              <a:defRPr sz="1350" b="0">
                <a:solidFill>
                  <a:srgbClr val="8E5033"/>
                </a:solidFill>
                <a:latin typeface="Avenir Next"/>
                <a:ea typeface="Avenir Next"/>
                <a:cs typeface="Avenir Next"/>
              </a:defRPr>
            </a:pPr>
            <a:r>
              <a:rPr sz="1350" b="0">
                <a:solidFill>
                  <a:srgbClr val="8E5033"/>
                </a:solidFill>
                <a:latin typeface="Avenir Next"/>
                <a:ea typeface="Avenir Next"/>
                <a:cs typeface="Avenir Next"/>
              </a:rPr>
              <a:t>21 October 2026</a:t>
            </a:r>
          </a:p>
        </p:txBody>
      </p:sp>
    </p:spTree>
    <p:extLst>
      <p:ext uri="{BB962C8B-B14F-4D97-AF65-F5344CB8AC3E}">
        <p14:creationId xmlns:p14="http://schemas.microsoft.com/office/powerpoint/2010/main" val="1859286408"/>
      </p:ext>
    </p:extLst>
  </p:cSld>
</p:sld>
</file>

<file path=ppt/slides/slide2.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11" name="The recommended design">
            <a:extLst xmlns:a="http://schemas.openxmlformats.org/drawingml/2006/main">
              <a:ext uri="{FF2B5EF4-FFF2-40B4-BE49-F238E27FC236}">
                <a16:creationId xmlns:a16="http://schemas.microsoft.com/office/drawing/2014/main" id="{DF87C7AF-20D8-4D5E-AB50-397E4E2CB622}"/>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The recommended design</a:t>
            </a:r>
          </a:p>
        </p:txBody>
      </p:sp>
      <p:sp>
        <p:nvSpPr>
          <p:cNvPr id="2" name="02">
            <a:extLst xmlns:a="http://schemas.openxmlformats.org/drawingml/2006/main">
              <a:ext uri="{FF2B5EF4-FFF2-40B4-BE49-F238E27FC236}">
                <a16:creationId xmlns:a16="http://schemas.microsoft.com/office/drawing/2014/main" id="{10192353-38EB-48B8-B0EF-E7DCBB552224}"/>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02</a:t>
            </a:r>
          </a:p>
        </p:txBody>
      </p:sp>
      <p:sp>
        <p:nvSpPr>
          <p:cNvPr id="3" name="Take the strongest ideas">
            <a:extLst xmlns:a="http://schemas.openxmlformats.org/drawingml/2006/main">
              <a:ext uri="{FF2B5EF4-FFF2-40B4-BE49-F238E27FC236}">
                <a16:creationId xmlns:a16="http://schemas.microsoft.com/office/drawing/2014/main" id="{267D3C70-243B-4948-B35A-9CDDD234F5F4}"/>
              </a:ext>
            </a:extLst>
          </p:cNvPr>
          <p:cNvSpPr>
            <a:spLocks xmlns:a="http://schemas.openxmlformats.org/drawingml/2006/main" noGrp="1"/>
          </p:cNvSpPr>
          <p:nvPr/>
        </p:nvSpPr>
        <p:spPr>
          <a:xfrm xmlns:a="http://schemas.openxmlformats.org/drawingml/2006/main">
            <a:off x="742950" y="19526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8E5033"/>
                </a:solidFill>
                <a:latin typeface="Avenir Next"/>
                <a:ea typeface="Avenir Next"/>
                <a:cs typeface="Avenir Next"/>
              </a:defRPr>
            </a:defPPr>
            <a:lvl1pPr>
              <a:defRPr sz="2700" b="0">
                <a:solidFill>
                  <a:srgbClr val="8E5033"/>
                </a:solidFill>
                <a:latin typeface="Avenir Next"/>
                <a:ea typeface="Avenir Next"/>
                <a:cs typeface="Avenir Next"/>
              </a:defRPr>
            </a:lvl1pPr>
            <a:lvl2pPr>
              <a:defRPr sz="2700" b="0">
                <a:solidFill>
                  <a:srgbClr val="8E5033"/>
                </a:solidFill>
                <a:latin typeface="Avenir Next"/>
                <a:ea typeface="Avenir Next"/>
                <a:cs typeface="Avenir Next"/>
              </a:defRPr>
            </a:lvl2pPr>
            <a:lvl3pPr>
              <a:defRPr sz="2700" b="0">
                <a:solidFill>
                  <a:srgbClr val="8E5033"/>
                </a:solidFill>
                <a:latin typeface="Avenir Next"/>
                <a:ea typeface="Avenir Next"/>
                <a:cs typeface="Avenir Next"/>
              </a:defRPr>
            </a:lvl3pPr>
            <a:lvl4pPr>
              <a:defRPr sz="2700" b="0">
                <a:solidFill>
                  <a:srgbClr val="8E5033"/>
                </a:solidFill>
                <a:latin typeface="Avenir Next"/>
                <a:ea typeface="Avenir Next"/>
                <a:cs typeface="Avenir Next"/>
              </a:defRPr>
            </a:lvl4pPr>
            <a:lvl5pPr>
              <a:defRPr sz="2700" b="0">
                <a:solidFill>
                  <a:srgbClr val="8E5033"/>
                </a:solidFill>
                <a:latin typeface="Avenir Next"/>
                <a:ea typeface="Avenir Next"/>
                <a:cs typeface="Avenir Next"/>
              </a:defRPr>
            </a:lvl5pPr>
            <a:lvl6pPr>
              <a:defRPr sz="2700" b="0">
                <a:solidFill>
                  <a:srgbClr val="8E5033"/>
                </a:solidFill>
                <a:latin typeface="Avenir Next"/>
                <a:ea typeface="Avenir Next"/>
                <a:cs typeface="Avenir Next"/>
              </a:defRPr>
            </a:lvl6pPr>
            <a:lvl7pPr>
              <a:defRPr sz="2700" b="0">
                <a:solidFill>
                  <a:srgbClr val="8E5033"/>
                </a:solidFill>
                <a:latin typeface="Avenir Next"/>
                <a:ea typeface="Avenir Next"/>
                <a:cs typeface="Avenir Next"/>
              </a:defRPr>
            </a:lvl7pPr>
            <a:lvl8pPr>
              <a:defRPr sz="2700" b="0">
                <a:solidFill>
                  <a:srgbClr val="8E5033"/>
                </a:solidFill>
                <a:latin typeface="Avenir Next"/>
                <a:ea typeface="Avenir Next"/>
                <a:cs typeface="Avenir Next"/>
              </a:defRPr>
            </a:lvl8pPr>
            <a:lvl9pPr>
              <a:defRPr sz="2700" b="0">
                <a:solidFill>
                  <a:srgbClr val="8E5033"/>
                </a:solidFill>
                <a:latin typeface="Avenir Next"/>
                <a:ea typeface="Avenir Next"/>
                <a:cs typeface="Avenir Next"/>
              </a:defRPr>
            </a:lvl9pPr>
          </a:lstStyle>
          <a:p xmlns:a="http://schemas.openxmlformats.org/drawingml/2006/main">
            <a:pPr>
              <a:defRPr sz="2700" b="0">
                <a:solidFill>
                  <a:srgbClr val="8E5033"/>
                </a:solidFill>
                <a:latin typeface="Avenir Next"/>
                <a:ea typeface="Avenir Next"/>
                <a:cs typeface="Avenir Next"/>
              </a:defRPr>
            </a:pPr>
            <a:r>
              <a:rPr sz="2700" b="0">
                <a:solidFill>
                  <a:srgbClr val="8E5033"/>
                </a:solidFill>
                <a:latin typeface="Avenir Next"/>
                <a:ea typeface="Avenir Next"/>
                <a:cs typeface="Avenir Next"/>
              </a:rPr>
              <a:t>Take the strongest ideas</a:t>
            </a:r>
          </a:p>
        </p:txBody>
      </p:sp>
      <p:sp>
        <p:nvSpPr>
          <p:cNvPr id="4" name="Context engine&#10;Qodo + Greptile">
            <a:extLst xmlns:a="http://schemas.openxmlformats.org/drawingml/2006/main">
              <a:ext uri="{FF2B5EF4-FFF2-40B4-BE49-F238E27FC236}">
                <a16:creationId xmlns:a16="http://schemas.microsoft.com/office/drawing/2014/main" id="{DA2840A6-8375-4D56-B067-A24807F5D6E4}"/>
              </a:ext>
            </a:extLst>
          </p:cNvPr>
          <p:cNvSpPr>
            <a:spLocks xmlns:a="http://schemas.openxmlformats.org/drawingml/2006/main" noGrp="1"/>
          </p:cNvSpPr>
          <p:nvPr/>
        </p:nvSpPr>
        <p:spPr>
          <a:xfrm xmlns:a="http://schemas.openxmlformats.org/drawingml/2006/main">
            <a:off x="742950" y="2952750"/>
            <a:ext cx="2952750" cy="1333500"/>
          </a:xfrm>
          <a:prstGeom xmlns:a="http://schemas.openxmlformats.org/drawingml/2006/main" prst="roundRect">
            <a:avLst>
              <a:gd name="adj" fmla="val 5714"/>
            </a:avLst>
          </a:prstGeom>
          <a:solidFill xmlns:a="http://schemas.openxmlformats.org/drawingml/2006/main">
            <a:srgbClr val="F4EFE6"/>
          </a:solidFill>
          <a:ln xmlns:a="http://schemas.openxmlformats.org/drawingml/2006/main" w="13335">
            <a:solidFill>
              <a:srgbClr val="978468"/>
            </a:solidFill>
          </a:ln>
        </p:spPr>
      </p:sp>
      <p:sp>
        <p:nvSpPr>
          <p:cNvPr id="5" name="Context engine&#10;Qodo + Greptile">
            <a:extLst xmlns:a="http://schemas.openxmlformats.org/drawingml/2006/main">
              <a:ext uri="{FF2B5EF4-FFF2-40B4-BE49-F238E27FC236}">
                <a16:creationId xmlns:a16="http://schemas.microsoft.com/office/drawing/2014/main" id="{4510A26F-D535-4D4B-BC80-BD268F400DBA}"/>
              </a:ext>
            </a:extLst>
          </p:cNvPr>
          <p:cNvSpPr>
            <a:spLocks xmlns:a="http://schemas.openxmlformats.org/drawingml/2006/main" noGrp="1"/>
          </p:cNvSpPr>
          <p:nvPr/>
        </p:nvSpPr>
        <p:spPr>
          <a:xfrm xmlns:a="http://schemas.openxmlformats.org/drawingml/2006/main">
            <a:off x="914400" y="3124200"/>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Context engine</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Qodo + Greptile</a:t>
            </a:r>
          </a:p>
        </p:txBody>
      </p:sp>
      <p:sp>
        <p:nvSpPr>
          <p:cNvPr id="6" name="Find and validate&#10;Uber + Claude">
            <a:extLst xmlns:a="http://schemas.openxmlformats.org/drawingml/2006/main">
              <a:ext uri="{FF2B5EF4-FFF2-40B4-BE49-F238E27FC236}">
                <a16:creationId xmlns:a16="http://schemas.microsoft.com/office/drawing/2014/main" id="{E6115BF7-C6FD-4740-9613-C2186BF398A6}"/>
              </a:ext>
            </a:extLst>
          </p:cNvPr>
          <p:cNvSpPr>
            <a:spLocks xmlns:a="http://schemas.openxmlformats.org/drawingml/2006/main" noGrp="1"/>
          </p:cNvSpPr>
          <p:nvPr/>
        </p:nvSpPr>
        <p:spPr>
          <a:xfrm xmlns:a="http://schemas.openxmlformats.org/drawingml/2006/main">
            <a:off x="4591050" y="2952750"/>
            <a:ext cx="2952750" cy="1333500"/>
          </a:xfrm>
          <a:prstGeom xmlns:a="http://schemas.openxmlformats.org/drawingml/2006/main" prst="roundRect">
            <a:avLst>
              <a:gd name="adj" fmla="val 5714"/>
            </a:avLst>
          </a:prstGeom>
          <a:solidFill xmlns:a="http://schemas.openxmlformats.org/drawingml/2006/main">
            <a:srgbClr val="F4EFE6"/>
          </a:solidFill>
          <a:ln xmlns:a="http://schemas.openxmlformats.org/drawingml/2006/main" w="13335">
            <a:solidFill>
              <a:srgbClr val="978468"/>
            </a:solidFill>
          </a:ln>
        </p:spPr>
      </p:sp>
      <p:sp>
        <p:nvSpPr>
          <p:cNvPr id="7" name="Find and validate&#10;Uber + Claude">
            <a:extLst xmlns:a="http://schemas.openxmlformats.org/drawingml/2006/main">
              <a:ext uri="{FF2B5EF4-FFF2-40B4-BE49-F238E27FC236}">
                <a16:creationId xmlns:a16="http://schemas.microsoft.com/office/drawing/2014/main" id="{46E15AAF-6223-4C55-8E07-209F3D2D5464}"/>
              </a:ext>
            </a:extLst>
          </p:cNvPr>
          <p:cNvSpPr>
            <a:spLocks xmlns:a="http://schemas.openxmlformats.org/drawingml/2006/main" noGrp="1"/>
          </p:cNvSpPr>
          <p:nvPr/>
        </p:nvSpPr>
        <p:spPr>
          <a:xfrm xmlns:a="http://schemas.openxmlformats.org/drawingml/2006/main">
            <a:off x="4762500" y="3124200"/>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Find and validate</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Uber + Claude</a:t>
            </a:r>
          </a:p>
        </p:txBody>
      </p:sp>
      <p:sp>
        <p:nvSpPr>
          <p:cNvPr id="8" name="Repair and verify&#10;Google + Meta">
            <a:extLst xmlns:a="http://schemas.openxmlformats.org/drawingml/2006/main">
              <a:ext uri="{FF2B5EF4-FFF2-40B4-BE49-F238E27FC236}">
                <a16:creationId xmlns:a16="http://schemas.microsoft.com/office/drawing/2014/main" id="{DCAB1C5F-5268-4323-9159-18EBF7C4C4E1}"/>
              </a:ext>
            </a:extLst>
          </p:cNvPr>
          <p:cNvSpPr>
            <a:spLocks xmlns:a="http://schemas.openxmlformats.org/drawingml/2006/main" noGrp="1"/>
          </p:cNvSpPr>
          <p:nvPr/>
        </p:nvSpPr>
        <p:spPr>
          <a:xfrm xmlns:a="http://schemas.openxmlformats.org/drawingml/2006/main">
            <a:off x="8439150" y="2952750"/>
            <a:ext cx="2952750" cy="1333500"/>
          </a:xfrm>
          <a:prstGeom xmlns:a="http://schemas.openxmlformats.org/drawingml/2006/main" prst="roundRect">
            <a:avLst>
              <a:gd name="adj" fmla="val 5714"/>
            </a:avLst>
          </a:prstGeom>
          <a:solidFill xmlns:a="http://schemas.openxmlformats.org/drawingml/2006/main">
            <a:srgbClr val="F4EFE6"/>
          </a:solidFill>
          <a:ln xmlns:a="http://schemas.openxmlformats.org/drawingml/2006/main" w="13335">
            <a:solidFill>
              <a:srgbClr val="978468"/>
            </a:solidFill>
          </a:ln>
        </p:spPr>
      </p:sp>
      <p:sp>
        <p:nvSpPr>
          <p:cNvPr id="9" name="Repair and verify&#10;Google + Meta">
            <a:extLst xmlns:a="http://schemas.openxmlformats.org/drawingml/2006/main">
              <a:ext uri="{FF2B5EF4-FFF2-40B4-BE49-F238E27FC236}">
                <a16:creationId xmlns:a16="http://schemas.microsoft.com/office/drawing/2014/main" id="{97042392-B80D-4893-93C6-8E204320CDDE}"/>
              </a:ext>
            </a:extLst>
          </p:cNvPr>
          <p:cNvSpPr>
            <a:spLocks xmlns:a="http://schemas.openxmlformats.org/drawingml/2006/main" noGrp="1"/>
          </p:cNvSpPr>
          <p:nvPr/>
        </p:nvSpPr>
        <p:spPr>
          <a:xfrm xmlns:a="http://schemas.openxmlformats.org/drawingml/2006/main">
            <a:off x="8610600" y="3124200"/>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Repair and verify</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Google + Meta</a:t>
            </a:r>
          </a:p>
        </p:txBody>
      </p:sp>
      <p:sp>
        <p:nvSpPr>
          <p:cNvPr id="10" name="Build missing blocks and own the evidence">
            <a:extLst xmlns:a="http://schemas.openxmlformats.org/drawingml/2006/main">
              <a:ext uri="{FF2B5EF4-FFF2-40B4-BE49-F238E27FC236}">
                <a16:creationId xmlns:a16="http://schemas.microsoft.com/office/drawing/2014/main" id="{E1572F45-7C64-441E-B35B-FFADB5E0AEF8}"/>
              </a:ext>
            </a:extLst>
          </p:cNvPr>
          <p:cNvSpPr>
            <a:spLocks xmlns:a="http://schemas.openxmlformats.org/drawingml/2006/main" noGrp="1"/>
          </p:cNvSpPr>
          <p:nvPr/>
        </p:nvSpPr>
        <p:spPr>
          <a:xfrm xmlns:a="http://schemas.openxmlformats.org/drawingml/2006/main">
            <a:off x="742950" y="50958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B2E23"/>
                </a:solidFill>
                <a:latin typeface="Georgia"/>
                <a:ea typeface="Georgia"/>
                <a:cs typeface="Georgia"/>
              </a:defRPr>
            </a:defPPr>
            <a:lvl1pPr>
              <a:defRPr sz="2700" b="0">
                <a:solidFill>
                  <a:srgbClr val="4B2E23"/>
                </a:solidFill>
                <a:latin typeface="Georgia"/>
                <a:ea typeface="Georgia"/>
                <a:cs typeface="Georgia"/>
              </a:defRPr>
            </a:lvl1pPr>
            <a:lvl2pPr>
              <a:defRPr sz="2700" b="0">
                <a:solidFill>
                  <a:srgbClr val="4B2E23"/>
                </a:solidFill>
                <a:latin typeface="Georgia"/>
                <a:ea typeface="Georgia"/>
                <a:cs typeface="Georgia"/>
              </a:defRPr>
            </a:lvl2pPr>
            <a:lvl3pPr>
              <a:defRPr sz="2700" b="0">
                <a:solidFill>
                  <a:srgbClr val="4B2E23"/>
                </a:solidFill>
                <a:latin typeface="Georgia"/>
                <a:ea typeface="Georgia"/>
                <a:cs typeface="Georgia"/>
              </a:defRPr>
            </a:lvl3pPr>
            <a:lvl4pPr>
              <a:defRPr sz="2700" b="0">
                <a:solidFill>
                  <a:srgbClr val="4B2E23"/>
                </a:solidFill>
                <a:latin typeface="Georgia"/>
                <a:ea typeface="Georgia"/>
                <a:cs typeface="Georgia"/>
              </a:defRPr>
            </a:lvl4pPr>
            <a:lvl5pPr>
              <a:defRPr sz="2700" b="0">
                <a:solidFill>
                  <a:srgbClr val="4B2E23"/>
                </a:solidFill>
                <a:latin typeface="Georgia"/>
                <a:ea typeface="Georgia"/>
                <a:cs typeface="Georgia"/>
              </a:defRPr>
            </a:lvl5pPr>
            <a:lvl6pPr>
              <a:defRPr sz="2700" b="0">
                <a:solidFill>
                  <a:srgbClr val="4B2E23"/>
                </a:solidFill>
                <a:latin typeface="Georgia"/>
                <a:ea typeface="Georgia"/>
                <a:cs typeface="Georgia"/>
              </a:defRPr>
            </a:lvl6pPr>
            <a:lvl7pPr>
              <a:defRPr sz="2700" b="0">
                <a:solidFill>
                  <a:srgbClr val="4B2E23"/>
                </a:solidFill>
                <a:latin typeface="Georgia"/>
                <a:ea typeface="Georgia"/>
                <a:cs typeface="Georgia"/>
              </a:defRPr>
            </a:lvl7pPr>
            <a:lvl8pPr>
              <a:defRPr sz="2700" b="0">
                <a:solidFill>
                  <a:srgbClr val="4B2E23"/>
                </a:solidFill>
                <a:latin typeface="Georgia"/>
                <a:ea typeface="Georgia"/>
                <a:cs typeface="Georgia"/>
              </a:defRPr>
            </a:lvl8pPr>
            <a:lvl9pPr>
              <a:defRPr sz="2700" b="0">
                <a:solidFill>
                  <a:srgbClr val="4B2E23"/>
                </a:solidFill>
                <a:latin typeface="Georgia"/>
                <a:ea typeface="Georgia"/>
                <a:cs typeface="Georgia"/>
              </a:defRPr>
            </a:lvl9pPr>
          </a:lstStyle>
          <a:p xmlns:a="http://schemas.openxmlformats.org/drawingml/2006/main">
            <a:pPr>
              <a:defRPr sz="2700" b="0">
                <a:solidFill>
                  <a:srgbClr val="4B2E23"/>
                </a:solidFill>
                <a:latin typeface="Georgia"/>
                <a:ea typeface="Georgia"/>
                <a:cs typeface="Georgia"/>
              </a:defRPr>
            </a:pPr>
            <a:r>
              <a:rPr sz="2700" b="0">
                <a:solidFill>
                  <a:srgbClr val="4B2E23"/>
                </a:solidFill>
                <a:latin typeface="Georgia"/>
                <a:ea typeface="Georgia"/>
                <a:cs typeface="Georgia"/>
              </a:rPr>
              <a:t>Build missing blocks and own the evidence</a:t>
            </a:r>
          </a:p>
        </p:txBody>
      </p:sp>
    </p:spTree>
    <p:extLst>
      <p:ext uri="{BB962C8B-B14F-4D97-AF65-F5344CB8AC3E}">
        <p14:creationId xmlns:p14="http://schemas.microsoft.com/office/powerpoint/2010/main" val="1345558073"/>
      </p:ext>
    </p:extLst>
  </p:cSld>
</p:sld>
</file>

<file path=ppt/slides/slide3.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880A0CB-2CB7-484E-B998-CFA095DAC27A}"/>
              </a:ext>
            </a:extLst>
          </p:cNvPr>
          <p:cNvCxnSpPr>
            <a:stCxn xmlns:a="http://schemas.openxmlformats.org/drawingml/2006/main" id="5" idx="3"/>
            <a:endCxn xmlns:a="http://schemas.openxmlformats.org/drawingml/2006/main" id="7" idx="1"/>
          </p:cNvCxnSpPr>
          <p:nvPr/>
        </p:nvCxnSpPr>
        <p:spPr>
          <a:xfrm xmlns:a="http://schemas.openxmlformats.org/drawingml/2006/main">
            <a:off x="7524750" y="3371850"/>
            <a:ext cx="1066800"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E33CD15F-9511-49D1-A1D2-A9A7014F5B20}"/>
              </a:ext>
            </a:extLst>
          </p:cNvPr>
          <p:cNvCxnSpPr>
            <a:stCxn xmlns:a="http://schemas.openxmlformats.org/drawingml/2006/main" id="3" idx="3"/>
            <a:endCxn xmlns:a="http://schemas.openxmlformats.org/drawingml/2006/main" id="5" idx="1"/>
          </p:cNvCxnSpPr>
          <p:nvPr/>
        </p:nvCxnSpPr>
        <p:spPr>
          <a:xfrm xmlns:a="http://schemas.openxmlformats.org/drawingml/2006/main">
            <a:off x="3600450" y="3371850"/>
            <a:ext cx="1066800"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sp>
        <p:nvSpPr>
          <p:cNvPr id="12" name="Three different jobs">
            <a:extLst xmlns:a="http://schemas.openxmlformats.org/drawingml/2006/main">
              <a:ext uri="{FF2B5EF4-FFF2-40B4-BE49-F238E27FC236}">
                <a16:creationId xmlns:a16="http://schemas.microsoft.com/office/drawing/2014/main" id="{51F7CFF7-5B73-4BF4-A90F-0BA223F5DCFE}"/>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Three different jobs</a:t>
            </a:r>
          </a:p>
        </p:txBody>
      </p:sp>
      <p:sp>
        <p:nvSpPr>
          <p:cNvPr id="2" name="03">
            <a:extLst xmlns:a="http://schemas.openxmlformats.org/drawingml/2006/main">
              <a:ext uri="{FF2B5EF4-FFF2-40B4-BE49-F238E27FC236}">
                <a16:creationId xmlns:a16="http://schemas.microsoft.com/office/drawing/2014/main" id="{4A773C65-20A5-40FA-8A6D-BCFEF46C6AE3}"/>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03</a:t>
            </a:r>
          </a:p>
        </p:txBody>
      </p:sp>
      <p:sp>
        <p:nvSpPr>
          <p:cNvPr id="3" name="Find a real bug">
            <a:extLst xmlns:a="http://schemas.openxmlformats.org/drawingml/2006/main">
              <a:ext uri="{FF2B5EF4-FFF2-40B4-BE49-F238E27FC236}">
                <a16:creationId xmlns:a16="http://schemas.microsoft.com/office/drawing/2014/main" id="{EA902E6F-8E41-4F17-B7AB-4BBCB24E3973}"/>
              </a:ext>
            </a:extLst>
          </p:cNvPr>
          <p:cNvSpPr>
            <a:spLocks xmlns:a="http://schemas.openxmlformats.org/drawingml/2006/main" noGrp="1"/>
          </p:cNvSpPr>
          <p:nvPr/>
        </p:nvSpPr>
        <p:spPr>
          <a:xfrm xmlns:a="http://schemas.openxmlformats.org/drawingml/2006/main">
            <a:off x="742950" y="2714625"/>
            <a:ext cx="2857500" cy="1314450"/>
          </a:xfrm>
          <a:prstGeom xmlns:a="http://schemas.openxmlformats.org/drawingml/2006/main" prst="roundRect">
            <a:avLst>
              <a:gd name="adj" fmla="val 5797"/>
            </a:avLst>
          </a:prstGeom>
          <a:solidFill xmlns:a="http://schemas.openxmlformats.org/drawingml/2006/main">
            <a:srgbClr val="F4EFE6"/>
          </a:solidFill>
          <a:ln xmlns:a="http://schemas.openxmlformats.org/drawingml/2006/main" w="13335">
            <a:solidFill>
              <a:srgbClr val="978468"/>
            </a:solidFill>
          </a:ln>
        </p:spPr>
      </p:sp>
      <p:sp>
        <p:nvSpPr>
          <p:cNvPr id="4" name="Find a real bug">
            <a:extLst xmlns:a="http://schemas.openxmlformats.org/drawingml/2006/main">
              <a:ext uri="{FF2B5EF4-FFF2-40B4-BE49-F238E27FC236}">
                <a16:creationId xmlns:a16="http://schemas.microsoft.com/office/drawing/2014/main" id="{4B2D527F-6B24-4659-98F7-7EC28BDD01DE}"/>
              </a:ext>
            </a:extLst>
          </p:cNvPr>
          <p:cNvSpPr>
            <a:spLocks xmlns:a="http://schemas.openxmlformats.org/drawingml/2006/main" noGrp="1"/>
          </p:cNvSpPr>
          <p:nvPr/>
        </p:nvSpPr>
        <p:spPr>
          <a:xfrm xmlns:a="http://schemas.openxmlformats.org/drawingml/2006/main">
            <a:off x="914400" y="2886075"/>
            <a:ext cx="25146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Find a real bug</a:t>
            </a:r>
          </a:p>
        </p:txBody>
      </p:sp>
      <p:sp>
        <p:nvSpPr>
          <p:cNvPr id="5" name="Make a focused fix">
            <a:extLst xmlns:a="http://schemas.openxmlformats.org/drawingml/2006/main">
              <a:ext uri="{FF2B5EF4-FFF2-40B4-BE49-F238E27FC236}">
                <a16:creationId xmlns:a16="http://schemas.microsoft.com/office/drawing/2014/main" id="{23397047-37F0-49D6-BE5D-37337BB8D74E}"/>
              </a:ext>
            </a:extLst>
          </p:cNvPr>
          <p:cNvSpPr>
            <a:spLocks xmlns:a="http://schemas.openxmlformats.org/drawingml/2006/main" noGrp="1"/>
          </p:cNvSpPr>
          <p:nvPr/>
        </p:nvSpPr>
        <p:spPr>
          <a:xfrm xmlns:a="http://schemas.openxmlformats.org/drawingml/2006/main">
            <a:off x="4667250" y="2714625"/>
            <a:ext cx="2857500" cy="1314450"/>
          </a:xfrm>
          <a:prstGeom xmlns:a="http://schemas.openxmlformats.org/drawingml/2006/main" prst="roundRect">
            <a:avLst>
              <a:gd name="adj" fmla="val 5797"/>
            </a:avLst>
          </a:prstGeom>
          <a:solidFill xmlns:a="http://schemas.openxmlformats.org/drawingml/2006/main">
            <a:srgbClr val="F4EFE6"/>
          </a:solidFill>
          <a:ln xmlns:a="http://schemas.openxmlformats.org/drawingml/2006/main" w="13335">
            <a:solidFill>
              <a:srgbClr val="978468"/>
            </a:solidFill>
          </a:ln>
        </p:spPr>
      </p:sp>
      <p:sp>
        <p:nvSpPr>
          <p:cNvPr id="6" name="Make a focused fix">
            <a:extLst xmlns:a="http://schemas.openxmlformats.org/drawingml/2006/main">
              <a:ext uri="{FF2B5EF4-FFF2-40B4-BE49-F238E27FC236}">
                <a16:creationId xmlns:a16="http://schemas.microsoft.com/office/drawing/2014/main" id="{2AA1576E-FE56-4BBF-9CC8-2BC36105CBF5}"/>
              </a:ext>
            </a:extLst>
          </p:cNvPr>
          <p:cNvSpPr>
            <a:spLocks xmlns:a="http://schemas.openxmlformats.org/drawingml/2006/main" noGrp="1"/>
          </p:cNvSpPr>
          <p:nvPr/>
        </p:nvSpPr>
        <p:spPr>
          <a:xfrm xmlns:a="http://schemas.openxmlformats.org/drawingml/2006/main">
            <a:off x="4838700" y="2886075"/>
            <a:ext cx="25146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Make a focused fix</a:t>
            </a:r>
          </a:p>
        </p:txBody>
      </p:sp>
      <p:sp>
        <p:nvSpPr>
          <p:cNvPr id="7" name="Check the repair">
            <a:extLst xmlns:a="http://schemas.openxmlformats.org/drawingml/2006/main">
              <a:ext uri="{FF2B5EF4-FFF2-40B4-BE49-F238E27FC236}">
                <a16:creationId xmlns:a16="http://schemas.microsoft.com/office/drawing/2014/main" id="{7B63C028-7963-4F43-AE23-3431A7699503}"/>
              </a:ext>
            </a:extLst>
          </p:cNvPr>
          <p:cNvSpPr>
            <a:spLocks xmlns:a="http://schemas.openxmlformats.org/drawingml/2006/main" noGrp="1"/>
          </p:cNvSpPr>
          <p:nvPr/>
        </p:nvSpPr>
        <p:spPr>
          <a:xfrm xmlns:a="http://schemas.openxmlformats.org/drawingml/2006/main">
            <a:off x="8591550" y="2714625"/>
            <a:ext cx="2857500" cy="1314450"/>
          </a:xfrm>
          <a:prstGeom xmlns:a="http://schemas.openxmlformats.org/drawingml/2006/main" prst="roundRect">
            <a:avLst>
              <a:gd name="adj" fmla="val 5797"/>
            </a:avLst>
          </a:prstGeom>
          <a:solidFill xmlns:a="http://schemas.openxmlformats.org/drawingml/2006/main">
            <a:srgbClr val="F4EFE6"/>
          </a:solidFill>
          <a:ln xmlns:a="http://schemas.openxmlformats.org/drawingml/2006/main" w="13335">
            <a:solidFill>
              <a:srgbClr val="978468"/>
            </a:solidFill>
          </a:ln>
        </p:spPr>
      </p:sp>
      <p:sp>
        <p:nvSpPr>
          <p:cNvPr id="8" name="Check the repair">
            <a:extLst xmlns:a="http://schemas.openxmlformats.org/drawingml/2006/main">
              <a:ext uri="{FF2B5EF4-FFF2-40B4-BE49-F238E27FC236}">
                <a16:creationId xmlns:a16="http://schemas.microsoft.com/office/drawing/2014/main" id="{AA099B0C-5D70-4416-A2D5-C27CC40804DC}"/>
              </a:ext>
            </a:extLst>
          </p:cNvPr>
          <p:cNvSpPr>
            <a:spLocks xmlns:a="http://schemas.openxmlformats.org/drawingml/2006/main" noGrp="1"/>
          </p:cNvSpPr>
          <p:nvPr/>
        </p:nvSpPr>
        <p:spPr>
          <a:xfrm xmlns:a="http://schemas.openxmlformats.org/drawingml/2006/main">
            <a:off x="8763000" y="2886075"/>
            <a:ext cx="25146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Check the repair</a:t>
            </a:r>
          </a:p>
        </p:txBody>
      </p:sp>
      <p:sp>
        <p:nvSpPr>
          <p:cNvPr id="11" name="Each step needs its own evidence">
            <a:extLst xmlns:a="http://schemas.openxmlformats.org/drawingml/2006/main">
              <a:ext uri="{FF2B5EF4-FFF2-40B4-BE49-F238E27FC236}">
                <a16:creationId xmlns:a16="http://schemas.microsoft.com/office/drawing/2014/main" id="{AF76CB6F-EF09-4441-BA69-52E896E15EED}"/>
              </a:ext>
            </a:extLst>
          </p:cNvPr>
          <p:cNvSpPr>
            <a:spLocks xmlns:a="http://schemas.openxmlformats.org/drawingml/2006/main" noGrp="1"/>
          </p:cNvSpPr>
          <p:nvPr/>
        </p:nvSpPr>
        <p:spPr>
          <a:xfrm xmlns:a="http://schemas.openxmlformats.org/drawingml/2006/main">
            <a:off x="742950" y="4857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8E5033"/>
                </a:solidFill>
                <a:latin typeface="Avenir Next"/>
                <a:ea typeface="Avenir Next"/>
                <a:cs typeface="Avenir Next"/>
              </a:defRPr>
            </a:defPPr>
            <a:lvl1pPr>
              <a:defRPr sz="2700" b="0">
                <a:solidFill>
                  <a:srgbClr val="8E5033"/>
                </a:solidFill>
                <a:latin typeface="Avenir Next"/>
                <a:ea typeface="Avenir Next"/>
                <a:cs typeface="Avenir Next"/>
              </a:defRPr>
            </a:lvl1pPr>
            <a:lvl2pPr>
              <a:defRPr sz="2700" b="0">
                <a:solidFill>
                  <a:srgbClr val="8E5033"/>
                </a:solidFill>
                <a:latin typeface="Avenir Next"/>
                <a:ea typeface="Avenir Next"/>
                <a:cs typeface="Avenir Next"/>
              </a:defRPr>
            </a:lvl2pPr>
            <a:lvl3pPr>
              <a:defRPr sz="2700" b="0">
                <a:solidFill>
                  <a:srgbClr val="8E5033"/>
                </a:solidFill>
                <a:latin typeface="Avenir Next"/>
                <a:ea typeface="Avenir Next"/>
                <a:cs typeface="Avenir Next"/>
              </a:defRPr>
            </a:lvl3pPr>
            <a:lvl4pPr>
              <a:defRPr sz="2700" b="0">
                <a:solidFill>
                  <a:srgbClr val="8E5033"/>
                </a:solidFill>
                <a:latin typeface="Avenir Next"/>
                <a:ea typeface="Avenir Next"/>
                <a:cs typeface="Avenir Next"/>
              </a:defRPr>
            </a:lvl4pPr>
            <a:lvl5pPr>
              <a:defRPr sz="2700" b="0">
                <a:solidFill>
                  <a:srgbClr val="8E5033"/>
                </a:solidFill>
                <a:latin typeface="Avenir Next"/>
                <a:ea typeface="Avenir Next"/>
                <a:cs typeface="Avenir Next"/>
              </a:defRPr>
            </a:lvl5pPr>
            <a:lvl6pPr>
              <a:defRPr sz="2700" b="0">
                <a:solidFill>
                  <a:srgbClr val="8E5033"/>
                </a:solidFill>
                <a:latin typeface="Avenir Next"/>
                <a:ea typeface="Avenir Next"/>
                <a:cs typeface="Avenir Next"/>
              </a:defRPr>
            </a:lvl6pPr>
            <a:lvl7pPr>
              <a:defRPr sz="2700" b="0">
                <a:solidFill>
                  <a:srgbClr val="8E5033"/>
                </a:solidFill>
                <a:latin typeface="Avenir Next"/>
                <a:ea typeface="Avenir Next"/>
                <a:cs typeface="Avenir Next"/>
              </a:defRPr>
            </a:lvl7pPr>
            <a:lvl8pPr>
              <a:defRPr sz="2700" b="0">
                <a:solidFill>
                  <a:srgbClr val="8E5033"/>
                </a:solidFill>
                <a:latin typeface="Avenir Next"/>
                <a:ea typeface="Avenir Next"/>
                <a:cs typeface="Avenir Next"/>
              </a:defRPr>
            </a:lvl8pPr>
            <a:lvl9pPr>
              <a:defRPr sz="2700" b="0">
                <a:solidFill>
                  <a:srgbClr val="8E5033"/>
                </a:solidFill>
                <a:latin typeface="Avenir Next"/>
                <a:ea typeface="Avenir Next"/>
                <a:cs typeface="Avenir Next"/>
              </a:defRPr>
            </a:lvl9pPr>
          </a:lstStyle>
          <a:p xmlns:a="http://schemas.openxmlformats.org/drawingml/2006/main">
            <a:pPr>
              <a:defRPr sz="2700" b="0">
                <a:solidFill>
                  <a:srgbClr val="8E5033"/>
                </a:solidFill>
                <a:latin typeface="Avenir Next"/>
                <a:ea typeface="Avenir Next"/>
                <a:cs typeface="Avenir Next"/>
              </a:defRPr>
            </a:pPr>
            <a:r>
              <a:rPr sz="2700" b="0">
                <a:solidFill>
                  <a:srgbClr val="8E5033"/>
                </a:solidFill>
                <a:latin typeface="Avenir Next"/>
                <a:ea typeface="Avenir Next"/>
                <a:cs typeface="Avenir Next"/>
              </a:rPr>
              <a:t>Each step needs its own evidence</a:t>
            </a:r>
          </a:p>
        </p:txBody>
      </p:sp>
    </p:spTree>
    <p:extLst>
      <p:ext uri="{BB962C8B-B14F-4D97-AF65-F5344CB8AC3E}">
        <p14:creationId xmlns:p14="http://schemas.microsoft.com/office/powerpoint/2010/main" val="1990914191"/>
      </p:ext>
    </p:extLst>
  </p:cSld>
</p:sld>
</file>

<file path=ppt/slides/slide4.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5" name="What is available">
            <a:extLst xmlns:a="http://schemas.openxmlformats.org/drawingml/2006/main">
              <a:ext uri="{FF2B5EF4-FFF2-40B4-BE49-F238E27FC236}">
                <a16:creationId xmlns:a16="http://schemas.microsoft.com/office/drawing/2014/main" id="{4752D9E2-1D49-47AC-9E5E-797A03D16098}"/>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What is available</a:t>
            </a:r>
          </a:p>
        </p:txBody>
      </p:sp>
      <p:sp>
        <p:nvSpPr>
          <p:cNvPr id="2" name="04">
            <a:extLst xmlns:a="http://schemas.openxmlformats.org/drawingml/2006/main">
              <a:ext uri="{FF2B5EF4-FFF2-40B4-BE49-F238E27FC236}">
                <a16:creationId xmlns:a16="http://schemas.microsoft.com/office/drawing/2014/main" id="{65457CBE-8621-4F1D-8689-BF8753592CFD}"/>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04</a:t>
            </a:r>
          </a:p>
        </p:txBody>
      </p:sp>
      <p:graphicFrame>
        <p:nvGraphicFramePr>
          <p:cNvPr id="3" name="">
            <a:extLst xmlns:a="http://schemas.openxmlformats.org/drawingml/2006/main">
              <a:ext uri="{FF2B5EF4-FFF2-40B4-BE49-F238E27FC236}">
                <a16:creationId xmlns:a16="http://schemas.microsoft.com/office/drawing/2014/main" id="{E3DC81A5-B98F-426C-9367-9FB966476183}"/>
              </a:ext>
            </a:extLst>
          </p:cNvPr>
          <p:cNvGraphicFramePr/>
          <p:nvPr/>
        </p:nvGraphicFramePr>
        <p:xfrm>
          <a:off xmlns:a="http://schemas.openxmlformats.org/drawingml/2006/main" x="723900" y="1981200"/>
          <a:ext xmlns:a="http://schemas.openxmlformats.org/drawingml/2006/main" cx="10744200" cy="3390900"/>
        </p:xfrm>
        <a:graphic xmlns:a="http://schemas.openxmlformats.org/drawingml/2006/main">
          <a:graphicData uri="http://schemas.openxmlformats.org/drawingml/2006/table">
            <a:tbl>
              <a:tblPr/>
              <a:tblGrid>
                <a:gridCol w="2667000"/>
                <a:gridCol w="3810000"/>
                <a:gridCol w="4267200"/>
              </a:tblGrid>
              <a:tr h="678180">
                <a:tc>
                  <a:txBody>
                    <a:bodyPr/>
                    <a:lstStyle/>
                    <a:p>
                      <a:r>
                        <a:rPr sz="1650" b="1">
                          <a:solidFill>
                            <a:srgbClr val="FFFFFF"/>
                          </a:solidFill>
                          <a:latin typeface="Avenir Next"/>
                          <a:ea typeface="Avenir Next"/>
                          <a:cs typeface="Avenir Next"/>
                        </a:rPr>
                        <a:t>Type</a:t>
                      </a:r>
                    </a:p>
                  </a:txBody>
                  <a:tcPr marL="91440" marR="91440" marT="45720" marB="45720">
                    <a:lnL w="9525">
                      <a:solidFill>
                        <a:srgbClr val="E7E1D5"/>
                      </a:solidFill>
                      <a:prstDash val="solid"/>
                    </a:lnL>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Examples</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Main role</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r>
              <a:tr h="678180">
                <a:tc>
                  <a:txBody>
                    <a:bodyPr/>
                    <a:lstStyle/>
                    <a:p>
                      <a:r>
                        <a:rPr sz="1800" b="0">
                          <a:solidFill>
                            <a:srgbClr val="4B2E23"/>
                          </a:solidFill>
                          <a:latin typeface="Avenir Next"/>
                          <a:ea typeface="Avenir Next"/>
                          <a:cs typeface="Avenir Next"/>
                        </a:rPr>
                        <a:t>Published designs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Uber · Google · Meta</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Architectural ideas</a:t>
                      </a:r>
                    </a:p>
                  </a:txBody>
                  <a:tcPr marL="91440" marR="91440" marT="45720" marB="45720">
                    <a:lnR w="9525">
                      <a:solidFill>
                        <a:srgbClr val="E7E1D5"/>
                      </a:solidFill>
                      <a:prstDash val="solid"/>
                    </a:lnR>
                    <a:lnB w="9525">
                      <a:solidFill>
                        <a:srgbClr val="E7E1D5"/>
                      </a:solidFill>
                      <a:prstDash val="solid"/>
                    </a:lnB>
                    <a:solidFill>
                      <a:srgbClr val="F4EFE6"/>
                    </a:solidFill>
                  </a:tcPr>
                </a:tc>
              </a:tr>
              <a:tr h="678180">
                <a:tc>
                  <a:txBody>
                    <a:bodyPr/>
                    <a:lstStyle/>
                    <a:p>
                      <a:r>
                        <a:rPr sz="1800" b="0">
                          <a:solidFill>
                            <a:srgbClr val="4B2E23"/>
                          </a:solidFill>
                          <a:latin typeface="Avenir Next"/>
                          <a:ea typeface="Avenir Next"/>
                          <a:cs typeface="Avenir Next"/>
                        </a:rPr>
                        <a:t>Hosted reviewers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Bugbot · Greptile · CodeRabbit</a:t>
                      </a:r>
                    </a:p>
                  </a:txBody>
                  <a:tcPr marL="91440" marR="91440" marT="45720" marB="45720">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Services and design ideas</a:t>
                      </a:r>
                    </a:p>
                  </a:txBody>
                  <a:tcPr marL="91440" marR="91440" marT="45720" marB="45720">
                    <a:lnR w="9525">
                      <a:solidFill>
                        <a:srgbClr val="E7E1D5"/>
                      </a:solidFill>
                      <a:prstDash val="solid"/>
                    </a:lnR>
                    <a:lnB w="9525">
                      <a:solidFill>
                        <a:srgbClr val="E7E1D5"/>
                      </a:solidFill>
                      <a:prstDash val="solid"/>
                    </a:lnB>
                    <a:solidFill>
                      <a:srgbClr val="E7E1D5"/>
                    </a:solidFill>
                  </a:tcPr>
                </a:tc>
              </a:tr>
              <a:tr h="678180">
                <a:tc>
                  <a:txBody>
                    <a:bodyPr/>
                    <a:lstStyle/>
                    <a:p>
                      <a:r>
                        <a:rPr sz="1800" b="0">
                          <a:solidFill>
                            <a:srgbClr val="4B2E23"/>
                          </a:solidFill>
                          <a:latin typeface="Avenir Next"/>
                          <a:ea typeface="Avenir Next"/>
                          <a:cs typeface="Avenir Next"/>
                        </a:rPr>
                        <a:t>Open implementations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PR-Agent · Kodus</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Inspectable review code</a:t>
                      </a:r>
                    </a:p>
                  </a:txBody>
                  <a:tcPr marL="91440" marR="91440" marT="45720" marB="45720">
                    <a:lnR w="9525">
                      <a:solidFill>
                        <a:srgbClr val="E7E1D5"/>
                      </a:solidFill>
                      <a:prstDash val="solid"/>
                    </a:lnR>
                    <a:lnB w="9525">
                      <a:solidFill>
                        <a:srgbClr val="E7E1D5"/>
                      </a:solidFill>
                      <a:prstDash val="solid"/>
                    </a:lnB>
                    <a:solidFill>
                      <a:srgbClr val="F4EFE6"/>
                    </a:solidFill>
                  </a:tcPr>
                </a:tc>
              </a:tr>
              <a:tr h="678180">
                <a:tc>
                  <a:txBody>
                    <a:bodyPr/>
                    <a:lstStyle/>
                    <a:p>
                      <a:r>
                        <a:rPr sz="1800" b="0">
                          <a:solidFill>
                            <a:srgbClr val="4B2E23"/>
                          </a:solidFill>
                          <a:latin typeface="Avenir Next"/>
                          <a:ea typeface="Avenir Next"/>
                          <a:cs typeface="Avenir Next"/>
                        </a:rPr>
                        <a:t>Repair and control</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OpenHands · gh-aw · DBOS</a:t>
                      </a:r>
                    </a:p>
                  </a:txBody>
                  <a:tcPr marL="91440" marR="91440" marT="45720" marB="45720">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Execution and recovery</a:t>
                      </a:r>
                    </a:p>
                  </a:txBody>
                  <a:tcPr marL="91440" marR="91440" marT="45720" marB="45720">
                    <a:lnR w="9525">
                      <a:solidFill>
                        <a:srgbClr val="E7E1D5"/>
                      </a:solidFill>
                      <a:prstDash val="solid"/>
                    </a:lnR>
                    <a:lnB w="9525">
                      <a:solidFill>
                        <a:srgbClr val="E7E1D5"/>
                      </a:solidFill>
                      <a:prstDash val="solid"/>
                    </a:lnB>
                    <a:solidFill>
                      <a:srgbClr val="E7E1D5"/>
                    </a:solidFill>
                  </a:tcPr>
                </a:tc>
              </a:tr>
            </a:tbl>
          </a:graphicData>
        </a:graphic>
      </p:graphicFrame>
      <p:sp>
        <p:nvSpPr>
          <p:cNvPr id="4" name="Missing source code does not exclude a useful">
            <a:extLst xmlns:a="http://schemas.openxmlformats.org/drawingml/2006/main">
              <a:ext uri="{FF2B5EF4-FFF2-40B4-BE49-F238E27FC236}">
                <a16:creationId xmlns:a16="http://schemas.microsoft.com/office/drawing/2014/main" id="{C4CF4A8D-272C-4C86-B6BA-2CAA54924743}"/>
              </a:ext>
            </a:extLst>
          </p:cNvPr>
          <p:cNvSpPr>
            <a:spLocks xmlns:a="http://schemas.openxmlformats.org/drawingml/2006/main" noGrp="1"/>
          </p:cNvSpPr>
          <p:nvPr/>
        </p:nvSpPr>
        <p:spPr>
          <a:xfrm xmlns:a="http://schemas.openxmlformats.org/drawingml/2006/main">
            <a:off x="742950" y="5705475"/>
            <a:ext cx="1042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8E5033"/>
                </a:solidFill>
                <a:latin typeface="Avenir Next"/>
                <a:ea typeface="Avenir Next"/>
                <a:cs typeface="Avenir Next"/>
              </a:defRPr>
            </a:defPPr>
            <a:lvl1pPr>
              <a:defRPr sz="1875" b="0">
                <a:solidFill>
                  <a:srgbClr val="8E5033"/>
                </a:solidFill>
                <a:latin typeface="Avenir Next"/>
                <a:ea typeface="Avenir Next"/>
                <a:cs typeface="Avenir Next"/>
              </a:defRPr>
            </a:lvl1pPr>
            <a:lvl2pPr>
              <a:defRPr sz="1875" b="0">
                <a:solidFill>
                  <a:srgbClr val="8E5033"/>
                </a:solidFill>
                <a:latin typeface="Avenir Next"/>
                <a:ea typeface="Avenir Next"/>
                <a:cs typeface="Avenir Next"/>
              </a:defRPr>
            </a:lvl2pPr>
            <a:lvl3pPr>
              <a:defRPr sz="1875" b="0">
                <a:solidFill>
                  <a:srgbClr val="8E5033"/>
                </a:solidFill>
                <a:latin typeface="Avenir Next"/>
                <a:ea typeface="Avenir Next"/>
                <a:cs typeface="Avenir Next"/>
              </a:defRPr>
            </a:lvl3pPr>
            <a:lvl4pPr>
              <a:defRPr sz="1875" b="0">
                <a:solidFill>
                  <a:srgbClr val="8E5033"/>
                </a:solidFill>
                <a:latin typeface="Avenir Next"/>
                <a:ea typeface="Avenir Next"/>
                <a:cs typeface="Avenir Next"/>
              </a:defRPr>
            </a:lvl4pPr>
            <a:lvl5pPr>
              <a:defRPr sz="1875" b="0">
                <a:solidFill>
                  <a:srgbClr val="8E5033"/>
                </a:solidFill>
                <a:latin typeface="Avenir Next"/>
                <a:ea typeface="Avenir Next"/>
                <a:cs typeface="Avenir Next"/>
              </a:defRPr>
            </a:lvl5pPr>
            <a:lvl6pPr>
              <a:defRPr sz="1875" b="0">
                <a:solidFill>
                  <a:srgbClr val="8E5033"/>
                </a:solidFill>
                <a:latin typeface="Avenir Next"/>
                <a:ea typeface="Avenir Next"/>
                <a:cs typeface="Avenir Next"/>
              </a:defRPr>
            </a:lvl6pPr>
            <a:lvl7pPr>
              <a:defRPr sz="1875" b="0">
                <a:solidFill>
                  <a:srgbClr val="8E5033"/>
                </a:solidFill>
                <a:latin typeface="Avenir Next"/>
                <a:ea typeface="Avenir Next"/>
                <a:cs typeface="Avenir Next"/>
              </a:defRPr>
            </a:lvl7pPr>
            <a:lvl8pPr>
              <a:defRPr sz="1875" b="0">
                <a:solidFill>
                  <a:srgbClr val="8E5033"/>
                </a:solidFill>
                <a:latin typeface="Avenir Next"/>
                <a:ea typeface="Avenir Next"/>
                <a:cs typeface="Avenir Next"/>
              </a:defRPr>
            </a:lvl8pPr>
            <a:lvl9pPr>
              <a:defRPr sz="1875" b="0">
                <a:solidFill>
                  <a:srgbClr val="8E5033"/>
                </a:solidFill>
                <a:latin typeface="Avenir Next"/>
                <a:ea typeface="Avenir Next"/>
                <a:cs typeface="Avenir Next"/>
              </a:defRPr>
            </a:lvl9pPr>
          </a:lstStyle>
          <a:p xmlns:a="http://schemas.openxmlformats.org/drawingml/2006/main">
            <a:pPr>
              <a:defRPr sz="1875" b="0">
                <a:solidFill>
                  <a:srgbClr val="8E5033"/>
                </a:solidFill>
                <a:latin typeface="Avenir Next"/>
                <a:ea typeface="Avenir Next"/>
                <a:cs typeface="Avenir Next"/>
              </a:defRPr>
            </a:pPr>
            <a:r>
              <a:rPr sz="1875" b="0">
                <a:solidFill>
                  <a:srgbClr val="8E5033"/>
                </a:solidFill>
                <a:latin typeface="Avenir Next"/>
                <a:ea typeface="Avenir Next"/>
                <a:cs typeface="Avenir Next"/>
              </a:rPr>
              <a:t>Missing source code does not exclude a useful idea</a:t>
            </a:r>
          </a:p>
        </p:txBody>
      </p:sp>
    </p:spTree>
    <p:extLst>
      <p:ext uri="{BB962C8B-B14F-4D97-AF65-F5344CB8AC3E}">
        <p14:creationId xmlns:p14="http://schemas.microsoft.com/office/powerpoint/2010/main" val="1367027951"/>
      </p:ext>
    </p:extLst>
  </p:cSld>
</p:sld>
</file>

<file path=ppt/slides/slide5.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8" name="One quality design, different deployments">
            <a:extLst xmlns:a="http://schemas.openxmlformats.org/drawingml/2006/main">
              <a:ext uri="{FF2B5EF4-FFF2-40B4-BE49-F238E27FC236}">
                <a16:creationId xmlns:a16="http://schemas.microsoft.com/office/drawing/2014/main" id="{28E0FDBA-2B7A-45A3-A3FD-6C1A0EC22AAD}"/>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One quality design, different deployments</a:t>
            </a:r>
          </a:p>
        </p:txBody>
      </p:sp>
      <p:sp>
        <p:nvSpPr>
          <p:cNvPr id="2" name="05">
            <a:extLst xmlns:a="http://schemas.openxmlformats.org/drawingml/2006/main">
              <a:ext uri="{FF2B5EF4-FFF2-40B4-BE49-F238E27FC236}">
                <a16:creationId xmlns:a16="http://schemas.microsoft.com/office/drawing/2014/main" id="{464F2460-BB24-4E76-990B-2F278DE0F758}"/>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05</a:t>
            </a:r>
          </a:p>
        </p:txBody>
      </p:sp>
      <p:sp>
        <p:nvSpPr>
          <p:cNvPr id="3" name="Personal">
            <a:extLst xmlns:a="http://schemas.openxmlformats.org/drawingml/2006/main">
              <a:ext uri="{FF2B5EF4-FFF2-40B4-BE49-F238E27FC236}">
                <a16:creationId xmlns:a16="http://schemas.microsoft.com/office/drawing/2014/main" id="{D29360B9-03D9-485B-AAA8-26C86B64A6CF}"/>
              </a:ext>
            </a:extLst>
          </p:cNvPr>
          <p:cNvSpPr>
            <a:spLocks xmlns:a="http://schemas.openxmlformats.org/drawingml/2006/main" noGrp="1"/>
          </p:cNvSpPr>
          <p:nvPr/>
        </p:nvSpPr>
        <p:spPr>
          <a:xfrm xmlns:a="http://schemas.openxmlformats.org/drawingml/2006/main">
            <a:off x="742950" y="20478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8E5033"/>
                </a:solidFill>
                <a:latin typeface="Georgia"/>
                <a:ea typeface="Georgia"/>
                <a:cs typeface="Georgia"/>
              </a:defRPr>
            </a:defPPr>
            <a:lvl1pPr>
              <a:defRPr sz="3450" b="0">
                <a:solidFill>
                  <a:srgbClr val="8E5033"/>
                </a:solidFill>
                <a:latin typeface="Georgia"/>
                <a:ea typeface="Georgia"/>
                <a:cs typeface="Georgia"/>
              </a:defRPr>
            </a:lvl1pPr>
            <a:lvl2pPr>
              <a:defRPr sz="3450" b="0">
                <a:solidFill>
                  <a:srgbClr val="8E5033"/>
                </a:solidFill>
                <a:latin typeface="Georgia"/>
                <a:ea typeface="Georgia"/>
                <a:cs typeface="Georgia"/>
              </a:defRPr>
            </a:lvl2pPr>
            <a:lvl3pPr>
              <a:defRPr sz="3450" b="0">
                <a:solidFill>
                  <a:srgbClr val="8E5033"/>
                </a:solidFill>
                <a:latin typeface="Georgia"/>
                <a:ea typeface="Georgia"/>
                <a:cs typeface="Georgia"/>
              </a:defRPr>
            </a:lvl3pPr>
            <a:lvl4pPr>
              <a:defRPr sz="3450" b="0">
                <a:solidFill>
                  <a:srgbClr val="8E5033"/>
                </a:solidFill>
                <a:latin typeface="Georgia"/>
                <a:ea typeface="Georgia"/>
                <a:cs typeface="Georgia"/>
              </a:defRPr>
            </a:lvl4pPr>
            <a:lvl5pPr>
              <a:defRPr sz="3450" b="0">
                <a:solidFill>
                  <a:srgbClr val="8E5033"/>
                </a:solidFill>
                <a:latin typeface="Georgia"/>
                <a:ea typeface="Georgia"/>
                <a:cs typeface="Georgia"/>
              </a:defRPr>
            </a:lvl5pPr>
            <a:lvl6pPr>
              <a:defRPr sz="3450" b="0">
                <a:solidFill>
                  <a:srgbClr val="8E5033"/>
                </a:solidFill>
                <a:latin typeface="Georgia"/>
                <a:ea typeface="Georgia"/>
                <a:cs typeface="Georgia"/>
              </a:defRPr>
            </a:lvl6pPr>
            <a:lvl7pPr>
              <a:defRPr sz="3450" b="0">
                <a:solidFill>
                  <a:srgbClr val="8E5033"/>
                </a:solidFill>
                <a:latin typeface="Georgia"/>
                <a:ea typeface="Georgia"/>
                <a:cs typeface="Georgia"/>
              </a:defRPr>
            </a:lvl7pPr>
            <a:lvl8pPr>
              <a:defRPr sz="3450" b="0">
                <a:solidFill>
                  <a:srgbClr val="8E5033"/>
                </a:solidFill>
                <a:latin typeface="Georgia"/>
                <a:ea typeface="Georgia"/>
                <a:cs typeface="Georgia"/>
              </a:defRPr>
            </a:lvl8pPr>
            <a:lvl9pPr>
              <a:defRPr sz="3450" b="0">
                <a:solidFill>
                  <a:srgbClr val="8E5033"/>
                </a:solidFill>
                <a:latin typeface="Georgia"/>
                <a:ea typeface="Georgia"/>
                <a:cs typeface="Georgia"/>
              </a:defRPr>
            </a:lvl9pPr>
          </a:lstStyle>
          <a:p xmlns:a="http://schemas.openxmlformats.org/drawingml/2006/main">
            <a:pPr>
              <a:defRPr sz="3450" b="0">
                <a:solidFill>
                  <a:srgbClr val="8E5033"/>
                </a:solidFill>
                <a:latin typeface="Georgia"/>
                <a:ea typeface="Georgia"/>
                <a:cs typeface="Georgia"/>
              </a:defRPr>
            </a:pPr>
            <a:r>
              <a:rPr sz="3450" b="0">
                <a:solidFill>
                  <a:srgbClr val="8E5033"/>
                </a:solidFill>
                <a:latin typeface="Georgia"/>
                <a:ea typeface="Georgia"/>
                <a:cs typeface="Georgia"/>
              </a:rPr>
              <a:t>Personal</a:t>
            </a:r>
          </a:p>
        </p:txBody>
      </p:sp>
      <p:sp>
        <p:nvSpPr>
          <p:cNvPr id="4" name="Local or hosted context&#10;Existing client route">
            <a:extLst xmlns:a="http://schemas.openxmlformats.org/drawingml/2006/main">
              <a:ext uri="{FF2B5EF4-FFF2-40B4-BE49-F238E27FC236}">
                <a16:creationId xmlns:a16="http://schemas.microsoft.com/office/drawing/2014/main" id="{CE760E7D-D676-4091-B2E3-72F57DD5C392}"/>
              </a:ext>
            </a:extLst>
          </p:cNvPr>
          <p:cNvSpPr>
            <a:spLocks xmlns:a="http://schemas.openxmlformats.org/drawingml/2006/main" noGrp="1"/>
          </p:cNvSpPr>
          <p:nvPr/>
        </p:nvSpPr>
        <p:spPr>
          <a:xfrm xmlns:a="http://schemas.openxmlformats.org/drawingml/2006/main">
            <a:off x="742950" y="3000375"/>
            <a:ext cx="4857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B2E23"/>
                </a:solidFill>
                <a:latin typeface="Avenir Next"/>
                <a:ea typeface="Avenir Next"/>
                <a:cs typeface="Avenir Next"/>
              </a:defRPr>
            </a:defPPr>
            <a:lvl1pPr>
              <a:defRPr sz="2250" b="0">
                <a:solidFill>
                  <a:srgbClr val="4B2E23"/>
                </a:solidFill>
                <a:latin typeface="Avenir Next"/>
                <a:ea typeface="Avenir Next"/>
                <a:cs typeface="Avenir Next"/>
              </a:defRPr>
            </a:lvl1pPr>
            <a:lvl2pPr>
              <a:defRPr sz="2250" b="0">
                <a:solidFill>
                  <a:srgbClr val="4B2E23"/>
                </a:solidFill>
                <a:latin typeface="Avenir Next"/>
                <a:ea typeface="Avenir Next"/>
                <a:cs typeface="Avenir Next"/>
              </a:defRPr>
            </a:lvl2pPr>
            <a:lvl3pPr>
              <a:defRPr sz="2250" b="0">
                <a:solidFill>
                  <a:srgbClr val="4B2E23"/>
                </a:solidFill>
                <a:latin typeface="Avenir Next"/>
                <a:ea typeface="Avenir Next"/>
                <a:cs typeface="Avenir Next"/>
              </a:defRPr>
            </a:lvl3pPr>
            <a:lvl4pPr>
              <a:defRPr sz="2250" b="0">
                <a:solidFill>
                  <a:srgbClr val="4B2E23"/>
                </a:solidFill>
                <a:latin typeface="Avenir Next"/>
                <a:ea typeface="Avenir Next"/>
                <a:cs typeface="Avenir Next"/>
              </a:defRPr>
            </a:lvl4pPr>
            <a:lvl5pPr>
              <a:defRPr sz="2250" b="0">
                <a:solidFill>
                  <a:srgbClr val="4B2E23"/>
                </a:solidFill>
                <a:latin typeface="Avenir Next"/>
                <a:ea typeface="Avenir Next"/>
                <a:cs typeface="Avenir Next"/>
              </a:defRPr>
            </a:lvl5pPr>
            <a:lvl6pPr>
              <a:defRPr sz="2250" b="0">
                <a:solidFill>
                  <a:srgbClr val="4B2E23"/>
                </a:solidFill>
                <a:latin typeface="Avenir Next"/>
                <a:ea typeface="Avenir Next"/>
                <a:cs typeface="Avenir Next"/>
              </a:defRPr>
            </a:lvl6pPr>
            <a:lvl7pPr>
              <a:defRPr sz="2250" b="0">
                <a:solidFill>
                  <a:srgbClr val="4B2E23"/>
                </a:solidFill>
                <a:latin typeface="Avenir Next"/>
                <a:ea typeface="Avenir Next"/>
                <a:cs typeface="Avenir Next"/>
              </a:defRPr>
            </a:lvl7pPr>
            <a:lvl8pPr>
              <a:defRPr sz="2250" b="0">
                <a:solidFill>
                  <a:srgbClr val="4B2E23"/>
                </a:solidFill>
                <a:latin typeface="Avenir Next"/>
                <a:ea typeface="Avenir Next"/>
                <a:cs typeface="Avenir Next"/>
              </a:defRPr>
            </a:lvl8pPr>
            <a:lvl9pPr>
              <a:defRPr sz="2250" b="0">
                <a:solidFill>
                  <a:srgbClr val="4B2E23"/>
                </a:solidFill>
                <a:latin typeface="Avenir Next"/>
                <a:ea typeface="Avenir Next"/>
                <a:cs typeface="Avenir Next"/>
              </a:defRPr>
            </a:lvl9pPr>
          </a:lstStyle>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Local or hosted context</a:t>
            </a:r>
          </a:p>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Existing client route can stay</a:t>
            </a:r>
          </a:p>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Approve the tested patch</a:t>
            </a:r>
          </a:p>
        </p:txBody>
      </p:sp>
      <p:sp>
        <p:nvSpPr>
          <p:cNvPr id="5" name="Organization">
            <a:extLst xmlns:a="http://schemas.openxmlformats.org/drawingml/2006/main">
              <a:ext uri="{FF2B5EF4-FFF2-40B4-BE49-F238E27FC236}">
                <a16:creationId xmlns:a16="http://schemas.microsoft.com/office/drawing/2014/main" id="{326A68B4-8D0F-400E-A7B4-D2399124DE65}"/>
              </a:ext>
            </a:extLst>
          </p:cNvPr>
          <p:cNvSpPr>
            <a:spLocks xmlns:a="http://schemas.openxmlformats.org/drawingml/2006/main" noGrp="1"/>
          </p:cNvSpPr>
          <p:nvPr/>
        </p:nvSpPr>
        <p:spPr>
          <a:xfrm xmlns:a="http://schemas.openxmlformats.org/drawingml/2006/main">
            <a:off x="6572250" y="20478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8E5033"/>
                </a:solidFill>
                <a:latin typeface="Georgia"/>
                <a:ea typeface="Georgia"/>
                <a:cs typeface="Georgia"/>
              </a:defRPr>
            </a:defPPr>
            <a:lvl1pPr>
              <a:defRPr sz="3450" b="0">
                <a:solidFill>
                  <a:srgbClr val="8E5033"/>
                </a:solidFill>
                <a:latin typeface="Georgia"/>
                <a:ea typeface="Georgia"/>
                <a:cs typeface="Georgia"/>
              </a:defRPr>
            </a:lvl1pPr>
            <a:lvl2pPr>
              <a:defRPr sz="3450" b="0">
                <a:solidFill>
                  <a:srgbClr val="8E5033"/>
                </a:solidFill>
                <a:latin typeface="Georgia"/>
                <a:ea typeface="Georgia"/>
                <a:cs typeface="Georgia"/>
              </a:defRPr>
            </a:lvl2pPr>
            <a:lvl3pPr>
              <a:defRPr sz="3450" b="0">
                <a:solidFill>
                  <a:srgbClr val="8E5033"/>
                </a:solidFill>
                <a:latin typeface="Georgia"/>
                <a:ea typeface="Georgia"/>
                <a:cs typeface="Georgia"/>
              </a:defRPr>
            </a:lvl3pPr>
            <a:lvl4pPr>
              <a:defRPr sz="3450" b="0">
                <a:solidFill>
                  <a:srgbClr val="8E5033"/>
                </a:solidFill>
                <a:latin typeface="Georgia"/>
                <a:ea typeface="Georgia"/>
                <a:cs typeface="Georgia"/>
              </a:defRPr>
            </a:lvl4pPr>
            <a:lvl5pPr>
              <a:defRPr sz="3450" b="0">
                <a:solidFill>
                  <a:srgbClr val="8E5033"/>
                </a:solidFill>
                <a:latin typeface="Georgia"/>
                <a:ea typeface="Georgia"/>
                <a:cs typeface="Georgia"/>
              </a:defRPr>
            </a:lvl5pPr>
            <a:lvl6pPr>
              <a:defRPr sz="3450" b="0">
                <a:solidFill>
                  <a:srgbClr val="8E5033"/>
                </a:solidFill>
                <a:latin typeface="Georgia"/>
                <a:ea typeface="Georgia"/>
                <a:cs typeface="Georgia"/>
              </a:defRPr>
            </a:lvl6pPr>
            <a:lvl7pPr>
              <a:defRPr sz="3450" b="0">
                <a:solidFill>
                  <a:srgbClr val="8E5033"/>
                </a:solidFill>
                <a:latin typeface="Georgia"/>
                <a:ea typeface="Georgia"/>
                <a:cs typeface="Georgia"/>
              </a:defRPr>
            </a:lvl7pPr>
            <a:lvl8pPr>
              <a:defRPr sz="3450" b="0">
                <a:solidFill>
                  <a:srgbClr val="8E5033"/>
                </a:solidFill>
                <a:latin typeface="Georgia"/>
                <a:ea typeface="Georgia"/>
                <a:cs typeface="Georgia"/>
              </a:defRPr>
            </a:lvl8pPr>
            <a:lvl9pPr>
              <a:defRPr sz="3450" b="0">
                <a:solidFill>
                  <a:srgbClr val="8E5033"/>
                </a:solidFill>
                <a:latin typeface="Georgia"/>
                <a:ea typeface="Georgia"/>
                <a:cs typeface="Georgia"/>
              </a:defRPr>
            </a:lvl9pPr>
          </a:lstStyle>
          <a:p xmlns:a="http://schemas.openxmlformats.org/drawingml/2006/main">
            <a:pPr>
              <a:defRPr sz="3450" b="0">
                <a:solidFill>
                  <a:srgbClr val="8E5033"/>
                </a:solidFill>
                <a:latin typeface="Georgia"/>
                <a:ea typeface="Georgia"/>
                <a:cs typeface="Georgia"/>
              </a:defRPr>
            </a:pPr>
            <a:r>
              <a:rPr sz="3450" b="0">
                <a:solidFill>
                  <a:srgbClr val="8E5033"/>
                </a:solidFill>
                <a:latin typeface="Georgia"/>
                <a:ea typeface="Georgia"/>
                <a:cs typeface="Georgia"/>
              </a:rPr>
              <a:t>Organization</a:t>
            </a:r>
          </a:p>
        </p:txBody>
      </p:sp>
      <p:sp>
        <p:nvSpPr>
          <p:cNvPr id="6" name="Governed context service&#10;Approved models and ">
            <a:extLst xmlns:a="http://schemas.openxmlformats.org/drawingml/2006/main">
              <a:ext uri="{FF2B5EF4-FFF2-40B4-BE49-F238E27FC236}">
                <a16:creationId xmlns:a16="http://schemas.microsoft.com/office/drawing/2014/main" id="{3D515CC8-B973-42CC-A40D-2B272EA86E73}"/>
              </a:ext>
            </a:extLst>
          </p:cNvPr>
          <p:cNvSpPr>
            <a:spLocks xmlns:a="http://schemas.openxmlformats.org/drawingml/2006/main" noGrp="1"/>
          </p:cNvSpPr>
          <p:nvPr/>
        </p:nvSpPr>
        <p:spPr>
          <a:xfrm xmlns:a="http://schemas.openxmlformats.org/drawingml/2006/main">
            <a:off x="6572250" y="3000375"/>
            <a:ext cx="4762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B2E23"/>
                </a:solidFill>
                <a:latin typeface="Avenir Next"/>
                <a:ea typeface="Avenir Next"/>
                <a:cs typeface="Avenir Next"/>
              </a:defRPr>
            </a:defPPr>
            <a:lvl1pPr>
              <a:defRPr sz="2250" b="0">
                <a:solidFill>
                  <a:srgbClr val="4B2E23"/>
                </a:solidFill>
                <a:latin typeface="Avenir Next"/>
                <a:ea typeface="Avenir Next"/>
                <a:cs typeface="Avenir Next"/>
              </a:defRPr>
            </a:lvl1pPr>
            <a:lvl2pPr>
              <a:defRPr sz="2250" b="0">
                <a:solidFill>
                  <a:srgbClr val="4B2E23"/>
                </a:solidFill>
                <a:latin typeface="Avenir Next"/>
                <a:ea typeface="Avenir Next"/>
                <a:cs typeface="Avenir Next"/>
              </a:defRPr>
            </a:lvl2pPr>
            <a:lvl3pPr>
              <a:defRPr sz="2250" b="0">
                <a:solidFill>
                  <a:srgbClr val="4B2E23"/>
                </a:solidFill>
                <a:latin typeface="Avenir Next"/>
                <a:ea typeface="Avenir Next"/>
                <a:cs typeface="Avenir Next"/>
              </a:defRPr>
            </a:lvl3pPr>
            <a:lvl4pPr>
              <a:defRPr sz="2250" b="0">
                <a:solidFill>
                  <a:srgbClr val="4B2E23"/>
                </a:solidFill>
                <a:latin typeface="Avenir Next"/>
                <a:ea typeface="Avenir Next"/>
                <a:cs typeface="Avenir Next"/>
              </a:defRPr>
            </a:lvl4pPr>
            <a:lvl5pPr>
              <a:defRPr sz="2250" b="0">
                <a:solidFill>
                  <a:srgbClr val="4B2E23"/>
                </a:solidFill>
                <a:latin typeface="Avenir Next"/>
                <a:ea typeface="Avenir Next"/>
                <a:cs typeface="Avenir Next"/>
              </a:defRPr>
            </a:lvl5pPr>
            <a:lvl6pPr>
              <a:defRPr sz="2250" b="0">
                <a:solidFill>
                  <a:srgbClr val="4B2E23"/>
                </a:solidFill>
                <a:latin typeface="Avenir Next"/>
                <a:ea typeface="Avenir Next"/>
                <a:cs typeface="Avenir Next"/>
              </a:defRPr>
            </a:lvl6pPr>
            <a:lvl7pPr>
              <a:defRPr sz="2250" b="0">
                <a:solidFill>
                  <a:srgbClr val="4B2E23"/>
                </a:solidFill>
                <a:latin typeface="Avenir Next"/>
                <a:ea typeface="Avenir Next"/>
                <a:cs typeface="Avenir Next"/>
              </a:defRPr>
            </a:lvl7pPr>
            <a:lvl8pPr>
              <a:defRPr sz="2250" b="0">
                <a:solidFill>
                  <a:srgbClr val="4B2E23"/>
                </a:solidFill>
                <a:latin typeface="Avenir Next"/>
                <a:ea typeface="Avenir Next"/>
                <a:cs typeface="Avenir Next"/>
              </a:defRPr>
            </a:lvl8pPr>
            <a:lvl9pPr>
              <a:defRPr sz="2250" b="0">
                <a:solidFill>
                  <a:srgbClr val="4B2E23"/>
                </a:solidFill>
                <a:latin typeface="Avenir Next"/>
                <a:ea typeface="Avenir Next"/>
                <a:cs typeface="Avenir Next"/>
              </a:defRPr>
            </a:lvl9pPr>
          </a:lstStyle>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Governed context service</a:t>
            </a:r>
          </a:p>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Approved models and workers</a:t>
            </a:r>
          </a:p>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Owner-defined checks</a:t>
            </a:r>
          </a:p>
        </p:txBody>
      </p:sp>
      <p:sp>
        <p:nvSpPr>
          <p:cNvPr id="7" name="Cost and hosting are implementation choices">
            <a:extLst xmlns:a="http://schemas.openxmlformats.org/drawingml/2006/main">
              <a:ext uri="{FF2B5EF4-FFF2-40B4-BE49-F238E27FC236}">
                <a16:creationId xmlns:a16="http://schemas.microsoft.com/office/drawing/2014/main" id="{3CF048BE-60A4-477D-B097-363B59740C37}"/>
              </a:ext>
            </a:extLst>
          </p:cNvPr>
          <p:cNvSpPr>
            <a:spLocks xmlns:a="http://schemas.openxmlformats.org/drawingml/2006/main" noGrp="1"/>
          </p:cNvSpPr>
          <p:nvPr/>
        </p:nvSpPr>
        <p:spPr>
          <a:xfrm xmlns:a="http://schemas.openxmlformats.org/drawingml/2006/main">
            <a:off x="742950" y="5581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B2E23"/>
                </a:solidFill>
                <a:latin typeface="Avenir Next"/>
                <a:ea typeface="Avenir Next"/>
                <a:cs typeface="Avenir Next"/>
              </a:defRPr>
            </a:defPPr>
            <a:lvl1pPr>
              <a:defRPr sz="2175" b="0">
                <a:solidFill>
                  <a:srgbClr val="4B2E23"/>
                </a:solidFill>
                <a:latin typeface="Avenir Next"/>
                <a:ea typeface="Avenir Next"/>
                <a:cs typeface="Avenir Next"/>
              </a:defRPr>
            </a:lvl1pPr>
            <a:lvl2pPr>
              <a:defRPr sz="2175" b="0">
                <a:solidFill>
                  <a:srgbClr val="4B2E23"/>
                </a:solidFill>
                <a:latin typeface="Avenir Next"/>
                <a:ea typeface="Avenir Next"/>
                <a:cs typeface="Avenir Next"/>
              </a:defRPr>
            </a:lvl2pPr>
            <a:lvl3pPr>
              <a:defRPr sz="2175" b="0">
                <a:solidFill>
                  <a:srgbClr val="4B2E23"/>
                </a:solidFill>
                <a:latin typeface="Avenir Next"/>
                <a:ea typeface="Avenir Next"/>
                <a:cs typeface="Avenir Next"/>
              </a:defRPr>
            </a:lvl3pPr>
            <a:lvl4pPr>
              <a:defRPr sz="2175" b="0">
                <a:solidFill>
                  <a:srgbClr val="4B2E23"/>
                </a:solidFill>
                <a:latin typeface="Avenir Next"/>
                <a:ea typeface="Avenir Next"/>
                <a:cs typeface="Avenir Next"/>
              </a:defRPr>
            </a:lvl4pPr>
            <a:lvl5pPr>
              <a:defRPr sz="2175" b="0">
                <a:solidFill>
                  <a:srgbClr val="4B2E23"/>
                </a:solidFill>
                <a:latin typeface="Avenir Next"/>
                <a:ea typeface="Avenir Next"/>
                <a:cs typeface="Avenir Next"/>
              </a:defRPr>
            </a:lvl5pPr>
            <a:lvl6pPr>
              <a:defRPr sz="2175" b="0">
                <a:solidFill>
                  <a:srgbClr val="4B2E23"/>
                </a:solidFill>
                <a:latin typeface="Avenir Next"/>
                <a:ea typeface="Avenir Next"/>
                <a:cs typeface="Avenir Next"/>
              </a:defRPr>
            </a:lvl6pPr>
            <a:lvl7pPr>
              <a:defRPr sz="2175" b="0">
                <a:solidFill>
                  <a:srgbClr val="4B2E23"/>
                </a:solidFill>
                <a:latin typeface="Avenir Next"/>
                <a:ea typeface="Avenir Next"/>
                <a:cs typeface="Avenir Next"/>
              </a:defRPr>
            </a:lvl7pPr>
            <a:lvl8pPr>
              <a:defRPr sz="2175" b="0">
                <a:solidFill>
                  <a:srgbClr val="4B2E23"/>
                </a:solidFill>
                <a:latin typeface="Avenir Next"/>
                <a:ea typeface="Avenir Next"/>
                <a:cs typeface="Avenir Next"/>
              </a:defRPr>
            </a:lvl8pPr>
            <a:lvl9pPr>
              <a:defRPr sz="2175" b="0">
                <a:solidFill>
                  <a:srgbClr val="4B2E23"/>
                </a:solidFill>
                <a:latin typeface="Avenir Next"/>
                <a:ea typeface="Avenir Next"/>
                <a:cs typeface="Avenir Next"/>
              </a:defRPr>
            </a:lvl9pPr>
          </a:lstStyle>
          <a:p xmlns:a="http://schemas.openxmlformats.org/drawingml/2006/main">
            <a:pPr>
              <a:defRPr sz="2175" b="0">
                <a:solidFill>
                  <a:srgbClr val="4B2E23"/>
                </a:solidFill>
                <a:latin typeface="Avenir Next"/>
                <a:ea typeface="Avenir Next"/>
                <a:cs typeface="Avenir Next"/>
              </a:defRPr>
            </a:pPr>
            <a:r>
              <a:rPr sz="2175" b="0">
                <a:solidFill>
                  <a:srgbClr val="4B2E23"/>
                </a:solidFill>
                <a:latin typeface="Avenir Next"/>
                <a:ea typeface="Avenir Next"/>
                <a:cs typeface="Avenir Next"/>
              </a:rPr>
              <a:t>Cost and hosting are implementation choices</a:t>
            </a:r>
          </a:p>
        </p:txBody>
      </p:sp>
    </p:spTree>
    <p:extLst>
      <p:ext uri="{BB962C8B-B14F-4D97-AF65-F5344CB8AC3E}">
        <p14:creationId xmlns:p14="http://schemas.microsoft.com/office/powerpoint/2010/main" val="1039850547"/>
      </p:ext>
    </p:extLst>
  </p:cSld>
</p:sld>
</file>

<file path=ppt/slides/slide6.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5" name="Uber filters before it speaks">
            <a:extLst xmlns:a="http://schemas.openxmlformats.org/drawingml/2006/main">
              <a:ext uri="{FF2B5EF4-FFF2-40B4-BE49-F238E27FC236}">
                <a16:creationId xmlns:a16="http://schemas.microsoft.com/office/drawing/2014/main" id="{C77570EE-1153-4772-80F1-CD85C6D8D5A7}"/>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Uber filters before it speaks</a:t>
            </a:r>
          </a:p>
        </p:txBody>
      </p:sp>
      <p:sp>
        <p:nvSpPr>
          <p:cNvPr id="2" name="06">
            <a:extLst xmlns:a="http://schemas.openxmlformats.org/drawingml/2006/main">
              <a:ext uri="{FF2B5EF4-FFF2-40B4-BE49-F238E27FC236}">
                <a16:creationId xmlns:a16="http://schemas.microsoft.com/office/drawing/2014/main" id="{DAE8FF49-654B-484D-9ED1-E6E573F4DA7D}"/>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06</a:t>
            </a:r>
          </a:p>
        </p:txBody>
      </p:sp>
      <p:pic>
        <p:nvPicPr>
          <p:cNvPr id="3" name="">
            <a:extLst xmlns:a="http://schemas.openxmlformats.org/drawingml/2006/main">
              <a:ext uri="{FF2B5EF4-FFF2-40B4-BE49-F238E27FC236}">
                <a16:creationId xmlns:a16="http://schemas.microsoft.com/office/drawing/2014/main" id="{B285321E-57C6-46FE-B5F2-E1FECCA06C99}"/>
              </a:ext>
            </a:extLst>
          </p:cNvPr>
          <p:cNvPicPr>
            <a:picLocks xmlns:a="http://schemas.openxmlformats.org/drawingml/2006/main" noChangeAspect="1"/>
          </p:cNvPicPr>
          <p:nvPr/>
        </p:nvPicPr>
        <p:blipFill>
          <a:blip xmlns:r="http://schemas.openxmlformats.org/officeDocument/2006/relationships" xmlns:a="http://schemas.openxmlformats.org/drawingml/2006/main" r:embed="R9c5b1c86b0b74177"/>
          <a:stretch xmlns:a="http://schemas.openxmlformats.org/drawingml/2006/main"/>
        </p:blipFill>
        <p:spPr>
          <a:xfrm xmlns:a="http://schemas.openxmlformats.org/drawingml/2006/main">
            <a:off x="1461889" y="1981200"/>
            <a:ext cx="9249172" cy="3762375"/>
          </a:xfrm>
          <a:prstGeom xmlns:a="http://schemas.openxmlformats.org/drawingml/2006/main" prst="rect">
            <a:avLst/>
          </a:prstGeom>
        </p:spPr>
      </p:pic>
      <p:sp>
        <p:nvSpPr>
          <p:cNvPr id="4" name="Borrow the filters and feedback loop">
            <a:extLst xmlns:a="http://schemas.openxmlformats.org/drawingml/2006/main">
              <a:ext uri="{FF2B5EF4-FFF2-40B4-BE49-F238E27FC236}">
                <a16:creationId xmlns:a16="http://schemas.microsoft.com/office/drawing/2014/main" id="{C7F54962-9309-4353-AC75-8B2C8CB0C9FC}"/>
              </a:ext>
            </a:extLst>
          </p:cNvPr>
          <p:cNvSpPr>
            <a:spLocks xmlns:a="http://schemas.openxmlformats.org/drawingml/2006/main" noGrp="1"/>
          </p:cNvSpPr>
          <p:nvPr/>
        </p:nvSpPr>
        <p:spPr>
          <a:xfrm xmlns:a="http://schemas.openxmlformats.org/drawingml/2006/main">
            <a:off x="762000" y="58197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8E5033"/>
                </a:solidFill>
                <a:latin typeface="Avenir Next"/>
                <a:ea typeface="Avenir Next"/>
                <a:cs typeface="Avenir Next"/>
              </a:defRPr>
            </a:defPPr>
            <a:lvl1pPr>
              <a:defRPr sz="2175" b="0">
                <a:solidFill>
                  <a:srgbClr val="8E5033"/>
                </a:solidFill>
                <a:latin typeface="Avenir Next"/>
                <a:ea typeface="Avenir Next"/>
                <a:cs typeface="Avenir Next"/>
              </a:defRPr>
            </a:lvl1pPr>
            <a:lvl2pPr>
              <a:defRPr sz="2175" b="0">
                <a:solidFill>
                  <a:srgbClr val="8E5033"/>
                </a:solidFill>
                <a:latin typeface="Avenir Next"/>
                <a:ea typeface="Avenir Next"/>
                <a:cs typeface="Avenir Next"/>
              </a:defRPr>
            </a:lvl2pPr>
            <a:lvl3pPr>
              <a:defRPr sz="2175" b="0">
                <a:solidFill>
                  <a:srgbClr val="8E5033"/>
                </a:solidFill>
                <a:latin typeface="Avenir Next"/>
                <a:ea typeface="Avenir Next"/>
                <a:cs typeface="Avenir Next"/>
              </a:defRPr>
            </a:lvl3pPr>
            <a:lvl4pPr>
              <a:defRPr sz="2175" b="0">
                <a:solidFill>
                  <a:srgbClr val="8E5033"/>
                </a:solidFill>
                <a:latin typeface="Avenir Next"/>
                <a:ea typeface="Avenir Next"/>
                <a:cs typeface="Avenir Next"/>
              </a:defRPr>
            </a:lvl4pPr>
            <a:lvl5pPr>
              <a:defRPr sz="2175" b="0">
                <a:solidFill>
                  <a:srgbClr val="8E5033"/>
                </a:solidFill>
                <a:latin typeface="Avenir Next"/>
                <a:ea typeface="Avenir Next"/>
                <a:cs typeface="Avenir Next"/>
              </a:defRPr>
            </a:lvl5pPr>
            <a:lvl6pPr>
              <a:defRPr sz="2175" b="0">
                <a:solidFill>
                  <a:srgbClr val="8E5033"/>
                </a:solidFill>
                <a:latin typeface="Avenir Next"/>
                <a:ea typeface="Avenir Next"/>
                <a:cs typeface="Avenir Next"/>
              </a:defRPr>
            </a:lvl6pPr>
            <a:lvl7pPr>
              <a:defRPr sz="2175" b="0">
                <a:solidFill>
                  <a:srgbClr val="8E5033"/>
                </a:solidFill>
                <a:latin typeface="Avenir Next"/>
                <a:ea typeface="Avenir Next"/>
                <a:cs typeface="Avenir Next"/>
              </a:defRPr>
            </a:lvl7pPr>
            <a:lvl8pPr>
              <a:defRPr sz="2175" b="0">
                <a:solidFill>
                  <a:srgbClr val="8E5033"/>
                </a:solidFill>
                <a:latin typeface="Avenir Next"/>
                <a:ea typeface="Avenir Next"/>
                <a:cs typeface="Avenir Next"/>
              </a:defRPr>
            </a:lvl8pPr>
            <a:lvl9pPr>
              <a:defRPr sz="2175" b="0">
                <a:solidFill>
                  <a:srgbClr val="8E5033"/>
                </a:solidFill>
                <a:latin typeface="Avenir Next"/>
                <a:ea typeface="Avenir Next"/>
                <a:cs typeface="Avenir Next"/>
              </a:defRPr>
            </a:lvl9pPr>
          </a:lstStyle>
          <a:p xmlns:a="http://schemas.openxmlformats.org/drawingml/2006/main">
            <a:pPr>
              <a:defRPr sz="2175" b="0">
                <a:solidFill>
                  <a:srgbClr val="8E5033"/>
                </a:solidFill>
                <a:latin typeface="Avenir Next"/>
                <a:ea typeface="Avenir Next"/>
                <a:cs typeface="Avenir Next"/>
              </a:defRPr>
            </a:pPr>
            <a:r>
              <a:rPr sz="2175" b="0">
                <a:solidFill>
                  <a:srgbClr val="8E5033"/>
                </a:solidFill>
                <a:latin typeface="Avenir Next"/>
                <a:ea typeface="Avenir Next"/>
                <a:cs typeface="Avenir Next"/>
              </a:rPr>
              <a:t>Borrow the filters and feedback loop</a:t>
            </a:r>
          </a:p>
        </p:txBody>
      </p:sp>
    </p:spTree>
    <p:extLst>
      <p:ext uri="{BB962C8B-B14F-4D97-AF65-F5344CB8AC3E}">
        <p14:creationId xmlns:p14="http://schemas.microsoft.com/office/powerpoint/2010/main" val="904564402"/>
      </p:ext>
    </p:extLst>
  </p:cSld>
</p:sld>
</file>

<file path=ppt/slides/slide7.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7" name="A useful comment is only the beginning">
            <a:extLst xmlns:a="http://schemas.openxmlformats.org/drawingml/2006/main">
              <a:ext uri="{FF2B5EF4-FFF2-40B4-BE49-F238E27FC236}">
                <a16:creationId xmlns:a16="http://schemas.microsoft.com/office/drawing/2014/main" id="{8FD06906-7227-4A97-81B5-82F7BE79F23A}"/>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A useful comment is only the beginning</a:t>
            </a:r>
          </a:p>
        </p:txBody>
      </p:sp>
      <p:sp>
        <p:nvSpPr>
          <p:cNvPr id="2" name="07">
            <a:extLst xmlns:a="http://schemas.openxmlformats.org/drawingml/2006/main">
              <a:ext uri="{FF2B5EF4-FFF2-40B4-BE49-F238E27FC236}">
                <a16:creationId xmlns:a16="http://schemas.microsoft.com/office/drawing/2014/main" id="{3188C0CF-9A8D-432C-B55E-AF32DBC8E088}"/>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07</a:t>
            </a:r>
          </a:p>
        </p:txBody>
      </p:sp>
      <p:pic>
        <p:nvPicPr>
          <p:cNvPr id="3" name="">
            <a:extLst xmlns:a="http://schemas.openxmlformats.org/drawingml/2006/main">
              <a:ext uri="{FF2B5EF4-FFF2-40B4-BE49-F238E27FC236}">
                <a16:creationId xmlns:a16="http://schemas.microsoft.com/office/drawing/2014/main" id="{DF381D77-52C7-4B7A-9273-DF90B450C657}"/>
              </a:ext>
            </a:extLst>
          </p:cNvPr>
          <p:cNvPicPr>
            <a:picLocks xmlns:a="http://schemas.openxmlformats.org/drawingml/2006/main" noChangeAspect="1"/>
          </p:cNvPicPr>
          <p:nvPr/>
        </p:nvPicPr>
        <p:blipFill>
          <a:blip xmlns:r="http://schemas.openxmlformats.org/officeDocument/2006/relationships" xmlns:a="http://schemas.openxmlformats.org/drawingml/2006/main" r:embed="Rc30d4434d2f74963"/>
          <a:stretch xmlns:a="http://schemas.openxmlformats.org/drawingml/2006/main"/>
        </p:blipFill>
        <p:spPr>
          <a:xfrm xmlns:a="http://schemas.openxmlformats.org/drawingml/2006/main">
            <a:off x="1394408" y="1762125"/>
            <a:ext cx="4031084" cy="4238625"/>
          </a:xfrm>
          <a:prstGeom xmlns:a="http://schemas.openxmlformats.org/drawingml/2006/main" prst="rect">
            <a:avLst/>
          </a:prstGeom>
        </p:spPr>
      </p:pic>
      <p:sp>
        <p:nvSpPr>
          <p:cNvPr id="4" name="The wrong metric type&#10;is recorded">
            <a:extLst xmlns:a="http://schemas.openxmlformats.org/drawingml/2006/main">
              <a:ext uri="{FF2B5EF4-FFF2-40B4-BE49-F238E27FC236}">
                <a16:creationId xmlns:a16="http://schemas.microsoft.com/office/drawing/2014/main" id="{9EE657FD-A95E-445B-83AC-EF18AFFD7D3D}"/>
              </a:ext>
            </a:extLst>
          </p:cNvPr>
          <p:cNvSpPr>
            <a:spLocks xmlns:a="http://schemas.openxmlformats.org/drawingml/2006/main" noGrp="1"/>
          </p:cNvSpPr>
          <p:nvPr/>
        </p:nvSpPr>
        <p:spPr>
          <a:xfrm xmlns:a="http://schemas.openxmlformats.org/drawingml/2006/main">
            <a:off x="6572250" y="20002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8E5033"/>
                </a:solidFill>
                <a:latin typeface="Georgia"/>
                <a:ea typeface="Georgia"/>
                <a:cs typeface="Georgia"/>
              </a:defRPr>
            </a:defPPr>
            <a:lvl1pPr>
              <a:defRPr sz="2700" b="0">
                <a:solidFill>
                  <a:srgbClr val="8E5033"/>
                </a:solidFill>
                <a:latin typeface="Georgia"/>
                <a:ea typeface="Georgia"/>
                <a:cs typeface="Georgia"/>
              </a:defRPr>
            </a:lvl1pPr>
            <a:lvl2pPr>
              <a:defRPr sz="2700" b="0">
                <a:solidFill>
                  <a:srgbClr val="8E5033"/>
                </a:solidFill>
                <a:latin typeface="Georgia"/>
                <a:ea typeface="Georgia"/>
                <a:cs typeface="Georgia"/>
              </a:defRPr>
            </a:lvl2pPr>
            <a:lvl3pPr>
              <a:defRPr sz="2700" b="0">
                <a:solidFill>
                  <a:srgbClr val="8E5033"/>
                </a:solidFill>
                <a:latin typeface="Georgia"/>
                <a:ea typeface="Georgia"/>
                <a:cs typeface="Georgia"/>
              </a:defRPr>
            </a:lvl3pPr>
            <a:lvl4pPr>
              <a:defRPr sz="2700" b="0">
                <a:solidFill>
                  <a:srgbClr val="8E5033"/>
                </a:solidFill>
                <a:latin typeface="Georgia"/>
                <a:ea typeface="Georgia"/>
                <a:cs typeface="Georgia"/>
              </a:defRPr>
            </a:lvl4pPr>
            <a:lvl5pPr>
              <a:defRPr sz="2700" b="0">
                <a:solidFill>
                  <a:srgbClr val="8E5033"/>
                </a:solidFill>
                <a:latin typeface="Georgia"/>
                <a:ea typeface="Georgia"/>
                <a:cs typeface="Georgia"/>
              </a:defRPr>
            </a:lvl5pPr>
            <a:lvl6pPr>
              <a:defRPr sz="2700" b="0">
                <a:solidFill>
                  <a:srgbClr val="8E5033"/>
                </a:solidFill>
                <a:latin typeface="Georgia"/>
                <a:ea typeface="Georgia"/>
                <a:cs typeface="Georgia"/>
              </a:defRPr>
            </a:lvl6pPr>
            <a:lvl7pPr>
              <a:defRPr sz="2700" b="0">
                <a:solidFill>
                  <a:srgbClr val="8E5033"/>
                </a:solidFill>
                <a:latin typeface="Georgia"/>
                <a:ea typeface="Georgia"/>
                <a:cs typeface="Georgia"/>
              </a:defRPr>
            </a:lvl7pPr>
            <a:lvl8pPr>
              <a:defRPr sz="2700" b="0">
                <a:solidFill>
                  <a:srgbClr val="8E5033"/>
                </a:solidFill>
                <a:latin typeface="Georgia"/>
                <a:ea typeface="Georgia"/>
                <a:cs typeface="Georgia"/>
              </a:defRPr>
            </a:lvl8pPr>
            <a:lvl9pPr>
              <a:defRPr sz="2700" b="0">
                <a:solidFill>
                  <a:srgbClr val="8E5033"/>
                </a:solidFill>
                <a:latin typeface="Georgia"/>
                <a:ea typeface="Georgia"/>
                <a:cs typeface="Georgia"/>
              </a:defRPr>
            </a:lvl9pPr>
          </a:lstStyle>
          <a:p xmlns:a="http://schemas.openxmlformats.org/drawingml/2006/main">
            <a:pPr>
              <a:defRPr sz="2700" b="0">
                <a:solidFill>
                  <a:srgbClr val="8E5033"/>
                </a:solidFill>
                <a:latin typeface="Georgia"/>
                <a:ea typeface="Georgia"/>
                <a:cs typeface="Georgia"/>
              </a:defRPr>
            </a:pPr>
            <a:r>
              <a:rPr sz="2700" b="0">
                <a:solidFill>
                  <a:srgbClr val="8E5033"/>
                </a:solidFill>
                <a:latin typeface="Georgia"/>
                <a:ea typeface="Georgia"/>
                <a:cs typeface="Georgia"/>
              </a:rPr>
              <a:t>The wrong metric type</a:t>
            </a:r>
          </a:p>
          <a:p xmlns:a="http://schemas.openxmlformats.org/drawingml/2006/main">
            <a:pPr>
              <a:defRPr sz="2700" b="0">
                <a:solidFill>
                  <a:srgbClr val="8E5033"/>
                </a:solidFill>
                <a:latin typeface="Georgia"/>
                <a:ea typeface="Georgia"/>
                <a:cs typeface="Georgia"/>
              </a:defRPr>
            </a:pPr>
            <a:r>
              <a:rPr sz="2700" b="0">
                <a:solidFill>
                  <a:srgbClr val="8E5033"/>
                </a:solidFill>
                <a:latin typeface="Georgia"/>
                <a:ea typeface="Georgia"/>
                <a:cs typeface="Georgia"/>
              </a:rPr>
              <a:t>is recorded</a:t>
            </a:r>
          </a:p>
        </p:txBody>
      </p:sp>
      <p:sp>
        <p:nvSpPr>
          <p:cNvPr id="5" name="Is the finding correct?&#10;&#10;Does the repair work">
            <a:extLst xmlns:a="http://schemas.openxmlformats.org/drawingml/2006/main">
              <a:ext uri="{FF2B5EF4-FFF2-40B4-BE49-F238E27FC236}">
                <a16:creationId xmlns:a16="http://schemas.microsoft.com/office/drawing/2014/main" id="{5ED2EEB5-F790-4C10-A15C-92F0BCE78412}"/>
              </a:ext>
            </a:extLst>
          </p:cNvPr>
          <p:cNvSpPr>
            <a:spLocks xmlns:a="http://schemas.openxmlformats.org/drawingml/2006/main" noGrp="1"/>
          </p:cNvSpPr>
          <p:nvPr/>
        </p:nvSpPr>
        <p:spPr>
          <a:xfrm xmlns:a="http://schemas.openxmlformats.org/drawingml/2006/main">
            <a:off x="6572250" y="3476625"/>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B2E23"/>
                </a:solidFill>
                <a:latin typeface="Avenir Next"/>
                <a:ea typeface="Avenir Next"/>
                <a:cs typeface="Avenir Next"/>
              </a:defRPr>
            </a:defPPr>
            <a:lvl1pPr>
              <a:defRPr sz="2100" b="0">
                <a:solidFill>
                  <a:srgbClr val="4B2E23"/>
                </a:solidFill>
                <a:latin typeface="Avenir Next"/>
                <a:ea typeface="Avenir Next"/>
                <a:cs typeface="Avenir Next"/>
              </a:defRPr>
            </a:lvl1pPr>
            <a:lvl2pPr>
              <a:defRPr sz="2100" b="0">
                <a:solidFill>
                  <a:srgbClr val="4B2E23"/>
                </a:solidFill>
                <a:latin typeface="Avenir Next"/>
                <a:ea typeface="Avenir Next"/>
                <a:cs typeface="Avenir Next"/>
              </a:defRPr>
            </a:lvl2pPr>
            <a:lvl3pPr>
              <a:defRPr sz="2100" b="0">
                <a:solidFill>
                  <a:srgbClr val="4B2E23"/>
                </a:solidFill>
                <a:latin typeface="Avenir Next"/>
                <a:ea typeface="Avenir Next"/>
                <a:cs typeface="Avenir Next"/>
              </a:defRPr>
            </a:lvl3pPr>
            <a:lvl4pPr>
              <a:defRPr sz="2100" b="0">
                <a:solidFill>
                  <a:srgbClr val="4B2E23"/>
                </a:solidFill>
                <a:latin typeface="Avenir Next"/>
                <a:ea typeface="Avenir Next"/>
                <a:cs typeface="Avenir Next"/>
              </a:defRPr>
            </a:lvl4pPr>
            <a:lvl5pPr>
              <a:defRPr sz="2100" b="0">
                <a:solidFill>
                  <a:srgbClr val="4B2E23"/>
                </a:solidFill>
                <a:latin typeface="Avenir Next"/>
                <a:ea typeface="Avenir Next"/>
                <a:cs typeface="Avenir Next"/>
              </a:defRPr>
            </a:lvl5pPr>
            <a:lvl6pPr>
              <a:defRPr sz="2100" b="0">
                <a:solidFill>
                  <a:srgbClr val="4B2E23"/>
                </a:solidFill>
                <a:latin typeface="Avenir Next"/>
                <a:ea typeface="Avenir Next"/>
                <a:cs typeface="Avenir Next"/>
              </a:defRPr>
            </a:lvl6pPr>
            <a:lvl7pPr>
              <a:defRPr sz="2100" b="0">
                <a:solidFill>
                  <a:srgbClr val="4B2E23"/>
                </a:solidFill>
                <a:latin typeface="Avenir Next"/>
                <a:ea typeface="Avenir Next"/>
                <a:cs typeface="Avenir Next"/>
              </a:defRPr>
            </a:lvl7pPr>
            <a:lvl8pPr>
              <a:defRPr sz="2100" b="0">
                <a:solidFill>
                  <a:srgbClr val="4B2E23"/>
                </a:solidFill>
                <a:latin typeface="Avenir Next"/>
                <a:ea typeface="Avenir Next"/>
                <a:cs typeface="Avenir Next"/>
              </a:defRPr>
            </a:lvl8pPr>
            <a:lvl9pPr>
              <a:defRPr sz="2100" b="0">
                <a:solidFill>
                  <a:srgbClr val="4B2E23"/>
                </a:solidFill>
                <a:latin typeface="Avenir Next"/>
                <a:ea typeface="Avenir Next"/>
                <a:cs typeface="Avenir Next"/>
              </a:defRPr>
            </a:lvl9pPr>
          </a:lstStyle>
          <a:p xmlns:a="http://schemas.openxmlformats.org/drawingml/2006/main">
            <a:pPr>
              <a:defRPr sz="2100" b="0">
                <a:solidFill>
                  <a:srgbClr val="4B2E23"/>
                </a:solidFill>
                <a:latin typeface="Avenir Next"/>
                <a:ea typeface="Avenir Next"/>
                <a:cs typeface="Avenir Next"/>
              </a:defRPr>
            </a:pPr>
            <a:r>
              <a:rPr sz="2100" b="0">
                <a:solidFill>
                  <a:srgbClr val="4B2E23"/>
                </a:solidFill>
                <a:latin typeface="Avenir Next"/>
                <a:ea typeface="Avenir Next"/>
                <a:cs typeface="Avenir Next"/>
              </a:rPr>
              <a:t>Is the finding correct?</a:t>
            </a:r>
          </a:p>
          <a:p xmlns:a="http://schemas.openxmlformats.org/drawingml/2006/main">
            <a:r>
              <a:t/>
            </a:r>
          </a:p>
          <a:p xmlns:a="http://schemas.openxmlformats.org/drawingml/2006/main">
            <a:pPr>
              <a:defRPr sz="2100" b="0">
                <a:solidFill>
                  <a:srgbClr val="4B2E23"/>
                </a:solidFill>
                <a:latin typeface="Avenir Next"/>
                <a:ea typeface="Avenir Next"/>
                <a:cs typeface="Avenir Next"/>
              </a:defRPr>
            </a:pPr>
            <a:r>
              <a:rPr sz="2100" b="0">
                <a:solidFill>
                  <a:srgbClr val="4B2E23"/>
                </a:solidFill>
                <a:latin typeface="Avenir Next"/>
                <a:ea typeface="Avenir Next"/>
                <a:cs typeface="Avenir Next"/>
              </a:rPr>
              <a:t>Does the repair work?</a:t>
            </a:r>
          </a:p>
          <a:p xmlns:a="http://schemas.openxmlformats.org/drawingml/2006/main">
            <a:r>
              <a:t/>
            </a:r>
          </a:p>
          <a:p xmlns:a="http://schemas.openxmlformats.org/drawingml/2006/main">
            <a:pPr>
              <a:defRPr sz="2100" b="0">
                <a:solidFill>
                  <a:srgbClr val="4B2E23"/>
                </a:solidFill>
                <a:latin typeface="Avenir Next"/>
                <a:ea typeface="Avenir Next"/>
                <a:cs typeface="Avenir Next"/>
              </a:defRPr>
            </a:pPr>
            <a:r>
              <a:rPr sz="2100" b="0">
                <a:solidFill>
                  <a:srgbClr val="4B2E23"/>
                </a:solidFill>
                <a:latin typeface="Avenir Next"/>
                <a:ea typeface="Avenir Next"/>
                <a:cs typeface="Avenir Next"/>
              </a:rPr>
              <a:t>What was not tested?</a:t>
            </a:r>
          </a:p>
        </p:txBody>
      </p:sp>
      <p:sp>
        <p:nvSpPr>
          <p:cNvPr id="6" name="Example from Uber Engineering">
            <a:extLst xmlns:a="http://schemas.openxmlformats.org/drawingml/2006/main">
              <a:ext uri="{FF2B5EF4-FFF2-40B4-BE49-F238E27FC236}">
                <a16:creationId xmlns:a16="http://schemas.microsoft.com/office/drawing/2014/main" id="{62CB9156-D684-42EC-9166-67CC8D590BB4}"/>
              </a:ext>
            </a:extLst>
          </p:cNvPr>
          <p:cNvSpPr>
            <a:spLocks xmlns:a="http://schemas.openxmlformats.org/drawingml/2006/main" noGrp="1"/>
          </p:cNvSpPr>
          <p:nvPr/>
        </p:nvSpPr>
        <p:spPr>
          <a:xfrm xmlns:a="http://schemas.openxmlformats.org/drawingml/2006/main">
            <a:off x="762000" y="61245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B2E23"/>
                </a:solidFill>
                <a:latin typeface="Avenir Next"/>
                <a:ea typeface="Avenir Next"/>
                <a:cs typeface="Avenir Next"/>
              </a:defRPr>
            </a:defPPr>
            <a:lvl1pPr>
              <a:defRPr sz="1275" b="0">
                <a:solidFill>
                  <a:srgbClr val="4B2E23"/>
                </a:solidFill>
                <a:latin typeface="Avenir Next"/>
                <a:ea typeface="Avenir Next"/>
                <a:cs typeface="Avenir Next"/>
              </a:defRPr>
            </a:lvl1pPr>
            <a:lvl2pPr>
              <a:defRPr sz="1275" b="0">
                <a:solidFill>
                  <a:srgbClr val="4B2E23"/>
                </a:solidFill>
                <a:latin typeface="Avenir Next"/>
                <a:ea typeface="Avenir Next"/>
                <a:cs typeface="Avenir Next"/>
              </a:defRPr>
            </a:lvl2pPr>
            <a:lvl3pPr>
              <a:defRPr sz="1275" b="0">
                <a:solidFill>
                  <a:srgbClr val="4B2E23"/>
                </a:solidFill>
                <a:latin typeface="Avenir Next"/>
                <a:ea typeface="Avenir Next"/>
                <a:cs typeface="Avenir Next"/>
              </a:defRPr>
            </a:lvl3pPr>
            <a:lvl4pPr>
              <a:defRPr sz="1275" b="0">
                <a:solidFill>
                  <a:srgbClr val="4B2E23"/>
                </a:solidFill>
                <a:latin typeface="Avenir Next"/>
                <a:ea typeface="Avenir Next"/>
                <a:cs typeface="Avenir Next"/>
              </a:defRPr>
            </a:lvl4pPr>
            <a:lvl5pPr>
              <a:defRPr sz="1275" b="0">
                <a:solidFill>
                  <a:srgbClr val="4B2E23"/>
                </a:solidFill>
                <a:latin typeface="Avenir Next"/>
                <a:ea typeface="Avenir Next"/>
                <a:cs typeface="Avenir Next"/>
              </a:defRPr>
            </a:lvl5pPr>
            <a:lvl6pPr>
              <a:defRPr sz="1275" b="0">
                <a:solidFill>
                  <a:srgbClr val="4B2E23"/>
                </a:solidFill>
                <a:latin typeface="Avenir Next"/>
                <a:ea typeface="Avenir Next"/>
                <a:cs typeface="Avenir Next"/>
              </a:defRPr>
            </a:lvl6pPr>
            <a:lvl7pPr>
              <a:defRPr sz="1275" b="0">
                <a:solidFill>
                  <a:srgbClr val="4B2E23"/>
                </a:solidFill>
                <a:latin typeface="Avenir Next"/>
                <a:ea typeface="Avenir Next"/>
                <a:cs typeface="Avenir Next"/>
              </a:defRPr>
            </a:lvl7pPr>
            <a:lvl8pPr>
              <a:defRPr sz="1275" b="0">
                <a:solidFill>
                  <a:srgbClr val="4B2E23"/>
                </a:solidFill>
                <a:latin typeface="Avenir Next"/>
                <a:ea typeface="Avenir Next"/>
                <a:cs typeface="Avenir Next"/>
              </a:defRPr>
            </a:lvl8pPr>
            <a:lvl9pPr>
              <a:defRPr sz="1275" b="0">
                <a:solidFill>
                  <a:srgbClr val="4B2E23"/>
                </a:solidFill>
                <a:latin typeface="Avenir Next"/>
                <a:ea typeface="Avenir Next"/>
                <a:cs typeface="Avenir Next"/>
              </a:defRPr>
            </a:lvl9pPr>
          </a:lstStyle>
          <a:p xmlns:a="http://schemas.openxmlformats.org/drawingml/2006/main">
            <a:pPr>
              <a:defRPr sz="1275" b="0">
                <a:solidFill>
                  <a:srgbClr val="4B2E23"/>
                </a:solidFill>
                <a:latin typeface="Avenir Next"/>
                <a:ea typeface="Avenir Next"/>
                <a:cs typeface="Avenir Next"/>
              </a:defRPr>
            </a:pPr>
            <a:r>
              <a:rPr sz="1275" b="0">
                <a:solidFill>
                  <a:srgbClr val="4B2E23"/>
                </a:solidFill>
                <a:latin typeface="Avenir Next"/>
                <a:ea typeface="Avenir Next"/>
                <a:cs typeface="Avenir Next"/>
              </a:rPr>
              <a:t>Example from Uber Engineering</a:t>
            </a:r>
          </a:p>
        </p:txBody>
      </p:sp>
    </p:spTree>
    <p:extLst>
      <p:ext uri="{BB962C8B-B14F-4D97-AF65-F5344CB8AC3E}">
        <p14:creationId xmlns:p14="http://schemas.microsoft.com/office/powerpoint/2010/main" val="273488944"/>
      </p:ext>
    </p:extLst>
  </p:cSld>
</p:sld>
</file>

<file path=ppt/slides/slide8.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1FA76363-0A9D-4C6D-BA23-9ACB4E9AEE40}"/>
              </a:ext>
            </a:extLst>
          </p:cNvPr>
          <p:cNvCxnSpPr>
            <a:stCxn xmlns:a="http://schemas.openxmlformats.org/drawingml/2006/main" id="18" idx="1"/>
            <a:endCxn xmlns:a="http://schemas.openxmlformats.org/drawingml/2006/main" id="20" idx="3"/>
          </p:cNvCxnSpPr>
          <p:nvPr/>
        </p:nvCxnSpPr>
        <p:spPr>
          <a:xfrm xmlns:a="http://schemas.openxmlformats.org/drawingml/2006/main" flipH="1">
            <a:off x="3067050" y="4533900"/>
            <a:ext cx="4667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55D9BCB0-4D45-4A3C-AA58-5FD73DCD2C9A}"/>
              </a:ext>
            </a:extLst>
          </p:cNvPr>
          <p:cNvCxnSpPr>
            <a:stCxn xmlns:a="http://schemas.openxmlformats.org/drawingml/2006/main" id="16" idx="1"/>
            <a:endCxn xmlns:a="http://schemas.openxmlformats.org/drawingml/2006/main" id="18" idx="3"/>
          </p:cNvCxnSpPr>
          <p:nvPr/>
        </p:nvCxnSpPr>
        <p:spPr>
          <a:xfrm xmlns:a="http://schemas.openxmlformats.org/drawingml/2006/main" flipH="1">
            <a:off x="5838825" y="4533900"/>
            <a:ext cx="4667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7A850F92-898E-4F32-AEBC-2E8C3B8703B2}"/>
              </a:ext>
            </a:extLst>
          </p:cNvPr>
          <p:cNvCxnSpPr>
            <a:stCxn xmlns:a="http://schemas.openxmlformats.org/drawingml/2006/main" id="14" idx="1"/>
            <a:endCxn xmlns:a="http://schemas.openxmlformats.org/drawingml/2006/main" id="16" idx="3"/>
          </p:cNvCxnSpPr>
          <p:nvPr/>
        </p:nvCxnSpPr>
        <p:spPr>
          <a:xfrm xmlns:a="http://schemas.openxmlformats.org/drawingml/2006/main" flipH="1">
            <a:off x="8610600" y="4533900"/>
            <a:ext cx="4667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3D78C502-8AE5-4628-BFFE-A06957622FAC}"/>
              </a:ext>
            </a:extLst>
          </p:cNvPr>
          <p:cNvCxnSpPr>
            <a:stCxn xmlns:a="http://schemas.openxmlformats.org/drawingml/2006/main" id="9" idx="2"/>
            <a:endCxn xmlns:a="http://schemas.openxmlformats.org/drawingml/2006/main" id="14" idx="0"/>
          </p:cNvCxnSpPr>
          <p:nvPr/>
        </p:nvCxnSpPr>
        <p:spPr>
          <a:xfrm xmlns:a="http://schemas.openxmlformats.org/drawingml/2006/main">
            <a:off x="10229850" y="3114675"/>
            <a:ext cx="0" cy="885825"/>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30D84993-D101-4E68-BF18-F2FDC76AD29D}"/>
              </a:ext>
            </a:extLst>
          </p:cNvPr>
          <p:cNvCxnSpPr>
            <a:stCxn xmlns:a="http://schemas.openxmlformats.org/drawingml/2006/main" id="7" idx="3"/>
            <a:endCxn xmlns:a="http://schemas.openxmlformats.org/drawingml/2006/main" id="9" idx="1"/>
          </p:cNvCxnSpPr>
          <p:nvPr/>
        </p:nvCxnSpPr>
        <p:spPr>
          <a:xfrm xmlns:a="http://schemas.openxmlformats.org/drawingml/2006/main">
            <a:off x="8610600" y="2581275"/>
            <a:ext cx="4667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8DBE146F-FB2C-4A96-B487-8D646549C8BB}"/>
              </a:ext>
            </a:extLst>
          </p:cNvPr>
          <p:cNvCxnSpPr>
            <a:stCxn xmlns:a="http://schemas.openxmlformats.org/drawingml/2006/main" id="5" idx="3"/>
            <a:endCxn xmlns:a="http://schemas.openxmlformats.org/drawingml/2006/main" id="7" idx="1"/>
          </p:cNvCxnSpPr>
          <p:nvPr/>
        </p:nvCxnSpPr>
        <p:spPr>
          <a:xfrm xmlns:a="http://schemas.openxmlformats.org/drawingml/2006/main">
            <a:off x="5838825" y="2581275"/>
            <a:ext cx="4667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C199923A-BAEE-4395-8ED7-13C96B6EC304}"/>
              </a:ext>
            </a:extLst>
          </p:cNvPr>
          <p:cNvCxnSpPr>
            <a:stCxn xmlns:a="http://schemas.openxmlformats.org/drawingml/2006/main" id="3" idx="3"/>
            <a:endCxn xmlns:a="http://schemas.openxmlformats.org/drawingml/2006/main" id="5" idx="1"/>
          </p:cNvCxnSpPr>
          <p:nvPr/>
        </p:nvCxnSpPr>
        <p:spPr>
          <a:xfrm xmlns:a="http://schemas.openxmlformats.org/drawingml/2006/main">
            <a:off x="3067050" y="2581275"/>
            <a:ext cx="4667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sp>
        <p:nvSpPr>
          <p:cNvPr id="27" name="The complete review and fix path">
            <a:extLst xmlns:a="http://schemas.openxmlformats.org/drawingml/2006/main">
              <a:ext uri="{FF2B5EF4-FFF2-40B4-BE49-F238E27FC236}">
                <a16:creationId xmlns:a16="http://schemas.microsoft.com/office/drawing/2014/main" id="{6E6E10A9-C629-4099-A4C5-3C23F3C8B400}"/>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The complete review and fix path</a:t>
            </a:r>
          </a:p>
        </p:txBody>
      </p:sp>
      <p:sp>
        <p:nvSpPr>
          <p:cNvPr id="2" name="08">
            <a:extLst xmlns:a="http://schemas.openxmlformats.org/drawingml/2006/main">
              <a:ext uri="{FF2B5EF4-FFF2-40B4-BE49-F238E27FC236}">
                <a16:creationId xmlns:a16="http://schemas.microsoft.com/office/drawing/2014/main" id="{013D279B-3568-459A-9B6E-7BFD33E074A2}"/>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08</a:t>
            </a:r>
          </a:p>
        </p:txBody>
      </p:sp>
      <p:sp>
        <p:nvSpPr>
          <p:cNvPr id="3" name="Exact PR&#10;and intent">
            <a:extLst xmlns:a="http://schemas.openxmlformats.org/drawingml/2006/main">
              <a:ext uri="{FF2B5EF4-FFF2-40B4-BE49-F238E27FC236}">
                <a16:creationId xmlns:a16="http://schemas.microsoft.com/office/drawing/2014/main" id="{F988923D-9C2E-4C72-8ECC-5E737F0B6995}"/>
              </a:ext>
            </a:extLst>
          </p:cNvPr>
          <p:cNvSpPr>
            <a:spLocks xmlns:a="http://schemas.openxmlformats.org/drawingml/2006/main" noGrp="1"/>
          </p:cNvSpPr>
          <p:nvPr/>
        </p:nvSpPr>
        <p:spPr>
          <a:xfrm xmlns:a="http://schemas.openxmlformats.org/drawingml/2006/main">
            <a:off x="762000" y="2047875"/>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4" name="Exact PR&#10;and intent">
            <a:extLst xmlns:a="http://schemas.openxmlformats.org/drawingml/2006/main">
              <a:ext uri="{FF2B5EF4-FFF2-40B4-BE49-F238E27FC236}">
                <a16:creationId xmlns:a16="http://schemas.microsoft.com/office/drawing/2014/main" id="{FCFD4F52-EA66-4E4B-8481-011049966BDC}"/>
              </a:ext>
            </a:extLst>
          </p:cNvPr>
          <p:cNvSpPr>
            <a:spLocks xmlns:a="http://schemas.openxmlformats.org/drawingml/2006/main" noGrp="1"/>
          </p:cNvSpPr>
          <p:nvPr/>
        </p:nvSpPr>
        <p:spPr>
          <a:xfrm xmlns:a="http://schemas.openxmlformats.org/drawingml/2006/main">
            <a:off x="933450" y="2219325"/>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Exact PR</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and intent</a:t>
            </a:r>
          </a:p>
        </p:txBody>
      </p:sp>
      <p:sp>
        <p:nvSpPr>
          <p:cNvPr id="5" name="Context&#10;and risk plan">
            <a:extLst xmlns:a="http://schemas.openxmlformats.org/drawingml/2006/main">
              <a:ext uri="{FF2B5EF4-FFF2-40B4-BE49-F238E27FC236}">
                <a16:creationId xmlns:a16="http://schemas.microsoft.com/office/drawing/2014/main" id="{F07628E7-FE82-4364-895B-559E6EDE89D0}"/>
              </a:ext>
            </a:extLst>
          </p:cNvPr>
          <p:cNvSpPr>
            <a:spLocks xmlns:a="http://schemas.openxmlformats.org/drawingml/2006/main" noGrp="1"/>
          </p:cNvSpPr>
          <p:nvPr/>
        </p:nvSpPr>
        <p:spPr>
          <a:xfrm xmlns:a="http://schemas.openxmlformats.org/drawingml/2006/main">
            <a:off x="3533775" y="2047875"/>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6" name="Context&#10;and risk plan">
            <a:extLst xmlns:a="http://schemas.openxmlformats.org/drawingml/2006/main">
              <a:ext uri="{FF2B5EF4-FFF2-40B4-BE49-F238E27FC236}">
                <a16:creationId xmlns:a16="http://schemas.microsoft.com/office/drawing/2014/main" id="{3CCEF7DB-EE82-450F-A28C-88CBA11B6026}"/>
              </a:ext>
            </a:extLst>
          </p:cNvPr>
          <p:cNvSpPr>
            <a:spLocks xmlns:a="http://schemas.openxmlformats.org/drawingml/2006/main" noGrp="1"/>
          </p:cNvSpPr>
          <p:nvPr/>
        </p:nvSpPr>
        <p:spPr>
          <a:xfrm xmlns:a="http://schemas.openxmlformats.org/drawingml/2006/main">
            <a:off x="3705225" y="2219325"/>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Context</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and risk plan</a:t>
            </a:r>
          </a:p>
        </p:txBody>
      </p:sp>
      <p:sp>
        <p:nvSpPr>
          <p:cNvPr id="7" name="Find and&#10;challenge">
            <a:extLst xmlns:a="http://schemas.openxmlformats.org/drawingml/2006/main">
              <a:ext uri="{FF2B5EF4-FFF2-40B4-BE49-F238E27FC236}">
                <a16:creationId xmlns:a16="http://schemas.microsoft.com/office/drawing/2014/main" id="{F090E660-73E0-48C4-BC7F-E7DDE147CCBC}"/>
              </a:ext>
            </a:extLst>
          </p:cNvPr>
          <p:cNvSpPr>
            <a:spLocks xmlns:a="http://schemas.openxmlformats.org/drawingml/2006/main" noGrp="1"/>
          </p:cNvSpPr>
          <p:nvPr/>
        </p:nvSpPr>
        <p:spPr>
          <a:xfrm xmlns:a="http://schemas.openxmlformats.org/drawingml/2006/main">
            <a:off x="6305550" y="2047875"/>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8" name="Find and&#10;challenge">
            <a:extLst xmlns:a="http://schemas.openxmlformats.org/drawingml/2006/main">
              <a:ext uri="{FF2B5EF4-FFF2-40B4-BE49-F238E27FC236}">
                <a16:creationId xmlns:a16="http://schemas.microsoft.com/office/drawing/2014/main" id="{18C8CE32-B259-4956-AF66-2767B668A898}"/>
              </a:ext>
            </a:extLst>
          </p:cNvPr>
          <p:cNvSpPr>
            <a:spLocks xmlns:a="http://schemas.openxmlformats.org/drawingml/2006/main" noGrp="1"/>
          </p:cNvSpPr>
          <p:nvPr/>
        </p:nvSpPr>
        <p:spPr>
          <a:xfrm xmlns:a="http://schemas.openxmlformats.org/drawingml/2006/main">
            <a:off x="6477000" y="2219325"/>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Find and</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challenge</a:t>
            </a:r>
          </a:p>
        </p:txBody>
      </p:sp>
      <p:sp>
        <p:nvSpPr>
          <p:cNvPr id="9" name="Runtime&#10;investigation">
            <a:extLst xmlns:a="http://schemas.openxmlformats.org/drawingml/2006/main">
              <a:ext uri="{FF2B5EF4-FFF2-40B4-BE49-F238E27FC236}">
                <a16:creationId xmlns:a16="http://schemas.microsoft.com/office/drawing/2014/main" id="{A3808AC8-F7C3-45B0-9C4E-9CFA8856E4B5}"/>
              </a:ext>
            </a:extLst>
          </p:cNvPr>
          <p:cNvSpPr>
            <a:spLocks xmlns:a="http://schemas.openxmlformats.org/drawingml/2006/main" noGrp="1"/>
          </p:cNvSpPr>
          <p:nvPr/>
        </p:nvSpPr>
        <p:spPr>
          <a:xfrm xmlns:a="http://schemas.openxmlformats.org/drawingml/2006/main">
            <a:off x="9077325" y="2047875"/>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10" name="Runtime&#10;investigation">
            <a:extLst xmlns:a="http://schemas.openxmlformats.org/drawingml/2006/main">
              <a:ext uri="{FF2B5EF4-FFF2-40B4-BE49-F238E27FC236}">
                <a16:creationId xmlns:a16="http://schemas.microsoft.com/office/drawing/2014/main" id="{DB35D05B-DF44-4D64-BAC4-5916A5421D4C}"/>
              </a:ext>
            </a:extLst>
          </p:cNvPr>
          <p:cNvSpPr>
            <a:spLocks xmlns:a="http://schemas.openxmlformats.org/drawingml/2006/main" noGrp="1"/>
          </p:cNvSpPr>
          <p:nvPr/>
        </p:nvSpPr>
        <p:spPr>
          <a:xfrm xmlns:a="http://schemas.openxmlformats.org/drawingml/2006/main">
            <a:off x="9248775" y="2219325"/>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Runtime</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investigation</a:t>
            </a:r>
          </a:p>
        </p:txBody>
      </p:sp>
      <p:sp>
        <p:nvSpPr>
          <p:cNvPr id="14" name="Repair and&#10;verify">
            <a:extLst xmlns:a="http://schemas.openxmlformats.org/drawingml/2006/main">
              <a:ext uri="{FF2B5EF4-FFF2-40B4-BE49-F238E27FC236}">
                <a16:creationId xmlns:a16="http://schemas.microsoft.com/office/drawing/2014/main" id="{CC0F70FF-C6FA-4513-AAB9-F0A739B95E9C}"/>
              </a:ext>
            </a:extLst>
          </p:cNvPr>
          <p:cNvSpPr>
            <a:spLocks xmlns:a="http://schemas.openxmlformats.org/drawingml/2006/main" noGrp="1"/>
          </p:cNvSpPr>
          <p:nvPr/>
        </p:nvSpPr>
        <p:spPr>
          <a:xfrm xmlns:a="http://schemas.openxmlformats.org/drawingml/2006/main">
            <a:off x="9077325" y="4000500"/>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15" name="Repair and&#10;verify">
            <a:extLst xmlns:a="http://schemas.openxmlformats.org/drawingml/2006/main">
              <a:ext uri="{FF2B5EF4-FFF2-40B4-BE49-F238E27FC236}">
                <a16:creationId xmlns:a16="http://schemas.microsoft.com/office/drawing/2014/main" id="{54AB3B1A-0164-4702-BF92-15CD38F47614}"/>
              </a:ext>
            </a:extLst>
          </p:cNvPr>
          <p:cNvSpPr>
            <a:spLocks xmlns:a="http://schemas.openxmlformats.org/drawingml/2006/main" noGrp="1"/>
          </p:cNvSpPr>
          <p:nvPr/>
        </p:nvSpPr>
        <p:spPr>
          <a:xfrm xmlns:a="http://schemas.openxmlformats.org/drawingml/2006/main">
            <a:off x="9248775" y="4171950"/>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Repair and</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verify</a:t>
            </a:r>
          </a:p>
        </p:txBody>
      </p:sp>
      <p:sp>
        <p:nvSpPr>
          <p:cNvPr id="16" name="Approve&#10;exact patch">
            <a:extLst xmlns:a="http://schemas.openxmlformats.org/drawingml/2006/main">
              <a:ext uri="{FF2B5EF4-FFF2-40B4-BE49-F238E27FC236}">
                <a16:creationId xmlns:a16="http://schemas.microsoft.com/office/drawing/2014/main" id="{B6A6EC9C-2D53-427F-AE9E-E1FA21B0531E}"/>
              </a:ext>
            </a:extLst>
          </p:cNvPr>
          <p:cNvSpPr>
            <a:spLocks xmlns:a="http://schemas.openxmlformats.org/drawingml/2006/main" noGrp="1"/>
          </p:cNvSpPr>
          <p:nvPr/>
        </p:nvSpPr>
        <p:spPr>
          <a:xfrm xmlns:a="http://schemas.openxmlformats.org/drawingml/2006/main">
            <a:off x="6305550" y="4000500"/>
            <a:ext cx="2305050" cy="1066800"/>
          </a:xfrm>
          <a:prstGeom xmlns:a="http://schemas.openxmlformats.org/drawingml/2006/main" prst="roundRect">
            <a:avLst>
              <a:gd name="adj" fmla="val 7143"/>
            </a:avLst>
          </a:prstGeom>
          <a:solidFill xmlns:a="http://schemas.openxmlformats.org/drawingml/2006/main">
            <a:srgbClr val="CA8E2F"/>
          </a:solidFill>
          <a:ln xmlns:a="http://schemas.openxmlformats.org/drawingml/2006/main" w="13335">
            <a:solidFill>
              <a:srgbClr val="978468"/>
            </a:solidFill>
          </a:ln>
        </p:spPr>
      </p:sp>
      <p:sp>
        <p:nvSpPr>
          <p:cNvPr id="17" name="Approve&#10;exact patch">
            <a:extLst xmlns:a="http://schemas.openxmlformats.org/drawingml/2006/main">
              <a:ext uri="{FF2B5EF4-FFF2-40B4-BE49-F238E27FC236}">
                <a16:creationId xmlns:a16="http://schemas.microsoft.com/office/drawing/2014/main" id="{D9F8F0A1-ED8D-4004-ABAB-54D89D750A50}"/>
              </a:ext>
            </a:extLst>
          </p:cNvPr>
          <p:cNvSpPr>
            <a:spLocks xmlns:a="http://schemas.openxmlformats.org/drawingml/2006/main" noGrp="1"/>
          </p:cNvSpPr>
          <p:nvPr/>
        </p:nvSpPr>
        <p:spPr>
          <a:xfrm xmlns:a="http://schemas.openxmlformats.org/drawingml/2006/main">
            <a:off x="6477000" y="4171950"/>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Approve</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exact patch</a:t>
            </a:r>
          </a:p>
        </p:txBody>
      </p:sp>
      <p:sp>
        <p:nvSpPr>
          <p:cNvPr id="18" name="Restricted&#10;publisher">
            <a:extLst xmlns:a="http://schemas.openxmlformats.org/drawingml/2006/main">
              <a:ext uri="{FF2B5EF4-FFF2-40B4-BE49-F238E27FC236}">
                <a16:creationId xmlns:a16="http://schemas.microsoft.com/office/drawing/2014/main" id="{E885C716-C05E-49C0-9470-B0219228951D}"/>
              </a:ext>
            </a:extLst>
          </p:cNvPr>
          <p:cNvSpPr>
            <a:spLocks xmlns:a="http://schemas.openxmlformats.org/drawingml/2006/main" noGrp="1"/>
          </p:cNvSpPr>
          <p:nvPr/>
        </p:nvSpPr>
        <p:spPr>
          <a:xfrm xmlns:a="http://schemas.openxmlformats.org/drawingml/2006/main">
            <a:off x="3533775" y="4000500"/>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19" name="Restricted&#10;publisher">
            <a:extLst xmlns:a="http://schemas.openxmlformats.org/drawingml/2006/main">
              <a:ext uri="{FF2B5EF4-FFF2-40B4-BE49-F238E27FC236}">
                <a16:creationId xmlns:a16="http://schemas.microsoft.com/office/drawing/2014/main" id="{997B1855-6DF7-4E77-9678-3CF935972B06}"/>
              </a:ext>
            </a:extLst>
          </p:cNvPr>
          <p:cNvSpPr>
            <a:spLocks xmlns:a="http://schemas.openxmlformats.org/drawingml/2006/main" noGrp="1"/>
          </p:cNvSpPr>
          <p:nvPr/>
        </p:nvSpPr>
        <p:spPr>
          <a:xfrm xmlns:a="http://schemas.openxmlformats.org/drawingml/2006/main">
            <a:off x="3705225" y="4171950"/>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Restricted</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publisher</a:t>
            </a:r>
          </a:p>
        </p:txBody>
      </p:sp>
      <p:sp>
        <p:nvSpPr>
          <p:cNvPr id="20" name="Outcome&#10;and feedback">
            <a:extLst xmlns:a="http://schemas.openxmlformats.org/drawingml/2006/main">
              <a:ext uri="{FF2B5EF4-FFF2-40B4-BE49-F238E27FC236}">
                <a16:creationId xmlns:a16="http://schemas.microsoft.com/office/drawing/2014/main" id="{A60B6831-7AF2-494A-B6DE-5432BB432A78}"/>
              </a:ext>
            </a:extLst>
          </p:cNvPr>
          <p:cNvSpPr>
            <a:spLocks xmlns:a="http://schemas.openxmlformats.org/drawingml/2006/main" noGrp="1"/>
          </p:cNvSpPr>
          <p:nvPr/>
        </p:nvSpPr>
        <p:spPr>
          <a:xfrm xmlns:a="http://schemas.openxmlformats.org/drawingml/2006/main">
            <a:off x="762000" y="4000500"/>
            <a:ext cx="2305050" cy="1066800"/>
          </a:xfrm>
          <a:prstGeom xmlns:a="http://schemas.openxmlformats.org/drawingml/2006/main" prst="roundRect">
            <a:avLst>
              <a:gd name="adj" fmla="val 7143"/>
            </a:avLst>
          </a:prstGeom>
          <a:solidFill xmlns:a="http://schemas.openxmlformats.org/drawingml/2006/main">
            <a:srgbClr val="F4EFE6"/>
          </a:solidFill>
          <a:ln xmlns:a="http://schemas.openxmlformats.org/drawingml/2006/main" w="13335">
            <a:solidFill>
              <a:srgbClr val="978468"/>
            </a:solidFill>
          </a:ln>
        </p:spPr>
      </p:sp>
      <p:sp>
        <p:nvSpPr>
          <p:cNvPr id="21" name="Outcome&#10;and feedback">
            <a:extLst xmlns:a="http://schemas.openxmlformats.org/drawingml/2006/main">
              <a:ext uri="{FF2B5EF4-FFF2-40B4-BE49-F238E27FC236}">
                <a16:creationId xmlns:a16="http://schemas.microsoft.com/office/drawing/2014/main" id="{A53FD501-A30C-4455-BC79-9F5F0A1DD8D5}"/>
              </a:ext>
            </a:extLst>
          </p:cNvPr>
          <p:cNvSpPr>
            <a:spLocks xmlns:a="http://schemas.openxmlformats.org/drawingml/2006/main" noGrp="1"/>
          </p:cNvSpPr>
          <p:nvPr/>
        </p:nvSpPr>
        <p:spPr>
          <a:xfrm xmlns:a="http://schemas.openxmlformats.org/drawingml/2006/main">
            <a:off x="933450" y="4171950"/>
            <a:ext cx="1962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Outcome</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and feedback</a:t>
            </a:r>
          </a:p>
        </p:txBody>
      </p:sp>
      <p:sp>
        <p:nvSpPr>
          <p:cNvPr id="26" name="The agent cannot grant itself permission to p">
            <a:extLst xmlns:a="http://schemas.openxmlformats.org/drawingml/2006/main">
              <a:ext uri="{FF2B5EF4-FFF2-40B4-BE49-F238E27FC236}">
                <a16:creationId xmlns:a16="http://schemas.microsoft.com/office/drawing/2014/main" id="{9A3114B5-3F81-4CF4-9B7B-6F3C56D283D3}"/>
              </a:ext>
            </a:extLst>
          </p:cNvPr>
          <p:cNvSpPr>
            <a:spLocks xmlns:a="http://schemas.openxmlformats.org/drawingml/2006/main" noGrp="1"/>
          </p:cNvSpPr>
          <p:nvPr/>
        </p:nvSpPr>
        <p:spPr>
          <a:xfrm xmlns:a="http://schemas.openxmlformats.org/drawingml/2006/main">
            <a:off x="762000" y="561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8E5033"/>
                </a:solidFill>
                <a:latin typeface="Avenir Next"/>
                <a:ea typeface="Avenir Next"/>
                <a:cs typeface="Avenir Next"/>
              </a:defRPr>
            </a:defPPr>
            <a:lvl1pPr>
              <a:defRPr sz="2250" b="0">
                <a:solidFill>
                  <a:srgbClr val="8E5033"/>
                </a:solidFill>
                <a:latin typeface="Avenir Next"/>
                <a:ea typeface="Avenir Next"/>
                <a:cs typeface="Avenir Next"/>
              </a:defRPr>
            </a:lvl1pPr>
            <a:lvl2pPr>
              <a:defRPr sz="2250" b="0">
                <a:solidFill>
                  <a:srgbClr val="8E5033"/>
                </a:solidFill>
                <a:latin typeface="Avenir Next"/>
                <a:ea typeface="Avenir Next"/>
                <a:cs typeface="Avenir Next"/>
              </a:defRPr>
            </a:lvl2pPr>
            <a:lvl3pPr>
              <a:defRPr sz="2250" b="0">
                <a:solidFill>
                  <a:srgbClr val="8E5033"/>
                </a:solidFill>
                <a:latin typeface="Avenir Next"/>
                <a:ea typeface="Avenir Next"/>
                <a:cs typeface="Avenir Next"/>
              </a:defRPr>
            </a:lvl3pPr>
            <a:lvl4pPr>
              <a:defRPr sz="2250" b="0">
                <a:solidFill>
                  <a:srgbClr val="8E5033"/>
                </a:solidFill>
                <a:latin typeface="Avenir Next"/>
                <a:ea typeface="Avenir Next"/>
                <a:cs typeface="Avenir Next"/>
              </a:defRPr>
            </a:lvl4pPr>
            <a:lvl5pPr>
              <a:defRPr sz="2250" b="0">
                <a:solidFill>
                  <a:srgbClr val="8E5033"/>
                </a:solidFill>
                <a:latin typeface="Avenir Next"/>
                <a:ea typeface="Avenir Next"/>
                <a:cs typeface="Avenir Next"/>
              </a:defRPr>
            </a:lvl5pPr>
            <a:lvl6pPr>
              <a:defRPr sz="2250" b="0">
                <a:solidFill>
                  <a:srgbClr val="8E5033"/>
                </a:solidFill>
                <a:latin typeface="Avenir Next"/>
                <a:ea typeface="Avenir Next"/>
                <a:cs typeface="Avenir Next"/>
              </a:defRPr>
            </a:lvl6pPr>
            <a:lvl7pPr>
              <a:defRPr sz="2250" b="0">
                <a:solidFill>
                  <a:srgbClr val="8E5033"/>
                </a:solidFill>
                <a:latin typeface="Avenir Next"/>
                <a:ea typeface="Avenir Next"/>
                <a:cs typeface="Avenir Next"/>
              </a:defRPr>
            </a:lvl7pPr>
            <a:lvl8pPr>
              <a:defRPr sz="2250" b="0">
                <a:solidFill>
                  <a:srgbClr val="8E5033"/>
                </a:solidFill>
                <a:latin typeface="Avenir Next"/>
                <a:ea typeface="Avenir Next"/>
                <a:cs typeface="Avenir Next"/>
              </a:defRPr>
            </a:lvl8pPr>
            <a:lvl9pPr>
              <a:defRPr sz="2250" b="0">
                <a:solidFill>
                  <a:srgbClr val="8E5033"/>
                </a:solidFill>
                <a:latin typeface="Avenir Next"/>
                <a:ea typeface="Avenir Next"/>
                <a:cs typeface="Avenir Next"/>
              </a:defRPr>
            </a:lvl9pPr>
          </a:lstStyle>
          <a:p xmlns:a="http://schemas.openxmlformats.org/drawingml/2006/main">
            <a:pPr>
              <a:defRPr sz="2250" b="0">
                <a:solidFill>
                  <a:srgbClr val="8E5033"/>
                </a:solidFill>
                <a:latin typeface="Avenir Next"/>
                <a:ea typeface="Avenir Next"/>
                <a:cs typeface="Avenir Next"/>
              </a:defRPr>
            </a:pPr>
            <a:r>
              <a:rPr sz="2250" b="0">
                <a:solidFill>
                  <a:srgbClr val="8E5033"/>
                </a:solidFill>
                <a:latin typeface="Avenir Next"/>
                <a:ea typeface="Avenir Next"/>
                <a:cs typeface="Avenir Next"/>
              </a:rPr>
              <a:t>The agent cannot grant itself permission to push</a:t>
            </a:r>
          </a:p>
        </p:txBody>
      </p:sp>
    </p:spTree>
    <p:extLst>
      <p:ext uri="{BB962C8B-B14F-4D97-AF65-F5344CB8AC3E}">
        <p14:creationId xmlns:p14="http://schemas.microsoft.com/office/powerpoint/2010/main" val="826771497"/>
      </p:ext>
    </p:extLst>
  </p:cSld>
</p:sld>
</file>

<file path=ppt/slides/slide9.xml><?xml version="1.0" encoding="utf-8"?>
<p:sld xmlns:p="http://schemas.openxmlformats.org/presentationml/2006/main">
  <p:cSld>
    <p:bg>
      <p:bgPr>
        <a:solidFill xmlns:a="http://schemas.openxmlformats.org/drawingml/2006/main">
          <a:srgbClr val="8E5033"/>
        </a:solidFill>
      </p:bgPr>
    </p:bg>
    <p:spTree>
      <p:nvGrpSpPr>
        <p:cNvPr id="1" name=""/>
        <p:cNvGrpSpPr/>
        <p:nvPr/>
      </p:nvGrpSpPr>
      <p:grpSpPr>
        <a:xfrm xmlns:a="http://schemas.openxmlformats.org/drawingml/2006/main"/>
      </p:grpSpPr>
      <p:sp>
        <p:nvSpPr>
          <p:cNvPr id="7" name="Approval belongs to one exact patch">
            <a:extLst xmlns:a="http://schemas.openxmlformats.org/drawingml/2006/main">
              <a:ext uri="{FF2B5EF4-FFF2-40B4-BE49-F238E27FC236}">
                <a16:creationId xmlns:a16="http://schemas.microsoft.com/office/drawing/2014/main" id="{BDB0FCB2-B8BD-4FE0-9A4B-9D8681FD0BBD}"/>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FFFFF"/>
                </a:solidFill>
                <a:latin typeface="Georgia"/>
                <a:ea typeface="Georgia"/>
                <a:cs typeface="Georgia"/>
              </a:defRPr>
            </a:defPPr>
            <a:lvl1pPr>
              <a:defRPr sz="3900" b="0">
                <a:solidFill>
                  <a:srgbClr val="FFFFFF"/>
                </a:solidFill>
                <a:latin typeface="Georgia"/>
                <a:ea typeface="Georgia"/>
                <a:cs typeface="Georgia"/>
              </a:defRPr>
            </a:lvl1pPr>
            <a:lvl2pPr>
              <a:defRPr sz="3900" b="0">
                <a:solidFill>
                  <a:srgbClr val="FFFFFF"/>
                </a:solidFill>
                <a:latin typeface="Georgia"/>
                <a:ea typeface="Georgia"/>
                <a:cs typeface="Georgia"/>
              </a:defRPr>
            </a:lvl2pPr>
            <a:lvl3pPr>
              <a:defRPr sz="3900" b="0">
                <a:solidFill>
                  <a:srgbClr val="FFFFFF"/>
                </a:solidFill>
                <a:latin typeface="Georgia"/>
                <a:ea typeface="Georgia"/>
                <a:cs typeface="Georgia"/>
              </a:defRPr>
            </a:lvl3pPr>
            <a:lvl4pPr>
              <a:defRPr sz="3900" b="0">
                <a:solidFill>
                  <a:srgbClr val="FFFFFF"/>
                </a:solidFill>
                <a:latin typeface="Georgia"/>
                <a:ea typeface="Georgia"/>
                <a:cs typeface="Georgia"/>
              </a:defRPr>
            </a:lvl4pPr>
            <a:lvl5pPr>
              <a:defRPr sz="3900" b="0">
                <a:solidFill>
                  <a:srgbClr val="FFFFFF"/>
                </a:solidFill>
                <a:latin typeface="Georgia"/>
                <a:ea typeface="Georgia"/>
                <a:cs typeface="Georgia"/>
              </a:defRPr>
            </a:lvl5pPr>
            <a:lvl6pPr>
              <a:defRPr sz="3900" b="0">
                <a:solidFill>
                  <a:srgbClr val="FFFFFF"/>
                </a:solidFill>
                <a:latin typeface="Georgia"/>
                <a:ea typeface="Georgia"/>
                <a:cs typeface="Georgia"/>
              </a:defRPr>
            </a:lvl6pPr>
            <a:lvl7pPr>
              <a:defRPr sz="3900" b="0">
                <a:solidFill>
                  <a:srgbClr val="FFFFFF"/>
                </a:solidFill>
                <a:latin typeface="Georgia"/>
                <a:ea typeface="Georgia"/>
                <a:cs typeface="Georgia"/>
              </a:defRPr>
            </a:lvl7pPr>
            <a:lvl8pPr>
              <a:defRPr sz="3900" b="0">
                <a:solidFill>
                  <a:srgbClr val="FFFFFF"/>
                </a:solidFill>
                <a:latin typeface="Georgia"/>
                <a:ea typeface="Georgia"/>
                <a:cs typeface="Georgia"/>
              </a:defRPr>
            </a:lvl8pPr>
            <a:lvl9pPr>
              <a:defRPr sz="3900" b="0">
                <a:solidFill>
                  <a:srgbClr val="FFFFFF"/>
                </a:solidFill>
                <a:latin typeface="Georgia"/>
                <a:ea typeface="Georgia"/>
                <a:cs typeface="Georgia"/>
              </a:defRPr>
            </a:lvl9pPr>
          </a:lstStyle>
          <a:p xmlns:a="http://schemas.openxmlformats.org/drawingml/2006/main">
            <a:pPr>
              <a:defRPr sz="3900" b="0">
                <a:solidFill>
                  <a:srgbClr val="FFFFFF"/>
                </a:solidFill>
                <a:latin typeface="Georgia"/>
                <a:ea typeface="Georgia"/>
                <a:cs typeface="Georgia"/>
              </a:defRPr>
            </a:pPr>
            <a:r>
              <a:rPr sz="3900" b="0">
                <a:solidFill>
                  <a:srgbClr val="FFFFFF"/>
                </a:solidFill>
                <a:latin typeface="Georgia"/>
                <a:ea typeface="Georgia"/>
                <a:cs typeface="Georgia"/>
              </a:rPr>
              <a:t>Approval belongs to one exact patch</a:t>
            </a:r>
          </a:p>
        </p:txBody>
      </p:sp>
      <p:sp>
        <p:nvSpPr>
          <p:cNvPr id="2" name="09">
            <a:extLst xmlns:a="http://schemas.openxmlformats.org/drawingml/2006/main">
              <a:ext uri="{FF2B5EF4-FFF2-40B4-BE49-F238E27FC236}">
                <a16:creationId xmlns:a16="http://schemas.microsoft.com/office/drawing/2014/main" id="{A6CEFC88-00F0-4A9C-99BB-6368A86BB948}"/>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venir Next"/>
                <a:ea typeface="Avenir Next"/>
                <a:cs typeface="Avenir Next"/>
              </a:defRPr>
            </a:defPPr>
            <a:lvl1pPr>
              <a:defRPr sz="1200" b="0">
                <a:solidFill>
                  <a:srgbClr val="FFFFFF"/>
                </a:solidFill>
                <a:latin typeface="Avenir Next"/>
                <a:ea typeface="Avenir Next"/>
                <a:cs typeface="Avenir Next"/>
              </a:defRPr>
            </a:lvl1pPr>
            <a:lvl2pPr>
              <a:defRPr sz="1200" b="0">
                <a:solidFill>
                  <a:srgbClr val="FFFFFF"/>
                </a:solidFill>
                <a:latin typeface="Avenir Next"/>
                <a:ea typeface="Avenir Next"/>
                <a:cs typeface="Avenir Next"/>
              </a:defRPr>
            </a:lvl2pPr>
            <a:lvl3pPr>
              <a:defRPr sz="1200" b="0">
                <a:solidFill>
                  <a:srgbClr val="FFFFFF"/>
                </a:solidFill>
                <a:latin typeface="Avenir Next"/>
                <a:ea typeface="Avenir Next"/>
                <a:cs typeface="Avenir Next"/>
              </a:defRPr>
            </a:lvl3pPr>
            <a:lvl4pPr>
              <a:defRPr sz="1200" b="0">
                <a:solidFill>
                  <a:srgbClr val="FFFFFF"/>
                </a:solidFill>
                <a:latin typeface="Avenir Next"/>
                <a:ea typeface="Avenir Next"/>
                <a:cs typeface="Avenir Next"/>
              </a:defRPr>
            </a:lvl4pPr>
            <a:lvl5pPr>
              <a:defRPr sz="1200" b="0">
                <a:solidFill>
                  <a:srgbClr val="FFFFFF"/>
                </a:solidFill>
                <a:latin typeface="Avenir Next"/>
                <a:ea typeface="Avenir Next"/>
                <a:cs typeface="Avenir Next"/>
              </a:defRPr>
            </a:lvl5pPr>
            <a:lvl6pPr>
              <a:defRPr sz="1200" b="0">
                <a:solidFill>
                  <a:srgbClr val="FFFFFF"/>
                </a:solidFill>
                <a:latin typeface="Avenir Next"/>
                <a:ea typeface="Avenir Next"/>
                <a:cs typeface="Avenir Next"/>
              </a:defRPr>
            </a:lvl6pPr>
            <a:lvl7pPr>
              <a:defRPr sz="1200" b="0">
                <a:solidFill>
                  <a:srgbClr val="FFFFFF"/>
                </a:solidFill>
                <a:latin typeface="Avenir Next"/>
                <a:ea typeface="Avenir Next"/>
                <a:cs typeface="Avenir Next"/>
              </a:defRPr>
            </a:lvl7pPr>
            <a:lvl8pPr>
              <a:defRPr sz="1200" b="0">
                <a:solidFill>
                  <a:srgbClr val="FFFFFF"/>
                </a:solidFill>
                <a:latin typeface="Avenir Next"/>
                <a:ea typeface="Avenir Next"/>
                <a:cs typeface="Avenir Next"/>
              </a:defRPr>
            </a:lvl8pPr>
            <a:lvl9pPr>
              <a:defRPr sz="1200" b="0">
                <a:solidFill>
                  <a:srgbClr val="FFFFFF"/>
                </a:solidFill>
                <a:latin typeface="Avenir Next"/>
                <a:ea typeface="Avenir Next"/>
                <a:cs typeface="Avenir Next"/>
              </a:defRPr>
            </a:lvl9pPr>
          </a:lstStyle>
          <a:p xmlns:a="http://schemas.openxmlformats.org/drawingml/2006/main">
            <a:pPr>
              <a:defRPr sz="1200" b="0">
                <a:solidFill>
                  <a:srgbClr val="FFFFFF"/>
                </a:solidFill>
                <a:latin typeface="Avenir Next"/>
                <a:ea typeface="Avenir Next"/>
                <a:cs typeface="Avenir Next"/>
              </a:defRPr>
            </a:pPr>
            <a:r>
              <a:rPr sz="1200" b="0">
                <a:solidFill>
                  <a:srgbClr val="FFFFFF"/>
                </a:solidFill>
                <a:latin typeface="Avenir Next"/>
                <a:ea typeface="Avenir Next"/>
                <a:cs typeface="Avenir Next"/>
              </a:rPr>
              <a:t>09</a:t>
            </a:r>
          </a:p>
        </p:txBody>
      </p:sp>
      <p:sp>
        <p:nvSpPr>
          <p:cNvPr id="3" name="Tested patch">
            <a:extLst xmlns:a="http://schemas.openxmlformats.org/drawingml/2006/main">
              <a:ext uri="{FF2B5EF4-FFF2-40B4-BE49-F238E27FC236}">
                <a16:creationId xmlns:a16="http://schemas.microsoft.com/office/drawing/2014/main" id="{AB6342ED-96CC-453C-A9D0-E9869A73705A}"/>
              </a:ext>
            </a:extLst>
          </p:cNvPr>
          <p:cNvSpPr>
            <a:spLocks xmlns:a="http://schemas.openxmlformats.org/drawingml/2006/main" noGrp="1"/>
          </p:cNvSpPr>
          <p:nvPr/>
        </p:nvSpPr>
        <p:spPr>
          <a:xfrm xmlns:a="http://schemas.openxmlformats.org/drawingml/2006/main">
            <a:off x="781050" y="22669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FFFFF"/>
                </a:solidFill>
                <a:latin typeface="Georgia"/>
                <a:ea typeface="Georgia"/>
                <a:cs typeface="Georgia"/>
              </a:defRPr>
            </a:defPPr>
            <a:lvl1pPr>
              <a:defRPr sz="3600" b="0">
                <a:solidFill>
                  <a:srgbClr val="FFFFFF"/>
                </a:solidFill>
                <a:latin typeface="Georgia"/>
                <a:ea typeface="Georgia"/>
                <a:cs typeface="Georgia"/>
              </a:defRPr>
            </a:lvl1pPr>
            <a:lvl2pPr>
              <a:defRPr sz="3600" b="0">
                <a:solidFill>
                  <a:srgbClr val="FFFFFF"/>
                </a:solidFill>
                <a:latin typeface="Georgia"/>
                <a:ea typeface="Georgia"/>
                <a:cs typeface="Georgia"/>
              </a:defRPr>
            </a:lvl2pPr>
            <a:lvl3pPr>
              <a:defRPr sz="3600" b="0">
                <a:solidFill>
                  <a:srgbClr val="FFFFFF"/>
                </a:solidFill>
                <a:latin typeface="Georgia"/>
                <a:ea typeface="Georgia"/>
                <a:cs typeface="Georgia"/>
              </a:defRPr>
            </a:lvl3pPr>
            <a:lvl4pPr>
              <a:defRPr sz="3600" b="0">
                <a:solidFill>
                  <a:srgbClr val="FFFFFF"/>
                </a:solidFill>
                <a:latin typeface="Georgia"/>
                <a:ea typeface="Georgia"/>
                <a:cs typeface="Georgia"/>
              </a:defRPr>
            </a:lvl4pPr>
            <a:lvl5pPr>
              <a:defRPr sz="3600" b="0">
                <a:solidFill>
                  <a:srgbClr val="FFFFFF"/>
                </a:solidFill>
                <a:latin typeface="Georgia"/>
                <a:ea typeface="Georgia"/>
                <a:cs typeface="Georgia"/>
              </a:defRPr>
            </a:lvl5pPr>
            <a:lvl6pPr>
              <a:defRPr sz="3600" b="0">
                <a:solidFill>
                  <a:srgbClr val="FFFFFF"/>
                </a:solidFill>
                <a:latin typeface="Georgia"/>
                <a:ea typeface="Georgia"/>
                <a:cs typeface="Georgia"/>
              </a:defRPr>
            </a:lvl6pPr>
            <a:lvl7pPr>
              <a:defRPr sz="3600" b="0">
                <a:solidFill>
                  <a:srgbClr val="FFFFFF"/>
                </a:solidFill>
                <a:latin typeface="Georgia"/>
                <a:ea typeface="Georgia"/>
                <a:cs typeface="Georgia"/>
              </a:defRPr>
            </a:lvl7pPr>
            <a:lvl8pPr>
              <a:defRPr sz="3600" b="0">
                <a:solidFill>
                  <a:srgbClr val="FFFFFF"/>
                </a:solidFill>
                <a:latin typeface="Georgia"/>
                <a:ea typeface="Georgia"/>
                <a:cs typeface="Georgia"/>
              </a:defRPr>
            </a:lvl8pPr>
            <a:lvl9pPr>
              <a:defRPr sz="3600" b="0">
                <a:solidFill>
                  <a:srgbClr val="FFFFFF"/>
                </a:solidFill>
                <a:latin typeface="Georgia"/>
                <a:ea typeface="Georgia"/>
                <a:cs typeface="Georgia"/>
              </a:defRPr>
            </a:lvl9pPr>
          </a:lstStyle>
          <a:p xmlns:a="http://schemas.openxmlformats.org/drawingml/2006/main">
            <a:pPr>
              <a:defRPr sz="3600" b="0">
                <a:solidFill>
                  <a:srgbClr val="FFFFFF"/>
                </a:solidFill>
                <a:latin typeface="Georgia"/>
                <a:ea typeface="Georgia"/>
                <a:cs typeface="Georgia"/>
              </a:defRPr>
            </a:pPr>
            <a:r>
              <a:rPr sz="3600" b="0">
                <a:solidFill>
                  <a:srgbClr val="FFFFFF"/>
                </a:solidFill>
                <a:latin typeface="Georgia"/>
                <a:ea typeface="Georgia"/>
                <a:cs typeface="Georgia"/>
              </a:rPr>
              <a:t>Tested patch</a:t>
            </a:r>
          </a:p>
        </p:txBody>
      </p:sp>
      <p:sp>
        <p:nvSpPr>
          <p:cNvPr id="4" name="+ recorded checks">
            <a:extLst xmlns:a="http://schemas.openxmlformats.org/drawingml/2006/main">
              <a:ext uri="{FF2B5EF4-FFF2-40B4-BE49-F238E27FC236}">
                <a16:creationId xmlns:a16="http://schemas.microsoft.com/office/drawing/2014/main" id="{68EE5974-D784-4E81-92E8-02EF1441430D}"/>
              </a:ext>
            </a:extLst>
          </p:cNvPr>
          <p:cNvSpPr>
            <a:spLocks xmlns:a="http://schemas.openxmlformats.org/drawingml/2006/main" noGrp="1"/>
          </p:cNvSpPr>
          <p:nvPr/>
        </p:nvSpPr>
        <p:spPr>
          <a:xfrm xmlns:a="http://schemas.openxmlformats.org/drawingml/2006/main">
            <a:off x="781050" y="30480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FFFFFF"/>
                </a:solidFill>
                <a:latin typeface="Avenir Next"/>
                <a:ea typeface="Avenir Next"/>
                <a:cs typeface="Avenir Next"/>
              </a:defRPr>
            </a:defPPr>
            <a:lvl1pPr>
              <a:defRPr sz="2775" b="0">
                <a:solidFill>
                  <a:srgbClr val="FFFFFF"/>
                </a:solidFill>
                <a:latin typeface="Avenir Next"/>
                <a:ea typeface="Avenir Next"/>
                <a:cs typeface="Avenir Next"/>
              </a:defRPr>
            </a:lvl1pPr>
            <a:lvl2pPr>
              <a:defRPr sz="2775" b="0">
                <a:solidFill>
                  <a:srgbClr val="FFFFFF"/>
                </a:solidFill>
                <a:latin typeface="Avenir Next"/>
                <a:ea typeface="Avenir Next"/>
                <a:cs typeface="Avenir Next"/>
              </a:defRPr>
            </a:lvl2pPr>
            <a:lvl3pPr>
              <a:defRPr sz="2775" b="0">
                <a:solidFill>
                  <a:srgbClr val="FFFFFF"/>
                </a:solidFill>
                <a:latin typeface="Avenir Next"/>
                <a:ea typeface="Avenir Next"/>
                <a:cs typeface="Avenir Next"/>
              </a:defRPr>
            </a:lvl3pPr>
            <a:lvl4pPr>
              <a:defRPr sz="2775" b="0">
                <a:solidFill>
                  <a:srgbClr val="FFFFFF"/>
                </a:solidFill>
                <a:latin typeface="Avenir Next"/>
                <a:ea typeface="Avenir Next"/>
                <a:cs typeface="Avenir Next"/>
              </a:defRPr>
            </a:lvl4pPr>
            <a:lvl5pPr>
              <a:defRPr sz="2775" b="0">
                <a:solidFill>
                  <a:srgbClr val="FFFFFF"/>
                </a:solidFill>
                <a:latin typeface="Avenir Next"/>
                <a:ea typeface="Avenir Next"/>
                <a:cs typeface="Avenir Next"/>
              </a:defRPr>
            </a:lvl5pPr>
            <a:lvl6pPr>
              <a:defRPr sz="2775" b="0">
                <a:solidFill>
                  <a:srgbClr val="FFFFFF"/>
                </a:solidFill>
                <a:latin typeface="Avenir Next"/>
                <a:ea typeface="Avenir Next"/>
                <a:cs typeface="Avenir Next"/>
              </a:defRPr>
            </a:lvl6pPr>
            <a:lvl7pPr>
              <a:defRPr sz="2775" b="0">
                <a:solidFill>
                  <a:srgbClr val="FFFFFF"/>
                </a:solidFill>
                <a:latin typeface="Avenir Next"/>
                <a:ea typeface="Avenir Next"/>
                <a:cs typeface="Avenir Next"/>
              </a:defRPr>
            </a:lvl7pPr>
            <a:lvl8pPr>
              <a:defRPr sz="2775" b="0">
                <a:solidFill>
                  <a:srgbClr val="FFFFFF"/>
                </a:solidFill>
                <a:latin typeface="Avenir Next"/>
                <a:ea typeface="Avenir Next"/>
                <a:cs typeface="Avenir Next"/>
              </a:defRPr>
            </a:lvl8pPr>
            <a:lvl9pPr>
              <a:defRPr sz="2775" b="0">
                <a:solidFill>
                  <a:srgbClr val="FFFFFF"/>
                </a:solidFill>
                <a:latin typeface="Avenir Next"/>
                <a:ea typeface="Avenir Next"/>
                <a:cs typeface="Avenir Next"/>
              </a:defRPr>
            </a:lvl9pPr>
          </a:lstStyle>
          <a:p xmlns:a="http://schemas.openxmlformats.org/drawingml/2006/main">
            <a:pPr>
              <a:defRPr sz="2775" b="0">
                <a:solidFill>
                  <a:srgbClr val="FFFFFF"/>
                </a:solidFill>
                <a:latin typeface="Avenir Next"/>
                <a:ea typeface="Avenir Next"/>
                <a:cs typeface="Avenir Next"/>
              </a:defRPr>
            </a:pPr>
            <a:r>
              <a:rPr sz="2775" b="0">
                <a:solidFill>
                  <a:srgbClr val="FFFFFF"/>
                </a:solidFill>
                <a:latin typeface="Avenir Next"/>
                <a:ea typeface="Avenir Next"/>
                <a:cs typeface="Avenir Next"/>
              </a:rPr>
              <a:t>+ recorded checks</a:t>
            </a:r>
          </a:p>
        </p:txBody>
      </p:sp>
      <p:sp>
        <p:nvSpPr>
          <p:cNvPr id="5" name="+ your approval">
            <a:extLst xmlns:a="http://schemas.openxmlformats.org/drawingml/2006/main">
              <a:ext uri="{FF2B5EF4-FFF2-40B4-BE49-F238E27FC236}">
                <a16:creationId xmlns:a16="http://schemas.microsoft.com/office/drawing/2014/main" id="{7C55D895-6E4E-4F94-8FD7-6D71DB290D24}"/>
              </a:ext>
            </a:extLst>
          </p:cNvPr>
          <p:cNvSpPr>
            <a:spLocks xmlns:a="http://schemas.openxmlformats.org/drawingml/2006/main" noGrp="1"/>
          </p:cNvSpPr>
          <p:nvPr/>
        </p:nvSpPr>
        <p:spPr>
          <a:xfrm xmlns:a="http://schemas.openxmlformats.org/drawingml/2006/main">
            <a:off x="781050" y="3733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FFFFFF"/>
                </a:solidFill>
                <a:latin typeface="Avenir Next"/>
                <a:ea typeface="Avenir Next"/>
                <a:cs typeface="Avenir Next"/>
              </a:defRPr>
            </a:defPPr>
            <a:lvl1pPr>
              <a:defRPr sz="2775" b="0">
                <a:solidFill>
                  <a:srgbClr val="FFFFFF"/>
                </a:solidFill>
                <a:latin typeface="Avenir Next"/>
                <a:ea typeface="Avenir Next"/>
                <a:cs typeface="Avenir Next"/>
              </a:defRPr>
            </a:lvl1pPr>
            <a:lvl2pPr>
              <a:defRPr sz="2775" b="0">
                <a:solidFill>
                  <a:srgbClr val="FFFFFF"/>
                </a:solidFill>
                <a:latin typeface="Avenir Next"/>
                <a:ea typeface="Avenir Next"/>
                <a:cs typeface="Avenir Next"/>
              </a:defRPr>
            </a:lvl2pPr>
            <a:lvl3pPr>
              <a:defRPr sz="2775" b="0">
                <a:solidFill>
                  <a:srgbClr val="FFFFFF"/>
                </a:solidFill>
                <a:latin typeface="Avenir Next"/>
                <a:ea typeface="Avenir Next"/>
                <a:cs typeface="Avenir Next"/>
              </a:defRPr>
            </a:lvl3pPr>
            <a:lvl4pPr>
              <a:defRPr sz="2775" b="0">
                <a:solidFill>
                  <a:srgbClr val="FFFFFF"/>
                </a:solidFill>
                <a:latin typeface="Avenir Next"/>
                <a:ea typeface="Avenir Next"/>
                <a:cs typeface="Avenir Next"/>
              </a:defRPr>
            </a:lvl4pPr>
            <a:lvl5pPr>
              <a:defRPr sz="2775" b="0">
                <a:solidFill>
                  <a:srgbClr val="FFFFFF"/>
                </a:solidFill>
                <a:latin typeface="Avenir Next"/>
                <a:ea typeface="Avenir Next"/>
                <a:cs typeface="Avenir Next"/>
              </a:defRPr>
            </a:lvl5pPr>
            <a:lvl6pPr>
              <a:defRPr sz="2775" b="0">
                <a:solidFill>
                  <a:srgbClr val="FFFFFF"/>
                </a:solidFill>
                <a:latin typeface="Avenir Next"/>
                <a:ea typeface="Avenir Next"/>
                <a:cs typeface="Avenir Next"/>
              </a:defRPr>
            </a:lvl6pPr>
            <a:lvl7pPr>
              <a:defRPr sz="2775" b="0">
                <a:solidFill>
                  <a:srgbClr val="FFFFFF"/>
                </a:solidFill>
                <a:latin typeface="Avenir Next"/>
                <a:ea typeface="Avenir Next"/>
                <a:cs typeface="Avenir Next"/>
              </a:defRPr>
            </a:lvl7pPr>
            <a:lvl8pPr>
              <a:defRPr sz="2775" b="0">
                <a:solidFill>
                  <a:srgbClr val="FFFFFF"/>
                </a:solidFill>
                <a:latin typeface="Avenir Next"/>
                <a:ea typeface="Avenir Next"/>
                <a:cs typeface="Avenir Next"/>
              </a:defRPr>
            </a:lvl8pPr>
            <a:lvl9pPr>
              <a:defRPr sz="2775" b="0">
                <a:solidFill>
                  <a:srgbClr val="FFFFFF"/>
                </a:solidFill>
                <a:latin typeface="Avenir Next"/>
                <a:ea typeface="Avenir Next"/>
                <a:cs typeface="Avenir Next"/>
              </a:defRPr>
            </a:lvl9pPr>
          </a:lstStyle>
          <a:p xmlns:a="http://schemas.openxmlformats.org/drawingml/2006/main">
            <a:pPr>
              <a:defRPr sz="2775" b="0">
                <a:solidFill>
                  <a:srgbClr val="FFFFFF"/>
                </a:solidFill>
                <a:latin typeface="Avenir Next"/>
                <a:ea typeface="Avenir Next"/>
                <a:cs typeface="Avenir Next"/>
              </a:defRPr>
            </a:pPr>
            <a:r>
              <a:rPr sz="2775" b="0">
                <a:solidFill>
                  <a:srgbClr val="FFFFFF"/>
                </a:solidFill>
                <a:latin typeface="Avenir Next"/>
                <a:ea typeface="Avenir Next"/>
                <a:cs typeface="Avenir Next"/>
              </a:rPr>
              <a:t>+ your approval</a:t>
            </a:r>
          </a:p>
        </p:txBody>
      </p:sp>
      <p:sp>
        <p:nvSpPr>
          <p:cNvPr id="6" name="New code or a changed PR invalidates the old ">
            <a:extLst xmlns:a="http://schemas.openxmlformats.org/drawingml/2006/main">
              <a:ext uri="{FF2B5EF4-FFF2-40B4-BE49-F238E27FC236}">
                <a16:creationId xmlns:a16="http://schemas.microsoft.com/office/drawing/2014/main" id="{B436CF1B-383D-4460-81E2-D96F0EAAB7EC}"/>
              </a:ext>
            </a:extLst>
          </p:cNvPr>
          <p:cNvSpPr>
            <a:spLocks xmlns:a="http://schemas.openxmlformats.org/drawingml/2006/main" noGrp="1"/>
          </p:cNvSpPr>
          <p:nvPr/>
        </p:nvSpPr>
        <p:spPr>
          <a:xfrm xmlns:a="http://schemas.openxmlformats.org/drawingml/2006/main">
            <a:off x="781050" y="52197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venir Next"/>
                <a:ea typeface="Avenir Next"/>
                <a:cs typeface="Avenir Next"/>
              </a:defRPr>
            </a:defPPr>
            <a:lvl1pPr>
              <a:defRPr sz="2325" b="0">
                <a:solidFill>
                  <a:srgbClr val="FFFFFF"/>
                </a:solidFill>
                <a:latin typeface="Avenir Next"/>
                <a:ea typeface="Avenir Next"/>
                <a:cs typeface="Avenir Next"/>
              </a:defRPr>
            </a:lvl1pPr>
            <a:lvl2pPr>
              <a:defRPr sz="2325" b="0">
                <a:solidFill>
                  <a:srgbClr val="FFFFFF"/>
                </a:solidFill>
                <a:latin typeface="Avenir Next"/>
                <a:ea typeface="Avenir Next"/>
                <a:cs typeface="Avenir Next"/>
              </a:defRPr>
            </a:lvl2pPr>
            <a:lvl3pPr>
              <a:defRPr sz="2325" b="0">
                <a:solidFill>
                  <a:srgbClr val="FFFFFF"/>
                </a:solidFill>
                <a:latin typeface="Avenir Next"/>
                <a:ea typeface="Avenir Next"/>
                <a:cs typeface="Avenir Next"/>
              </a:defRPr>
            </a:lvl3pPr>
            <a:lvl4pPr>
              <a:defRPr sz="2325" b="0">
                <a:solidFill>
                  <a:srgbClr val="FFFFFF"/>
                </a:solidFill>
                <a:latin typeface="Avenir Next"/>
                <a:ea typeface="Avenir Next"/>
                <a:cs typeface="Avenir Next"/>
              </a:defRPr>
            </a:lvl4pPr>
            <a:lvl5pPr>
              <a:defRPr sz="2325" b="0">
                <a:solidFill>
                  <a:srgbClr val="FFFFFF"/>
                </a:solidFill>
                <a:latin typeface="Avenir Next"/>
                <a:ea typeface="Avenir Next"/>
                <a:cs typeface="Avenir Next"/>
              </a:defRPr>
            </a:lvl5pPr>
            <a:lvl6pPr>
              <a:defRPr sz="2325" b="0">
                <a:solidFill>
                  <a:srgbClr val="FFFFFF"/>
                </a:solidFill>
                <a:latin typeface="Avenir Next"/>
                <a:ea typeface="Avenir Next"/>
                <a:cs typeface="Avenir Next"/>
              </a:defRPr>
            </a:lvl6pPr>
            <a:lvl7pPr>
              <a:defRPr sz="2325" b="0">
                <a:solidFill>
                  <a:srgbClr val="FFFFFF"/>
                </a:solidFill>
                <a:latin typeface="Avenir Next"/>
                <a:ea typeface="Avenir Next"/>
                <a:cs typeface="Avenir Next"/>
              </a:defRPr>
            </a:lvl7pPr>
            <a:lvl8pPr>
              <a:defRPr sz="2325" b="0">
                <a:solidFill>
                  <a:srgbClr val="FFFFFF"/>
                </a:solidFill>
                <a:latin typeface="Avenir Next"/>
                <a:ea typeface="Avenir Next"/>
                <a:cs typeface="Avenir Next"/>
              </a:defRPr>
            </a:lvl8pPr>
            <a:lvl9pPr>
              <a:defRPr sz="2325" b="0">
                <a:solidFill>
                  <a:srgbClr val="FFFFFF"/>
                </a:solidFill>
                <a:latin typeface="Avenir Next"/>
                <a:ea typeface="Avenir Next"/>
                <a:cs typeface="Avenir Next"/>
              </a:defRPr>
            </a:lvl9pPr>
          </a:lstStyle>
          <a:p xmlns:a="http://schemas.openxmlformats.org/drawingml/2006/main">
            <a:pPr>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New code or a changed PR invalidates the old approval</a:t>
            </a:r>
          </a:p>
        </p:txBody>
      </p:sp>
    </p:spTree>
    <p:extLst>
      <p:ext uri="{BB962C8B-B14F-4D97-AF65-F5344CB8AC3E}">
        <p14:creationId xmlns:p14="http://schemas.microsoft.com/office/powerpoint/2010/main" val="17675072"/>
      </p:ext>
    </p:extLst>
  </p:cSld>
</p:sld>
</file>

<file path=ppt/slides/slide10.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7" name="Four shortcuts that break trust">
            <a:extLst xmlns:a="http://schemas.openxmlformats.org/drawingml/2006/main">
              <a:ext uri="{FF2B5EF4-FFF2-40B4-BE49-F238E27FC236}">
                <a16:creationId xmlns:a16="http://schemas.microsoft.com/office/drawing/2014/main" id="{AB248039-58F4-4C06-AF82-9381A76A308D}"/>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Four shortcuts that break trust</a:t>
            </a:r>
          </a:p>
        </p:txBody>
      </p:sp>
      <p:sp>
        <p:nvSpPr>
          <p:cNvPr id="2" name="10">
            <a:extLst xmlns:a="http://schemas.openxmlformats.org/drawingml/2006/main">
              <a:ext uri="{FF2B5EF4-FFF2-40B4-BE49-F238E27FC236}">
                <a16:creationId xmlns:a16="http://schemas.microsoft.com/office/drawing/2014/main" id="{7412056A-04AD-4D41-AD54-9864325BD896}"/>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10</a:t>
            </a:r>
          </a:p>
        </p:txBody>
      </p:sp>
      <p:sp>
        <p:nvSpPr>
          <p:cNvPr id="3" name="Inventing intended behavior from code alone">
            <a:extLst xmlns:a="http://schemas.openxmlformats.org/drawingml/2006/main">
              <a:ext uri="{FF2B5EF4-FFF2-40B4-BE49-F238E27FC236}">
                <a16:creationId xmlns:a16="http://schemas.microsoft.com/office/drawing/2014/main" id="{4B8BA35D-DE1C-4B17-82F3-4D6261791733}"/>
              </a:ext>
            </a:extLst>
          </p:cNvPr>
          <p:cNvSpPr>
            <a:spLocks xmlns:a="http://schemas.openxmlformats.org/drawingml/2006/main" noGrp="1"/>
          </p:cNvSpPr>
          <p:nvPr/>
        </p:nvSpPr>
        <p:spPr>
          <a:xfrm xmlns:a="http://schemas.openxmlformats.org/drawingml/2006/main">
            <a:off x="762000" y="20955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4B2E23"/>
                </a:solidFill>
                <a:latin typeface="Avenir Next"/>
                <a:ea typeface="Avenir Next"/>
                <a:cs typeface="Avenir Next"/>
              </a:defRPr>
            </a:defPPr>
            <a:lvl1pPr>
              <a:defRPr sz="2400" b="0">
                <a:solidFill>
                  <a:srgbClr val="4B2E23"/>
                </a:solidFill>
                <a:latin typeface="Avenir Next"/>
                <a:ea typeface="Avenir Next"/>
                <a:cs typeface="Avenir Next"/>
              </a:defRPr>
            </a:lvl1pPr>
            <a:lvl2pPr>
              <a:defRPr sz="2400" b="0">
                <a:solidFill>
                  <a:srgbClr val="4B2E23"/>
                </a:solidFill>
                <a:latin typeface="Avenir Next"/>
                <a:ea typeface="Avenir Next"/>
                <a:cs typeface="Avenir Next"/>
              </a:defRPr>
            </a:lvl2pPr>
            <a:lvl3pPr>
              <a:defRPr sz="2400" b="0">
                <a:solidFill>
                  <a:srgbClr val="4B2E23"/>
                </a:solidFill>
                <a:latin typeface="Avenir Next"/>
                <a:ea typeface="Avenir Next"/>
                <a:cs typeface="Avenir Next"/>
              </a:defRPr>
            </a:lvl3pPr>
            <a:lvl4pPr>
              <a:defRPr sz="2400" b="0">
                <a:solidFill>
                  <a:srgbClr val="4B2E23"/>
                </a:solidFill>
                <a:latin typeface="Avenir Next"/>
                <a:ea typeface="Avenir Next"/>
                <a:cs typeface="Avenir Next"/>
              </a:defRPr>
            </a:lvl4pPr>
            <a:lvl5pPr>
              <a:defRPr sz="2400" b="0">
                <a:solidFill>
                  <a:srgbClr val="4B2E23"/>
                </a:solidFill>
                <a:latin typeface="Avenir Next"/>
                <a:ea typeface="Avenir Next"/>
                <a:cs typeface="Avenir Next"/>
              </a:defRPr>
            </a:lvl5pPr>
            <a:lvl6pPr>
              <a:defRPr sz="2400" b="0">
                <a:solidFill>
                  <a:srgbClr val="4B2E23"/>
                </a:solidFill>
                <a:latin typeface="Avenir Next"/>
                <a:ea typeface="Avenir Next"/>
                <a:cs typeface="Avenir Next"/>
              </a:defRPr>
            </a:lvl6pPr>
            <a:lvl7pPr>
              <a:defRPr sz="2400" b="0">
                <a:solidFill>
                  <a:srgbClr val="4B2E23"/>
                </a:solidFill>
                <a:latin typeface="Avenir Next"/>
                <a:ea typeface="Avenir Next"/>
                <a:cs typeface="Avenir Next"/>
              </a:defRPr>
            </a:lvl7pPr>
            <a:lvl8pPr>
              <a:defRPr sz="2400" b="0">
                <a:solidFill>
                  <a:srgbClr val="4B2E23"/>
                </a:solidFill>
                <a:latin typeface="Avenir Next"/>
                <a:ea typeface="Avenir Next"/>
                <a:cs typeface="Avenir Next"/>
              </a:defRPr>
            </a:lvl8pPr>
            <a:lvl9pPr>
              <a:defRPr sz="2400" b="0">
                <a:solidFill>
                  <a:srgbClr val="4B2E23"/>
                </a:solidFill>
                <a:latin typeface="Avenir Next"/>
                <a:ea typeface="Avenir Next"/>
                <a:cs typeface="Avenir Next"/>
              </a:defRPr>
            </a:lvl9pPr>
          </a:lstStyle>
          <a:p xmlns:a="http://schemas.openxmlformats.org/drawingml/2006/main">
            <a:pPr>
              <a:defRPr sz="2400" b="0">
                <a:solidFill>
                  <a:srgbClr val="4B2E23"/>
                </a:solidFill>
                <a:latin typeface="Avenir Next"/>
                <a:ea typeface="Avenir Next"/>
                <a:cs typeface="Avenir Next"/>
              </a:defRPr>
            </a:pPr>
            <a:r>
              <a:rPr sz="2400" b="0">
                <a:solidFill>
                  <a:srgbClr val="4B2E23"/>
                </a:solidFill>
                <a:latin typeface="Avenir Next"/>
                <a:ea typeface="Avenir Next"/>
                <a:cs typeface="Avenir Next"/>
              </a:rPr>
              <a:t>Inventing intended behavior from code alone</a:t>
            </a:r>
          </a:p>
        </p:txBody>
      </p:sp>
      <p:sp>
        <p:nvSpPr>
          <p:cNvPr id="4" name="Changing code before validating the finding">
            <a:extLst xmlns:a="http://schemas.openxmlformats.org/drawingml/2006/main">
              <a:ext uri="{FF2B5EF4-FFF2-40B4-BE49-F238E27FC236}">
                <a16:creationId xmlns:a16="http://schemas.microsoft.com/office/drawing/2014/main" id="{06DD3355-21DA-4BE0-8616-C0E55E604C72}"/>
              </a:ext>
            </a:extLst>
          </p:cNvPr>
          <p:cNvSpPr>
            <a:spLocks xmlns:a="http://schemas.openxmlformats.org/drawingml/2006/main" noGrp="1"/>
          </p:cNvSpPr>
          <p:nvPr/>
        </p:nvSpPr>
        <p:spPr>
          <a:xfrm xmlns:a="http://schemas.openxmlformats.org/drawingml/2006/main">
            <a:off x="762000" y="32004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4B2E23"/>
                </a:solidFill>
                <a:latin typeface="Avenir Next"/>
                <a:ea typeface="Avenir Next"/>
                <a:cs typeface="Avenir Next"/>
              </a:defRPr>
            </a:defPPr>
            <a:lvl1pPr>
              <a:defRPr sz="2550" b="0">
                <a:solidFill>
                  <a:srgbClr val="4B2E23"/>
                </a:solidFill>
                <a:latin typeface="Avenir Next"/>
                <a:ea typeface="Avenir Next"/>
                <a:cs typeface="Avenir Next"/>
              </a:defRPr>
            </a:lvl1pPr>
            <a:lvl2pPr>
              <a:defRPr sz="2550" b="0">
                <a:solidFill>
                  <a:srgbClr val="4B2E23"/>
                </a:solidFill>
                <a:latin typeface="Avenir Next"/>
                <a:ea typeface="Avenir Next"/>
                <a:cs typeface="Avenir Next"/>
              </a:defRPr>
            </a:lvl2pPr>
            <a:lvl3pPr>
              <a:defRPr sz="2550" b="0">
                <a:solidFill>
                  <a:srgbClr val="4B2E23"/>
                </a:solidFill>
                <a:latin typeface="Avenir Next"/>
                <a:ea typeface="Avenir Next"/>
                <a:cs typeface="Avenir Next"/>
              </a:defRPr>
            </a:lvl3pPr>
            <a:lvl4pPr>
              <a:defRPr sz="2550" b="0">
                <a:solidFill>
                  <a:srgbClr val="4B2E23"/>
                </a:solidFill>
                <a:latin typeface="Avenir Next"/>
                <a:ea typeface="Avenir Next"/>
                <a:cs typeface="Avenir Next"/>
              </a:defRPr>
            </a:lvl4pPr>
            <a:lvl5pPr>
              <a:defRPr sz="2550" b="0">
                <a:solidFill>
                  <a:srgbClr val="4B2E23"/>
                </a:solidFill>
                <a:latin typeface="Avenir Next"/>
                <a:ea typeface="Avenir Next"/>
                <a:cs typeface="Avenir Next"/>
              </a:defRPr>
            </a:lvl5pPr>
            <a:lvl6pPr>
              <a:defRPr sz="2550" b="0">
                <a:solidFill>
                  <a:srgbClr val="4B2E23"/>
                </a:solidFill>
                <a:latin typeface="Avenir Next"/>
                <a:ea typeface="Avenir Next"/>
                <a:cs typeface="Avenir Next"/>
              </a:defRPr>
            </a:lvl6pPr>
            <a:lvl7pPr>
              <a:defRPr sz="2550" b="0">
                <a:solidFill>
                  <a:srgbClr val="4B2E23"/>
                </a:solidFill>
                <a:latin typeface="Avenir Next"/>
                <a:ea typeface="Avenir Next"/>
                <a:cs typeface="Avenir Next"/>
              </a:defRPr>
            </a:lvl7pPr>
            <a:lvl8pPr>
              <a:defRPr sz="2550" b="0">
                <a:solidFill>
                  <a:srgbClr val="4B2E23"/>
                </a:solidFill>
                <a:latin typeface="Avenir Next"/>
                <a:ea typeface="Avenir Next"/>
                <a:cs typeface="Avenir Next"/>
              </a:defRPr>
            </a:lvl8pPr>
            <a:lvl9pPr>
              <a:defRPr sz="2550" b="0">
                <a:solidFill>
                  <a:srgbClr val="4B2E23"/>
                </a:solidFill>
                <a:latin typeface="Avenir Next"/>
                <a:ea typeface="Avenir Next"/>
                <a:cs typeface="Avenir Next"/>
              </a:defRPr>
            </a:lvl9pPr>
          </a:lstStyle>
          <a:p xmlns:a="http://schemas.openxmlformats.org/drawingml/2006/main">
            <a:pPr>
              <a:defRPr sz="2550" b="0">
                <a:solidFill>
                  <a:srgbClr val="4B2E23"/>
                </a:solidFill>
                <a:latin typeface="Avenir Next"/>
                <a:ea typeface="Avenir Next"/>
                <a:cs typeface="Avenir Next"/>
              </a:defRPr>
            </a:pPr>
            <a:r>
              <a:rPr sz="2550" b="0">
                <a:solidFill>
                  <a:srgbClr val="4B2E23"/>
                </a:solidFill>
                <a:latin typeface="Avenir Next"/>
                <a:ea typeface="Avenir Next"/>
                <a:cs typeface="Avenir Next"/>
              </a:rPr>
              <a:t>Changing code before validating the finding</a:t>
            </a:r>
          </a:p>
        </p:txBody>
      </p:sp>
      <p:sp>
        <p:nvSpPr>
          <p:cNvPr id="5" name="Using agent agreement as a substitute for evi">
            <a:extLst xmlns:a="http://schemas.openxmlformats.org/drawingml/2006/main">
              <a:ext uri="{FF2B5EF4-FFF2-40B4-BE49-F238E27FC236}">
                <a16:creationId xmlns:a16="http://schemas.microsoft.com/office/drawing/2014/main" id="{6C29B50D-787A-4BC8-A235-D637952A1E9D}"/>
              </a:ext>
            </a:extLst>
          </p:cNvPr>
          <p:cNvSpPr>
            <a:spLocks xmlns:a="http://schemas.openxmlformats.org/drawingml/2006/main" noGrp="1"/>
          </p:cNvSpPr>
          <p:nvPr/>
        </p:nvSpPr>
        <p:spPr>
          <a:xfrm xmlns:a="http://schemas.openxmlformats.org/drawingml/2006/main">
            <a:off x="762000" y="43053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4B2E23"/>
                </a:solidFill>
                <a:latin typeface="Avenir Next"/>
                <a:ea typeface="Avenir Next"/>
                <a:cs typeface="Avenir Next"/>
              </a:defRPr>
            </a:defPPr>
            <a:lvl1pPr>
              <a:defRPr sz="2550" b="0">
                <a:solidFill>
                  <a:srgbClr val="4B2E23"/>
                </a:solidFill>
                <a:latin typeface="Avenir Next"/>
                <a:ea typeface="Avenir Next"/>
                <a:cs typeface="Avenir Next"/>
              </a:defRPr>
            </a:lvl1pPr>
            <a:lvl2pPr>
              <a:defRPr sz="2550" b="0">
                <a:solidFill>
                  <a:srgbClr val="4B2E23"/>
                </a:solidFill>
                <a:latin typeface="Avenir Next"/>
                <a:ea typeface="Avenir Next"/>
                <a:cs typeface="Avenir Next"/>
              </a:defRPr>
            </a:lvl2pPr>
            <a:lvl3pPr>
              <a:defRPr sz="2550" b="0">
                <a:solidFill>
                  <a:srgbClr val="4B2E23"/>
                </a:solidFill>
                <a:latin typeface="Avenir Next"/>
                <a:ea typeface="Avenir Next"/>
                <a:cs typeface="Avenir Next"/>
              </a:defRPr>
            </a:lvl3pPr>
            <a:lvl4pPr>
              <a:defRPr sz="2550" b="0">
                <a:solidFill>
                  <a:srgbClr val="4B2E23"/>
                </a:solidFill>
                <a:latin typeface="Avenir Next"/>
                <a:ea typeface="Avenir Next"/>
                <a:cs typeface="Avenir Next"/>
              </a:defRPr>
            </a:lvl4pPr>
            <a:lvl5pPr>
              <a:defRPr sz="2550" b="0">
                <a:solidFill>
                  <a:srgbClr val="4B2E23"/>
                </a:solidFill>
                <a:latin typeface="Avenir Next"/>
                <a:ea typeface="Avenir Next"/>
                <a:cs typeface="Avenir Next"/>
              </a:defRPr>
            </a:lvl5pPr>
            <a:lvl6pPr>
              <a:defRPr sz="2550" b="0">
                <a:solidFill>
                  <a:srgbClr val="4B2E23"/>
                </a:solidFill>
                <a:latin typeface="Avenir Next"/>
                <a:ea typeface="Avenir Next"/>
                <a:cs typeface="Avenir Next"/>
              </a:defRPr>
            </a:lvl6pPr>
            <a:lvl7pPr>
              <a:defRPr sz="2550" b="0">
                <a:solidFill>
                  <a:srgbClr val="4B2E23"/>
                </a:solidFill>
                <a:latin typeface="Avenir Next"/>
                <a:ea typeface="Avenir Next"/>
                <a:cs typeface="Avenir Next"/>
              </a:defRPr>
            </a:lvl7pPr>
            <a:lvl8pPr>
              <a:defRPr sz="2550" b="0">
                <a:solidFill>
                  <a:srgbClr val="4B2E23"/>
                </a:solidFill>
                <a:latin typeface="Avenir Next"/>
                <a:ea typeface="Avenir Next"/>
                <a:cs typeface="Avenir Next"/>
              </a:defRPr>
            </a:lvl8pPr>
            <a:lvl9pPr>
              <a:defRPr sz="2550" b="0">
                <a:solidFill>
                  <a:srgbClr val="4B2E23"/>
                </a:solidFill>
                <a:latin typeface="Avenir Next"/>
                <a:ea typeface="Avenir Next"/>
                <a:cs typeface="Avenir Next"/>
              </a:defRPr>
            </a:lvl9pPr>
          </a:lstStyle>
          <a:p xmlns:a="http://schemas.openxmlformats.org/drawingml/2006/main">
            <a:pPr>
              <a:defRPr sz="2550" b="0">
                <a:solidFill>
                  <a:srgbClr val="4B2E23"/>
                </a:solidFill>
                <a:latin typeface="Avenir Next"/>
                <a:ea typeface="Avenir Next"/>
                <a:cs typeface="Avenir Next"/>
              </a:defRPr>
            </a:pPr>
            <a:r>
              <a:rPr sz="2550" b="0">
                <a:solidFill>
                  <a:srgbClr val="4B2E23"/>
                </a:solidFill>
                <a:latin typeface="Avenir Next"/>
                <a:ea typeface="Avenir Next"/>
                <a:cs typeface="Avenir Next"/>
              </a:rPr>
              <a:t>Using agent agreement as a substitute for evidence</a:t>
            </a:r>
          </a:p>
        </p:txBody>
      </p:sp>
      <p:sp>
        <p:nvSpPr>
          <p:cNvPr id="6" name="Letting one green check hide missing verifica">
            <a:extLst xmlns:a="http://schemas.openxmlformats.org/drawingml/2006/main">
              <a:ext uri="{FF2B5EF4-FFF2-40B4-BE49-F238E27FC236}">
                <a16:creationId xmlns:a16="http://schemas.microsoft.com/office/drawing/2014/main" id="{921554E0-76FC-4884-956C-2A4D0473E77A}"/>
              </a:ext>
            </a:extLst>
          </p:cNvPr>
          <p:cNvSpPr>
            <a:spLocks xmlns:a="http://schemas.openxmlformats.org/drawingml/2006/main" noGrp="1"/>
          </p:cNvSpPr>
          <p:nvPr/>
        </p:nvSpPr>
        <p:spPr>
          <a:xfrm xmlns:a="http://schemas.openxmlformats.org/drawingml/2006/main">
            <a:off x="762000" y="54102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4B2E23"/>
                </a:solidFill>
                <a:latin typeface="Avenir Next"/>
                <a:ea typeface="Avenir Next"/>
                <a:cs typeface="Avenir Next"/>
              </a:defRPr>
            </a:defPPr>
            <a:lvl1pPr>
              <a:defRPr sz="2550" b="0">
                <a:solidFill>
                  <a:srgbClr val="4B2E23"/>
                </a:solidFill>
                <a:latin typeface="Avenir Next"/>
                <a:ea typeface="Avenir Next"/>
                <a:cs typeface="Avenir Next"/>
              </a:defRPr>
            </a:lvl1pPr>
            <a:lvl2pPr>
              <a:defRPr sz="2550" b="0">
                <a:solidFill>
                  <a:srgbClr val="4B2E23"/>
                </a:solidFill>
                <a:latin typeface="Avenir Next"/>
                <a:ea typeface="Avenir Next"/>
                <a:cs typeface="Avenir Next"/>
              </a:defRPr>
            </a:lvl2pPr>
            <a:lvl3pPr>
              <a:defRPr sz="2550" b="0">
                <a:solidFill>
                  <a:srgbClr val="4B2E23"/>
                </a:solidFill>
                <a:latin typeface="Avenir Next"/>
                <a:ea typeface="Avenir Next"/>
                <a:cs typeface="Avenir Next"/>
              </a:defRPr>
            </a:lvl3pPr>
            <a:lvl4pPr>
              <a:defRPr sz="2550" b="0">
                <a:solidFill>
                  <a:srgbClr val="4B2E23"/>
                </a:solidFill>
                <a:latin typeface="Avenir Next"/>
                <a:ea typeface="Avenir Next"/>
                <a:cs typeface="Avenir Next"/>
              </a:defRPr>
            </a:lvl4pPr>
            <a:lvl5pPr>
              <a:defRPr sz="2550" b="0">
                <a:solidFill>
                  <a:srgbClr val="4B2E23"/>
                </a:solidFill>
                <a:latin typeface="Avenir Next"/>
                <a:ea typeface="Avenir Next"/>
                <a:cs typeface="Avenir Next"/>
              </a:defRPr>
            </a:lvl5pPr>
            <a:lvl6pPr>
              <a:defRPr sz="2550" b="0">
                <a:solidFill>
                  <a:srgbClr val="4B2E23"/>
                </a:solidFill>
                <a:latin typeface="Avenir Next"/>
                <a:ea typeface="Avenir Next"/>
                <a:cs typeface="Avenir Next"/>
              </a:defRPr>
            </a:lvl6pPr>
            <a:lvl7pPr>
              <a:defRPr sz="2550" b="0">
                <a:solidFill>
                  <a:srgbClr val="4B2E23"/>
                </a:solidFill>
                <a:latin typeface="Avenir Next"/>
                <a:ea typeface="Avenir Next"/>
                <a:cs typeface="Avenir Next"/>
              </a:defRPr>
            </a:lvl7pPr>
            <a:lvl8pPr>
              <a:defRPr sz="2550" b="0">
                <a:solidFill>
                  <a:srgbClr val="4B2E23"/>
                </a:solidFill>
                <a:latin typeface="Avenir Next"/>
                <a:ea typeface="Avenir Next"/>
                <a:cs typeface="Avenir Next"/>
              </a:defRPr>
            </a:lvl8pPr>
            <a:lvl9pPr>
              <a:defRPr sz="2550" b="0">
                <a:solidFill>
                  <a:srgbClr val="4B2E23"/>
                </a:solidFill>
                <a:latin typeface="Avenir Next"/>
                <a:ea typeface="Avenir Next"/>
                <a:cs typeface="Avenir Next"/>
              </a:defRPr>
            </a:lvl9pPr>
          </a:lstStyle>
          <a:p xmlns:a="http://schemas.openxmlformats.org/drawingml/2006/main">
            <a:pPr>
              <a:defRPr sz="2550" b="0">
                <a:solidFill>
                  <a:srgbClr val="4B2E23"/>
                </a:solidFill>
                <a:latin typeface="Avenir Next"/>
                <a:ea typeface="Avenir Next"/>
                <a:cs typeface="Avenir Next"/>
              </a:defRPr>
            </a:pPr>
            <a:r>
              <a:rPr sz="2550" b="0">
                <a:solidFill>
                  <a:srgbClr val="4B2E23"/>
                </a:solidFill>
                <a:latin typeface="Avenir Next"/>
                <a:ea typeface="Avenir Next"/>
                <a:cs typeface="Avenir Next"/>
              </a:rPr>
              <a:t>Letting one green check hide missing verification</a:t>
            </a:r>
          </a:p>
        </p:txBody>
      </p:sp>
    </p:spTree>
    <p:extLst>
      <p:ext uri="{BB962C8B-B14F-4D97-AF65-F5344CB8AC3E}">
        <p14:creationId xmlns:p14="http://schemas.microsoft.com/office/powerpoint/2010/main" val="1738422702"/>
      </p:ext>
    </p:extLst>
  </p:cSld>
</p:sld>
</file>

<file path=ppt/slides/slide11.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4" name="Company lessons worth copying">
            <a:extLst xmlns:a="http://schemas.openxmlformats.org/drawingml/2006/main">
              <a:ext uri="{FF2B5EF4-FFF2-40B4-BE49-F238E27FC236}">
                <a16:creationId xmlns:a16="http://schemas.microsoft.com/office/drawing/2014/main" id="{50286D41-F8E9-4C10-81CA-DBB88840AD0D}"/>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Company lessons worth copying</a:t>
            </a:r>
          </a:p>
        </p:txBody>
      </p:sp>
      <p:sp>
        <p:nvSpPr>
          <p:cNvPr id="2" name="11">
            <a:extLst xmlns:a="http://schemas.openxmlformats.org/drawingml/2006/main">
              <a:ext uri="{FF2B5EF4-FFF2-40B4-BE49-F238E27FC236}">
                <a16:creationId xmlns:a16="http://schemas.microsoft.com/office/drawing/2014/main" id="{F4B6DB25-4CA2-4940-B848-402C49C08D06}"/>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11</a:t>
            </a:r>
          </a:p>
        </p:txBody>
      </p:sp>
      <p:graphicFrame>
        <p:nvGraphicFramePr>
          <p:cNvPr id="3" name="">
            <a:extLst xmlns:a="http://schemas.openxmlformats.org/drawingml/2006/main">
              <a:ext uri="{FF2B5EF4-FFF2-40B4-BE49-F238E27FC236}">
                <a16:creationId xmlns:a16="http://schemas.microsoft.com/office/drawing/2014/main" id="{9DD7DEF7-E360-421D-9690-A28E5E0943AA}"/>
              </a:ext>
            </a:extLst>
          </p:cNvPr>
          <p:cNvGraphicFramePr/>
          <p:nvPr/>
        </p:nvGraphicFramePr>
        <p:xfrm>
          <a:off xmlns:a="http://schemas.openxmlformats.org/drawingml/2006/main" x="723900" y="1914525"/>
          <a:ext xmlns:a="http://schemas.openxmlformats.org/drawingml/2006/main" cx="10744200" cy="4000500"/>
        </p:xfrm>
        <a:graphic xmlns:a="http://schemas.openxmlformats.org/drawingml/2006/main">
          <a:graphicData uri="http://schemas.openxmlformats.org/drawingml/2006/table">
            <a:tbl>
              <a:tblPr/>
              <a:tblGrid>
                <a:gridCol w="2667000"/>
                <a:gridCol w="8077200"/>
              </a:tblGrid>
              <a:tr h="666750">
                <a:tc>
                  <a:txBody>
                    <a:bodyPr/>
                    <a:lstStyle/>
                    <a:p>
                      <a:r>
                        <a:rPr sz="1650" b="1">
                          <a:solidFill>
                            <a:srgbClr val="FFFFFF"/>
                          </a:solidFill>
                          <a:latin typeface="Avenir Next"/>
                          <a:ea typeface="Avenir Next"/>
                          <a:cs typeface="Avenir Next"/>
                        </a:rPr>
                        <a:t>Company</a:t>
                      </a:r>
                    </a:p>
                  </a:txBody>
                  <a:tcPr marL="91440" marR="91440" marT="45720" marB="45720">
                    <a:lnL w="9525">
                      <a:solidFill>
                        <a:srgbClr val="E7E1D5"/>
                      </a:solidFill>
                      <a:prstDash val="solid"/>
                    </a:lnL>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Useful lesson</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r>
              <a:tr h="666750">
                <a:tc>
                  <a:txBody>
                    <a:bodyPr/>
                    <a:lstStyle/>
                    <a:p>
                      <a:r>
                        <a:rPr sz="1800" b="0">
                          <a:solidFill>
                            <a:srgbClr val="4B2E23"/>
                          </a:solidFill>
                          <a:latin typeface="Avenir Next"/>
                          <a:ea typeface="Avenir Next"/>
                          <a:cs typeface="Avenir Next"/>
                        </a:rPr>
                        <a:t>Uber</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Filter weak and repetitive findings</a:t>
                      </a:r>
                    </a:p>
                  </a:txBody>
                  <a:tcPr marL="91440" marR="91440" marT="45720" marB="45720">
                    <a:lnR w="9525">
                      <a:solidFill>
                        <a:srgbClr val="E7E1D5"/>
                      </a:solidFill>
                      <a:prstDash val="solid"/>
                    </a:lnR>
                    <a:lnB w="9525">
                      <a:solidFill>
                        <a:srgbClr val="E7E1D5"/>
                      </a:solidFill>
                      <a:prstDash val="solid"/>
                    </a:lnB>
                    <a:solidFill>
                      <a:srgbClr val="F4EFE6"/>
                    </a:solidFill>
                  </a:tcPr>
                </a:tc>
              </a:tr>
              <a:tr h="666750">
                <a:tc>
                  <a:txBody>
                    <a:bodyPr/>
                    <a:lstStyle/>
                    <a:p>
                      <a:r>
                        <a:rPr sz="1800" b="0">
                          <a:solidFill>
                            <a:srgbClr val="4B2E23"/>
                          </a:solidFill>
                          <a:latin typeface="Avenir Next"/>
                          <a:ea typeface="Avenir Next"/>
                          <a:cs typeface="Avenir Next"/>
                        </a:rPr>
                        <a:t>Google</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Test security repairs in context</a:t>
                      </a:r>
                    </a:p>
                  </a:txBody>
                  <a:tcPr marL="91440" marR="91440" marT="45720" marB="45720">
                    <a:lnR w="9525">
                      <a:solidFill>
                        <a:srgbClr val="E7E1D5"/>
                      </a:solidFill>
                      <a:prstDash val="solid"/>
                    </a:lnR>
                    <a:lnB w="9525">
                      <a:solidFill>
                        <a:srgbClr val="E7E1D5"/>
                      </a:solidFill>
                      <a:prstDash val="solid"/>
                    </a:lnB>
                    <a:solidFill>
                      <a:srgbClr val="E7E1D5"/>
                    </a:solidFill>
                  </a:tcPr>
                </a:tc>
              </a:tr>
              <a:tr h="666750">
                <a:tc>
                  <a:txBody>
                    <a:bodyPr/>
                    <a:lstStyle/>
                    <a:p>
                      <a:r>
                        <a:rPr sz="1800" b="0">
                          <a:solidFill>
                            <a:srgbClr val="4B2E23"/>
                          </a:solidFill>
                          <a:latin typeface="Avenir Next"/>
                          <a:ea typeface="Avenir Next"/>
                          <a:cs typeface="Avenir Next"/>
                        </a:rPr>
                        <a:t>Meta</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Use narrow domain checks and owner feedback</a:t>
                      </a:r>
                    </a:p>
                  </a:txBody>
                  <a:tcPr marL="91440" marR="91440" marT="45720" marB="45720">
                    <a:lnR w="9525">
                      <a:solidFill>
                        <a:srgbClr val="E7E1D5"/>
                      </a:solidFill>
                      <a:prstDash val="solid"/>
                    </a:lnR>
                    <a:lnB w="9525">
                      <a:solidFill>
                        <a:srgbClr val="E7E1D5"/>
                      </a:solidFill>
                      <a:prstDash val="solid"/>
                    </a:lnB>
                    <a:solidFill>
                      <a:srgbClr val="F4EFE6"/>
                    </a:solidFill>
                  </a:tcPr>
                </a:tc>
              </a:tr>
              <a:tr h="666750">
                <a:tc>
                  <a:txBody>
                    <a:bodyPr/>
                    <a:lstStyle/>
                    <a:p>
                      <a:r>
                        <a:rPr sz="1800" b="0">
                          <a:solidFill>
                            <a:srgbClr val="4B2E23"/>
                          </a:solidFill>
                          <a:latin typeface="Avenir Next"/>
                          <a:ea typeface="Avenir Next"/>
                          <a:cs typeface="Avenir Next"/>
                        </a:rPr>
                        <a:t>Anthropic</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Stop endless review and fix loops</a:t>
                      </a:r>
                    </a:p>
                  </a:txBody>
                  <a:tcPr marL="91440" marR="91440" marT="45720" marB="45720">
                    <a:lnR w="9525">
                      <a:solidFill>
                        <a:srgbClr val="E7E1D5"/>
                      </a:solidFill>
                      <a:prstDash val="solid"/>
                    </a:lnR>
                    <a:lnB w="9525">
                      <a:solidFill>
                        <a:srgbClr val="E7E1D5"/>
                      </a:solidFill>
                      <a:prstDash val="solid"/>
                    </a:lnB>
                    <a:solidFill>
                      <a:srgbClr val="E7E1D5"/>
                    </a:solidFill>
                  </a:tcPr>
                </a:tc>
              </a:tr>
              <a:tr h="666750">
                <a:tc>
                  <a:txBody>
                    <a:bodyPr/>
                    <a:lstStyle/>
                    <a:p>
                      <a:r>
                        <a:rPr sz="1800" b="0">
                          <a:solidFill>
                            <a:srgbClr val="4B2E23"/>
                          </a:solidFill>
                          <a:latin typeface="Avenir Next"/>
                          <a:ea typeface="Avenir Next"/>
                          <a:cs typeface="Avenir Next"/>
                        </a:rPr>
                        <a:t>SpaceX</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Internal review details remain undocumented</a:t>
                      </a:r>
                    </a:p>
                  </a:txBody>
                  <a:tcPr marL="91440" marR="91440" marT="45720" marB="45720">
                    <a:lnR w="9525">
                      <a:solidFill>
                        <a:srgbClr val="E7E1D5"/>
                      </a:solidFill>
                      <a:prstDash val="solid"/>
                    </a:lnR>
                    <a:lnB w="9525">
                      <a:solidFill>
                        <a:srgbClr val="E7E1D5"/>
                      </a:solidFill>
                      <a:prstDash val="solid"/>
                    </a:lnB>
                    <a:solidFill>
                      <a:srgbClr val="F4EFE6"/>
                    </a:solidFill>
                  </a:tcPr>
                </a:tc>
              </a:tr>
            </a:tbl>
          </a:graphicData>
        </a:graphic>
      </p:graphicFrame>
    </p:spTree>
    <p:extLst>
      <p:ext uri="{BB962C8B-B14F-4D97-AF65-F5344CB8AC3E}">
        <p14:creationId xmlns:p14="http://schemas.microsoft.com/office/powerpoint/2010/main" val="1236221021"/>
      </p:ext>
    </p:extLst>
  </p:cSld>
</p:sld>
</file>

<file path=ppt/slides/slide12.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8" name="What trustworthy means">
            <a:extLst xmlns:a="http://schemas.openxmlformats.org/drawingml/2006/main">
              <a:ext uri="{FF2B5EF4-FFF2-40B4-BE49-F238E27FC236}">
                <a16:creationId xmlns:a16="http://schemas.microsoft.com/office/drawing/2014/main" id="{E1E1CEC6-B2F1-4376-88BE-B0EAE83065C0}"/>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What trustworthy means</a:t>
            </a:r>
          </a:p>
        </p:txBody>
      </p:sp>
      <p:sp>
        <p:nvSpPr>
          <p:cNvPr id="2" name="12">
            <a:extLst xmlns:a="http://schemas.openxmlformats.org/drawingml/2006/main">
              <a:ext uri="{FF2B5EF4-FFF2-40B4-BE49-F238E27FC236}">
                <a16:creationId xmlns:a16="http://schemas.microsoft.com/office/drawing/2014/main" id="{D66F2C2C-354D-435C-AFC0-7AC8313662D4}"/>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12</a:t>
            </a:r>
          </a:p>
        </p:txBody>
      </p:sp>
      <p:sp>
        <p:nvSpPr>
          <p:cNvPr id="3" name="Correct findings">
            <a:extLst xmlns:a="http://schemas.openxmlformats.org/drawingml/2006/main">
              <a:ext uri="{FF2B5EF4-FFF2-40B4-BE49-F238E27FC236}">
                <a16:creationId xmlns:a16="http://schemas.microsoft.com/office/drawing/2014/main" id="{6EF5BF27-AD22-4906-ABB9-197B5F80FDFF}"/>
              </a:ext>
            </a:extLst>
          </p:cNvPr>
          <p:cNvSpPr>
            <a:spLocks xmlns:a="http://schemas.openxmlformats.org/drawingml/2006/main" noGrp="1"/>
          </p:cNvSpPr>
          <p:nvPr/>
        </p:nvSpPr>
        <p:spPr>
          <a:xfrm xmlns:a="http://schemas.openxmlformats.org/drawingml/2006/main">
            <a:off x="762000" y="2238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8E5033"/>
                </a:solidFill>
                <a:latin typeface="Georgia"/>
                <a:ea typeface="Georgia"/>
                <a:cs typeface="Georgia"/>
              </a:defRPr>
            </a:defPPr>
            <a:lvl1pPr>
              <a:defRPr sz="3225" b="0">
                <a:solidFill>
                  <a:srgbClr val="8E5033"/>
                </a:solidFill>
                <a:latin typeface="Georgia"/>
                <a:ea typeface="Georgia"/>
                <a:cs typeface="Georgia"/>
              </a:defRPr>
            </a:lvl1pPr>
            <a:lvl2pPr>
              <a:defRPr sz="3225" b="0">
                <a:solidFill>
                  <a:srgbClr val="8E5033"/>
                </a:solidFill>
                <a:latin typeface="Georgia"/>
                <a:ea typeface="Georgia"/>
                <a:cs typeface="Georgia"/>
              </a:defRPr>
            </a:lvl2pPr>
            <a:lvl3pPr>
              <a:defRPr sz="3225" b="0">
                <a:solidFill>
                  <a:srgbClr val="8E5033"/>
                </a:solidFill>
                <a:latin typeface="Georgia"/>
                <a:ea typeface="Georgia"/>
                <a:cs typeface="Georgia"/>
              </a:defRPr>
            </a:lvl3pPr>
            <a:lvl4pPr>
              <a:defRPr sz="3225" b="0">
                <a:solidFill>
                  <a:srgbClr val="8E5033"/>
                </a:solidFill>
                <a:latin typeface="Georgia"/>
                <a:ea typeface="Georgia"/>
                <a:cs typeface="Georgia"/>
              </a:defRPr>
            </a:lvl4pPr>
            <a:lvl5pPr>
              <a:defRPr sz="3225" b="0">
                <a:solidFill>
                  <a:srgbClr val="8E5033"/>
                </a:solidFill>
                <a:latin typeface="Georgia"/>
                <a:ea typeface="Georgia"/>
                <a:cs typeface="Georgia"/>
              </a:defRPr>
            </a:lvl5pPr>
            <a:lvl6pPr>
              <a:defRPr sz="3225" b="0">
                <a:solidFill>
                  <a:srgbClr val="8E5033"/>
                </a:solidFill>
                <a:latin typeface="Georgia"/>
                <a:ea typeface="Georgia"/>
                <a:cs typeface="Georgia"/>
              </a:defRPr>
            </a:lvl6pPr>
            <a:lvl7pPr>
              <a:defRPr sz="3225" b="0">
                <a:solidFill>
                  <a:srgbClr val="8E5033"/>
                </a:solidFill>
                <a:latin typeface="Georgia"/>
                <a:ea typeface="Georgia"/>
                <a:cs typeface="Georgia"/>
              </a:defRPr>
            </a:lvl7pPr>
            <a:lvl8pPr>
              <a:defRPr sz="3225" b="0">
                <a:solidFill>
                  <a:srgbClr val="8E5033"/>
                </a:solidFill>
                <a:latin typeface="Georgia"/>
                <a:ea typeface="Georgia"/>
                <a:cs typeface="Georgia"/>
              </a:defRPr>
            </a:lvl8pPr>
            <a:lvl9pPr>
              <a:defRPr sz="3225" b="0">
                <a:solidFill>
                  <a:srgbClr val="8E5033"/>
                </a:solidFill>
                <a:latin typeface="Georgia"/>
                <a:ea typeface="Georgia"/>
                <a:cs typeface="Georgia"/>
              </a:defRPr>
            </a:lvl9pPr>
          </a:lstStyle>
          <a:p xmlns:a="http://schemas.openxmlformats.org/drawingml/2006/main">
            <a:pPr>
              <a:defRPr sz="3225" b="0">
                <a:solidFill>
                  <a:srgbClr val="8E5033"/>
                </a:solidFill>
                <a:latin typeface="Georgia"/>
                <a:ea typeface="Georgia"/>
                <a:cs typeface="Georgia"/>
              </a:defRPr>
            </a:pPr>
            <a:r>
              <a:rPr sz="3225" b="0">
                <a:solidFill>
                  <a:srgbClr val="8E5033"/>
                </a:solidFill>
                <a:latin typeface="Georgia"/>
                <a:ea typeface="Georgia"/>
                <a:cs typeface="Georgia"/>
              </a:rPr>
              <a:t>Correct findings</a:t>
            </a:r>
          </a:p>
        </p:txBody>
      </p:sp>
      <p:sp>
        <p:nvSpPr>
          <p:cNvPr id="4" name="Missed important bugs">
            <a:extLst xmlns:a="http://schemas.openxmlformats.org/drawingml/2006/main">
              <a:ext uri="{FF2B5EF4-FFF2-40B4-BE49-F238E27FC236}">
                <a16:creationId xmlns:a16="http://schemas.microsoft.com/office/drawing/2014/main" id="{BDCDEC3D-D1D5-4345-86D7-A133E2F7A7EA}"/>
              </a:ext>
            </a:extLst>
          </p:cNvPr>
          <p:cNvSpPr>
            <a:spLocks xmlns:a="http://schemas.openxmlformats.org/drawingml/2006/main" noGrp="1"/>
          </p:cNvSpPr>
          <p:nvPr/>
        </p:nvSpPr>
        <p:spPr>
          <a:xfrm xmlns:a="http://schemas.openxmlformats.org/drawingml/2006/main">
            <a:off x="6572250" y="22383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8E5033"/>
                </a:solidFill>
                <a:latin typeface="Georgia"/>
                <a:ea typeface="Georgia"/>
                <a:cs typeface="Georgia"/>
              </a:defRPr>
            </a:defPPr>
            <a:lvl1pPr>
              <a:defRPr sz="3225" b="0">
                <a:solidFill>
                  <a:srgbClr val="8E5033"/>
                </a:solidFill>
                <a:latin typeface="Georgia"/>
                <a:ea typeface="Georgia"/>
                <a:cs typeface="Georgia"/>
              </a:defRPr>
            </a:lvl1pPr>
            <a:lvl2pPr>
              <a:defRPr sz="3225" b="0">
                <a:solidFill>
                  <a:srgbClr val="8E5033"/>
                </a:solidFill>
                <a:latin typeface="Georgia"/>
                <a:ea typeface="Georgia"/>
                <a:cs typeface="Georgia"/>
              </a:defRPr>
            </a:lvl2pPr>
            <a:lvl3pPr>
              <a:defRPr sz="3225" b="0">
                <a:solidFill>
                  <a:srgbClr val="8E5033"/>
                </a:solidFill>
                <a:latin typeface="Georgia"/>
                <a:ea typeface="Georgia"/>
                <a:cs typeface="Georgia"/>
              </a:defRPr>
            </a:lvl3pPr>
            <a:lvl4pPr>
              <a:defRPr sz="3225" b="0">
                <a:solidFill>
                  <a:srgbClr val="8E5033"/>
                </a:solidFill>
                <a:latin typeface="Georgia"/>
                <a:ea typeface="Georgia"/>
                <a:cs typeface="Georgia"/>
              </a:defRPr>
            </a:lvl4pPr>
            <a:lvl5pPr>
              <a:defRPr sz="3225" b="0">
                <a:solidFill>
                  <a:srgbClr val="8E5033"/>
                </a:solidFill>
                <a:latin typeface="Georgia"/>
                <a:ea typeface="Georgia"/>
                <a:cs typeface="Georgia"/>
              </a:defRPr>
            </a:lvl5pPr>
            <a:lvl6pPr>
              <a:defRPr sz="3225" b="0">
                <a:solidFill>
                  <a:srgbClr val="8E5033"/>
                </a:solidFill>
                <a:latin typeface="Georgia"/>
                <a:ea typeface="Georgia"/>
                <a:cs typeface="Georgia"/>
              </a:defRPr>
            </a:lvl6pPr>
            <a:lvl7pPr>
              <a:defRPr sz="3225" b="0">
                <a:solidFill>
                  <a:srgbClr val="8E5033"/>
                </a:solidFill>
                <a:latin typeface="Georgia"/>
                <a:ea typeface="Georgia"/>
                <a:cs typeface="Georgia"/>
              </a:defRPr>
            </a:lvl7pPr>
            <a:lvl8pPr>
              <a:defRPr sz="3225" b="0">
                <a:solidFill>
                  <a:srgbClr val="8E5033"/>
                </a:solidFill>
                <a:latin typeface="Georgia"/>
                <a:ea typeface="Georgia"/>
                <a:cs typeface="Georgia"/>
              </a:defRPr>
            </a:lvl8pPr>
            <a:lvl9pPr>
              <a:defRPr sz="3225" b="0">
                <a:solidFill>
                  <a:srgbClr val="8E5033"/>
                </a:solidFill>
                <a:latin typeface="Georgia"/>
                <a:ea typeface="Georgia"/>
                <a:cs typeface="Georgia"/>
              </a:defRPr>
            </a:lvl9pPr>
          </a:lstStyle>
          <a:p xmlns:a="http://schemas.openxmlformats.org/drawingml/2006/main">
            <a:pPr>
              <a:defRPr sz="3225" b="0">
                <a:solidFill>
                  <a:srgbClr val="8E5033"/>
                </a:solidFill>
                <a:latin typeface="Georgia"/>
                <a:ea typeface="Georgia"/>
                <a:cs typeface="Georgia"/>
              </a:defRPr>
            </a:pPr>
            <a:r>
              <a:rPr sz="3225" b="0">
                <a:solidFill>
                  <a:srgbClr val="8E5033"/>
                </a:solidFill>
                <a:latin typeface="Georgia"/>
                <a:ea typeface="Georgia"/>
                <a:cs typeface="Georgia"/>
              </a:rPr>
              <a:t>Missed important bugs</a:t>
            </a:r>
          </a:p>
        </p:txBody>
      </p:sp>
      <p:sp>
        <p:nvSpPr>
          <p:cNvPr id="5" name="Safe fixes">
            <a:extLst xmlns:a="http://schemas.openxmlformats.org/drawingml/2006/main">
              <a:ext uri="{FF2B5EF4-FFF2-40B4-BE49-F238E27FC236}">
                <a16:creationId xmlns:a16="http://schemas.microsoft.com/office/drawing/2014/main" id="{865D6EAB-E87A-4804-871C-B22124B1BFB7}"/>
              </a:ext>
            </a:extLst>
          </p:cNvPr>
          <p:cNvSpPr>
            <a:spLocks xmlns:a="http://schemas.openxmlformats.org/drawingml/2006/main" noGrp="1"/>
          </p:cNvSpPr>
          <p:nvPr/>
        </p:nvSpPr>
        <p:spPr>
          <a:xfrm xmlns:a="http://schemas.openxmlformats.org/drawingml/2006/main">
            <a:off x="762000" y="3952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8E5033"/>
                </a:solidFill>
                <a:latin typeface="Georgia"/>
                <a:ea typeface="Georgia"/>
                <a:cs typeface="Georgia"/>
              </a:defRPr>
            </a:defPPr>
            <a:lvl1pPr>
              <a:defRPr sz="3225" b="0">
                <a:solidFill>
                  <a:srgbClr val="8E5033"/>
                </a:solidFill>
                <a:latin typeface="Georgia"/>
                <a:ea typeface="Georgia"/>
                <a:cs typeface="Georgia"/>
              </a:defRPr>
            </a:lvl1pPr>
            <a:lvl2pPr>
              <a:defRPr sz="3225" b="0">
                <a:solidFill>
                  <a:srgbClr val="8E5033"/>
                </a:solidFill>
                <a:latin typeface="Georgia"/>
                <a:ea typeface="Georgia"/>
                <a:cs typeface="Georgia"/>
              </a:defRPr>
            </a:lvl2pPr>
            <a:lvl3pPr>
              <a:defRPr sz="3225" b="0">
                <a:solidFill>
                  <a:srgbClr val="8E5033"/>
                </a:solidFill>
                <a:latin typeface="Georgia"/>
                <a:ea typeface="Georgia"/>
                <a:cs typeface="Georgia"/>
              </a:defRPr>
            </a:lvl3pPr>
            <a:lvl4pPr>
              <a:defRPr sz="3225" b="0">
                <a:solidFill>
                  <a:srgbClr val="8E5033"/>
                </a:solidFill>
                <a:latin typeface="Georgia"/>
                <a:ea typeface="Georgia"/>
                <a:cs typeface="Georgia"/>
              </a:defRPr>
            </a:lvl4pPr>
            <a:lvl5pPr>
              <a:defRPr sz="3225" b="0">
                <a:solidFill>
                  <a:srgbClr val="8E5033"/>
                </a:solidFill>
                <a:latin typeface="Georgia"/>
                <a:ea typeface="Georgia"/>
                <a:cs typeface="Georgia"/>
              </a:defRPr>
            </a:lvl5pPr>
            <a:lvl6pPr>
              <a:defRPr sz="3225" b="0">
                <a:solidFill>
                  <a:srgbClr val="8E5033"/>
                </a:solidFill>
                <a:latin typeface="Georgia"/>
                <a:ea typeface="Georgia"/>
                <a:cs typeface="Georgia"/>
              </a:defRPr>
            </a:lvl6pPr>
            <a:lvl7pPr>
              <a:defRPr sz="3225" b="0">
                <a:solidFill>
                  <a:srgbClr val="8E5033"/>
                </a:solidFill>
                <a:latin typeface="Georgia"/>
                <a:ea typeface="Georgia"/>
                <a:cs typeface="Georgia"/>
              </a:defRPr>
            </a:lvl7pPr>
            <a:lvl8pPr>
              <a:defRPr sz="3225" b="0">
                <a:solidFill>
                  <a:srgbClr val="8E5033"/>
                </a:solidFill>
                <a:latin typeface="Georgia"/>
                <a:ea typeface="Georgia"/>
                <a:cs typeface="Georgia"/>
              </a:defRPr>
            </a:lvl8pPr>
            <a:lvl9pPr>
              <a:defRPr sz="3225" b="0">
                <a:solidFill>
                  <a:srgbClr val="8E5033"/>
                </a:solidFill>
                <a:latin typeface="Georgia"/>
                <a:ea typeface="Georgia"/>
                <a:cs typeface="Georgia"/>
              </a:defRPr>
            </a:lvl9pPr>
          </a:lstStyle>
          <a:p xmlns:a="http://schemas.openxmlformats.org/drawingml/2006/main">
            <a:pPr>
              <a:defRPr sz="3225" b="0">
                <a:solidFill>
                  <a:srgbClr val="8E5033"/>
                </a:solidFill>
                <a:latin typeface="Georgia"/>
                <a:ea typeface="Georgia"/>
                <a:cs typeface="Georgia"/>
              </a:defRPr>
            </a:pPr>
            <a:r>
              <a:rPr sz="3225" b="0">
                <a:solidFill>
                  <a:srgbClr val="8E5033"/>
                </a:solidFill>
                <a:latin typeface="Georgia"/>
                <a:ea typeface="Georgia"/>
                <a:cs typeface="Georgia"/>
              </a:rPr>
              <a:t>Safe fixes</a:t>
            </a:r>
          </a:p>
        </p:txBody>
      </p:sp>
      <p:sp>
        <p:nvSpPr>
          <p:cNvPr id="6" name="Your time">
            <a:extLst xmlns:a="http://schemas.openxmlformats.org/drawingml/2006/main">
              <a:ext uri="{FF2B5EF4-FFF2-40B4-BE49-F238E27FC236}">
                <a16:creationId xmlns:a16="http://schemas.microsoft.com/office/drawing/2014/main" id="{430FB2C9-F68D-4CA7-83FA-E72F212DFA99}"/>
              </a:ext>
            </a:extLst>
          </p:cNvPr>
          <p:cNvSpPr>
            <a:spLocks xmlns:a="http://schemas.openxmlformats.org/drawingml/2006/main" noGrp="1"/>
          </p:cNvSpPr>
          <p:nvPr/>
        </p:nvSpPr>
        <p:spPr>
          <a:xfrm xmlns:a="http://schemas.openxmlformats.org/drawingml/2006/main">
            <a:off x="6572250" y="3952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8E5033"/>
                </a:solidFill>
                <a:latin typeface="Georgia"/>
                <a:ea typeface="Georgia"/>
                <a:cs typeface="Georgia"/>
              </a:defRPr>
            </a:defPPr>
            <a:lvl1pPr>
              <a:defRPr sz="3225" b="0">
                <a:solidFill>
                  <a:srgbClr val="8E5033"/>
                </a:solidFill>
                <a:latin typeface="Georgia"/>
                <a:ea typeface="Georgia"/>
                <a:cs typeface="Georgia"/>
              </a:defRPr>
            </a:lvl1pPr>
            <a:lvl2pPr>
              <a:defRPr sz="3225" b="0">
                <a:solidFill>
                  <a:srgbClr val="8E5033"/>
                </a:solidFill>
                <a:latin typeface="Georgia"/>
                <a:ea typeface="Georgia"/>
                <a:cs typeface="Georgia"/>
              </a:defRPr>
            </a:lvl2pPr>
            <a:lvl3pPr>
              <a:defRPr sz="3225" b="0">
                <a:solidFill>
                  <a:srgbClr val="8E5033"/>
                </a:solidFill>
                <a:latin typeface="Georgia"/>
                <a:ea typeface="Georgia"/>
                <a:cs typeface="Georgia"/>
              </a:defRPr>
            </a:lvl3pPr>
            <a:lvl4pPr>
              <a:defRPr sz="3225" b="0">
                <a:solidFill>
                  <a:srgbClr val="8E5033"/>
                </a:solidFill>
                <a:latin typeface="Georgia"/>
                <a:ea typeface="Georgia"/>
                <a:cs typeface="Georgia"/>
              </a:defRPr>
            </a:lvl4pPr>
            <a:lvl5pPr>
              <a:defRPr sz="3225" b="0">
                <a:solidFill>
                  <a:srgbClr val="8E5033"/>
                </a:solidFill>
                <a:latin typeface="Georgia"/>
                <a:ea typeface="Georgia"/>
                <a:cs typeface="Georgia"/>
              </a:defRPr>
            </a:lvl5pPr>
            <a:lvl6pPr>
              <a:defRPr sz="3225" b="0">
                <a:solidFill>
                  <a:srgbClr val="8E5033"/>
                </a:solidFill>
                <a:latin typeface="Georgia"/>
                <a:ea typeface="Georgia"/>
                <a:cs typeface="Georgia"/>
              </a:defRPr>
            </a:lvl6pPr>
            <a:lvl7pPr>
              <a:defRPr sz="3225" b="0">
                <a:solidFill>
                  <a:srgbClr val="8E5033"/>
                </a:solidFill>
                <a:latin typeface="Georgia"/>
                <a:ea typeface="Georgia"/>
                <a:cs typeface="Georgia"/>
              </a:defRPr>
            </a:lvl7pPr>
            <a:lvl8pPr>
              <a:defRPr sz="3225" b="0">
                <a:solidFill>
                  <a:srgbClr val="8E5033"/>
                </a:solidFill>
                <a:latin typeface="Georgia"/>
                <a:ea typeface="Georgia"/>
                <a:cs typeface="Georgia"/>
              </a:defRPr>
            </a:lvl8pPr>
            <a:lvl9pPr>
              <a:defRPr sz="3225" b="0">
                <a:solidFill>
                  <a:srgbClr val="8E5033"/>
                </a:solidFill>
                <a:latin typeface="Georgia"/>
                <a:ea typeface="Georgia"/>
                <a:cs typeface="Georgia"/>
              </a:defRPr>
            </a:lvl9pPr>
          </a:lstStyle>
          <a:p xmlns:a="http://schemas.openxmlformats.org/drawingml/2006/main">
            <a:pPr>
              <a:defRPr sz="3225" b="0">
                <a:solidFill>
                  <a:srgbClr val="8E5033"/>
                </a:solidFill>
                <a:latin typeface="Georgia"/>
                <a:ea typeface="Georgia"/>
                <a:cs typeface="Georgia"/>
              </a:defRPr>
            </a:pPr>
            <a:r>
              <a:rPr sz="3225" b="0">
                <a:solidFill>
                  <a:srgbClr val="8E5033"/>
                </a:solidFill>
                <a:latin typeface="Georgia"/>
                <a:ea typeface="Georgia"/>
                <a:cs typeface="Georgia"/>
              </a:rPr>
              <a:t>Your time</a:t>
            </a:r>
          </a:p>
        </p:txBody>
      </p:sp>
      <p:sp>
        <p:nvSpPr>
          <p:cNvPr id="7" name="Measure each separately on representative cha">
            <a:extLst xmlns:a="http://schemas.openxmlformats.org/drawingml/2006/main">
              <a:ext uri="{FF2B5EF4-FFF2-40B4-BE49-F238E27FC236}">
                <a16:creationId xmlns:a16="http://schemas.microsoft.com/office/drawing/2014/main" id="{18B3AF4D-4228-4D4A-8892-B88C9DB3C7DE}"/>
              </a:ext>
            </a:extLst>
          </p:cNvPr>
          <p:cNvSpPr>
            <a:spLocks xmlns:a="http://schemas.openxmlformats.org/drawingml/2006/main" noGrp="1"/>
          </p:cNvSpPr>
          <p:nvPr/>
        </p:nvSpPr>
        <p:spPr>
          <a:xfrm xmlns:a="http://schemas.openxmlformats.org/drawingml/2006/main">
            <a:off x="762000" y="56483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B2E23"/>
                </a:solidFill>
                <a:latin typeface="Avenir Next"/>
                <a:ea typeface="Avenir Next"/>
                <a:cs typeface="Avenir Next"/>
              </a:defRPr>
            </a:defPPr>
            <a:lvl1pPr>
              <a:defRPr sz="2100" b="0">
                <a:solidFill>
                  <a:srgbClr val="4B2E23"/>
                </a:solidFill>
                <a:latin typeface="Avenir Next"/>
                <a:ea typeface="Avenir Next"/>
                <a:cs typeface="Avenir Next"/>
              </a:defRPr>
            </a:lvl1pPr>
            <a:lvl2pPr>
              <a:defRPr sz="2100" b="0">
                <a:solidFill>
                  <a:srgbClr val="4B2E23"/>
                </a:solidFill>
                <a:latin typeface="Avenir Next"/>
                <a:ea typeface="Avenir Next"/>
                <a:cs typeface="Avenir Next"/>
              </a:defRPr>
            </a:lvl2pPr>
            <a:lvl3pPr>
              <a:defRPr sz="2100" b="0">
                <a:solidFill>
                  <a:srgbClr val="4B2E23"/>
                </a:solidFill>
                <a:latin typeface="Avenir Next"/>
                <a:ea typeface="Avenir Next"/>
                <a:cs typeface="Avenir Next"/>
              </a:defRPr>
            </a:lvl3pPr>
            <a:lvl4pPr>
              <a:defRPr sz="2100" b="0">
                <a:solidFill>
                  <a:srgbClr val="4B2E23"/>
                </a:solidFill>
                <a:latin typeface="Avenir Next"/>
                <a:ea typeface="Avenir Next"/>
                <a:cs typeface="Avenir Next"/>
              </a:defRPr>
            </a:lvl4pPr>
            <a:lvl5pPr>
              <a:defRPr sz="2100" b="0">
                <a:solidFill>
                  <a:srgbClr val="4B2E23"/>
                </a:solidFill>
                <a:latin typeface="Avenir Next"/>
                <a:ea typeface="Avenir Next"/>
                <a:cs typeface="Avenir Next"/>
              </a:defRPr>
            </a:lvl5pPr>
            <a:lvl6pPr>
              <a:defRPr sz="2100" b="0">
                <a:solidFill>
                  <a:srgbClr val="4B2E23"/>
                </a:solidFill>
                <a:latin typeface="Avenir Next"/>
                <a:ea typeface="Avenir Next"/>
                <a:cs typeface="Avenir Next"/>
              </a:defRPr>
            </a:lvl6pPr>
            <a:lvl7pPr>
              <a:defRPr sz="2100" b="0">
                <a:solidFill>
                  <a:srgbClr val="4B2E23"/>
                </a:solidFill>
                <a:latin typeface="Avenir Next"/>
                <a:ea typeface="Avenir Next"/>
                <a:cs typeface="Avenir Next"/>
              </a:defRPr>
            </a:lvl7pPr>
            <a:lvl8pPr>
              <a:defRPr sz="2100" b="0">
                <a:solidFill>
                  <a:srgbClr val="4B2E23"/>
                </a:solidFill>
                <a:latin typeface="Avenir Next"/>
                <a:ea typeface="Avenir Next"/>
                <a:cs typeface="Avenir Next"/>
              </a:defRPr>
            </a:lvl8pPr>
            <a:lvl9pPr>
              <a:defRPr sz="2100" b="0">
                <a:solidFill>
                  <a:srgbClr val="4B2E23"/>
                </a:solidFill>
                <a:latin typeface="Avenir Next"/>
                <a:ea typeface="Avenir Next"/>
                <a:cs typeface="Avenir Next"/>
              </a:defRPr>
            </a:lvl9pPr>
          </a:lstStyle>
          <a:p xmlns:a="http://schemas.openxmlformats.org/drawingml/2006/main">
            <a:pPr>
              <a:defRPr sz="2100" b="0">
                <a:solidFill>
                  <a:srgbClr val="4B2E23"/>
                </a:solidFill>
                <a:latin typeface="Avenir Next"/>
                <a:ea typeface="Avenir Next"/>
                <a:cs typeface="Avenir Next"/>
              </a:defRPr>
            </a:pPr>
            <a:r>
              <a:rPr sz="2100" b="0">
                <a:solidFill>
                  <a:srgbClr val="4B2E23"/>
                </a:solidFill>
                <a:latin typeface="Avenir Next"/>
                <a:ea typeface="Avenir Next"/>
                <a:cs typeface="Avenir Next"/>
              </a:rPr>
              <a:t>Measure each separately on representative changes</a:t>
            </a:r>
          </a:p>
        </p:txBody>
      </p:sp>
    </p:spTree>
    <p:extLst>
      <p:ext uri="{BB962C8B-B14F-4D97-AF65-F5344CB8AC3E}">
        <p14:creationId xmlns:p14="http://schemas.microsoft.com/office/powerpoint/2010/main" val="1901499581"/>
      </p:ext>
    </p:extLst>
  </p:cSld>
</p:sld>
</file>

<file path=ppt/slides/slide13.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6" name="The target worth building">
            <a:extLst xmlns:a="http://schemas.openxmlformats.org/drawingml/2006/main">
              <a:ext uri="{FF2B5EF4-FFF2-40B4-BE49-F238E27FC236}">
                <a16:creationId xmlns:a16="http://schemas.microsoft.com/office/drawing/2014/main" id="{E0C529E8-02A9-4D38-B259-D6BA4DA2BDD9}"/>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The target worth building</a:t>
            </a:r>
          </a:p>
        </p:txBody>
      </p:sp>
      <p:sp>
        <p:nvSpPr>
          <p:cNvPr id="2" name="13">
            <a:extLst xmlns:a="http://schemas.openxmlformats.org/drawingml/2006/main">
              <a:ext uri="{FF2B5EF4-FFF2-40B4-BE49-F238E27FC236}">
                <a16:creationId xmlns:a16="http://schemas.microsoft.com/office/drawing/2014/main" id="{5DB26C08-1A99-48AC-AA81-0725FADE875C}"/>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13</a:t>
            </a:r>
          </a:p>
        </p:txBody>
      </p:sp>
      <p:sp>
        <p:nvSpPr>
          <p:cNvPr id="3" name="Take the best ideas">
            <a:extLst xmlns:a="http://schemas.openxmlformats.org/drawingml/2006/main">
              <a:ext uri="{FF2B5EF4-FFF2-40B4-BE49-F238E27FC236}">
                <a16:creationId xmlns:a16="http://schemas.microsoft.com/office/drawing/2014/main" id="{3CCBFFE7-E296-45E1-98F2-DBFF58245DD7}"/>
              </a:ext>
            </a:extLst>
          </p:cNvPr>
          <p:cNvSpPr>
            <a:spLocks xmlns:a="http://schemas.openxmlformats.org/drawingml/2006/main" noGrp="1"/>
          </p:cNvSpPr>
          <p:nvPr/>
        </p:nvSpPr>
        <p:spPr>
          <a:xfrm xmlns:a="http://schemas.openxmlformats.org/drawingml/2006/main">
            <a:off x="762000" y="2095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0">
                <a:solidFill>
                  <a:srgbClr val="8E5033"/>
                </a:solidFill>
                <a:latin typeface="Georgia"/>
                <a:ea typeface="Georgia"/>
                <a:cs typeface="Georgia"/>
              </a:defRPr>
            </a:defPPr>
            <a:lvl1pPr>
              <a:defRPr sz="3750" b="0">
                <a:solidFill>
                  <a:srgbClr val="8E5033"/>
                </a:solidFill>
                <a:latin typeface="Georgia"/>
                <a:ea typeface="Georgia"/>
                <a:cs typeface="Georgia"/>
              </a:defRPr>
            </a:lvl1pPr>
            <a:lvl2pPr>
              <a:defRPr sz="3750" b="0">
                <a:solidFill>
                  <a:srgbClr val="8E5033"/>
                </a:solidFill>
                <a:latin typeface="Georgia"/>
                <a:ea typeface="Georgia"/>
                <a:cs typeface="Georgia"/>
              </a:defRPr>
            </a:lvl2pPr>
            <a:lvl3pPr>
              <a:defRPr sz="3750" b="0">
                <a:solidFill>
                  <a:srgbClr val="8E5033"/>
                </a:solidFill>
                <a:latin typeface="Georgia"/>
                <a:ea typeface="Georgia"/>
                <a:cs typeface="Georgia"/>
              </a:defRPr>
            </a:lvl3pPr>
            <a:lvl4pPr>
              <a:defRPr sz="3750" b="0">
                <a:solidFill>
                  <a:srgbClr val="8E5033"/>
                </a:solidFill>
                <a:latin typeface="Georgia"/>
                <a:ea typeface="Georgia"/>
                <a:cs typeface="Georgia"/>
              </a:defRPr>
            </a:lvl4pPr>
            <a:lvl5pPr>
              <a:defRPr sz="3750" b="0">
                <a:solidFill>
                  <a:srgbClr val="8E5033"/>
                </a:solidFill>
                <a:latin typeface="Georgia"/>
                <a:ea typeface="Georgia"/>
                <a:cs typeface="Georgia"/>
              </a:defRPr>
            </a:lvl5pPr>
            <a:lvl6pPr>
              <a:defRPr sz="3750" b="0">
                <a:solidFill>
                  <a:srgbClr val="8E5033"/>
                </a:solidFill>
                <a:latin typeface="Georgia"/>
                <a:ea typeface="Georgia"/>
                <a:cs typeface="Georgia"/>
              </a:defRPr>
            </a:lvl6pPr>
            <a:lvl7pPr>
              <a:defRPr sz="3750" b="0">
                <a:solidFill>
                  <a:srgbClr val="8E5033"/>
                </a:solidFill>
                <a:latin typeface="Georgia"/>
                <a:ea typeface="Georgia"/>
                <a:cs typeface="Georgia"/>
              </a:defRPr>
            </a:lvl7pPr>
            <a:lvl8pPr>
              <a:defRPr sz="3750" b="0">
                <a:solidFill>
                  <a:srgbClr val="8E5033"/>
                </a:solidFill>
                <a:latin typeface="Georgia"/>
                <a:ea typeface="Georgia"/>
                <a:cs typeface="Georgia"/>
              </a:defRPr>
            </a:lvl8pPr>
            <a:lvl9pPr>
              <a:defRPr sz="3750" b="0">
                <a:solidFill>
                  <a:srgbClr val="8E5033"/>
                </a:solidFill>
                <a:latin typeface="Georgia"/>
                <a:ea typeface="Georgia"/>
                <a:cs typeface="Georgia"/>
              </a:defRPr>
            </a:lvl9pPr>
          </a:lstStyle>
          <a:p xmlns:a="http://schemas.openxmlformats.org/drawingml/2006/main">
            <a:pPr>
              <a:defRPr sz="3750" b="0">
                <a:solidFill>
                  <a:srgbClr val="8E5033"/>
                </a:solidFill>
                <a:latin typeface="Georgia"/>
                <a:ea typeface="Georgia"/>
                <a:cs typeface="Georgia"/>
              </a:defRPr>
            </a:pPr>
            <a:r>
              <a:rPr sz="3750" b="0">
                <a:solidFill>
                  <a:srgbClr val="8E5033"/>
                </a:solidFill>
                <a:latin typeface="Georgia"/>
                <a:ea typeface="Georgia"/>
                <a:cs typeface="Georgia"/>
              </a:rPr>
              <a:t>Take the best ideas</a:t>
            </a:r>
          </a:p>
        </p:txBody>
      </p:sp>
      <p:sp>
        <p:nvSpPr>
          <p:cNvPr id="4" name="Build the missing pieces">
            <a:extLst xmlns:a="http://schemas.openxmlformats.org/drawingml/2006/main">
              <a:ext uri="{FF2B5EF4-FFF2-40B4-BE49-F238E27FC236}">
                <a16:creationId xmlns:a16="http://schemas.microsoft.com/office/drawing/2014/main" id="{E07048F9-53D4-412D-AB66-9B43298BC950}"/>
              </a:ext>
            </a:extLst>
          </p:cNvPr>
          <p:cNvSpPr>
            <a:spLocks xmlns:a="http://schemas.openxmlformats.org/drawingml/2006/main" noGrp="1"/>
          </p:cNvSpPr>
          <p:nvPr/>
        </p:nvSpPr>
        <p:spPr>
          <a:xfrm xmlns:a="http://schemas.openxmlformats.org/drawingml/2006/main">
            <a:off x="762000" y="30861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0">
                <a:solidFill>
                  <a:srgbClr val="4B2E23"/>
                </a:solidFill>
                <a:latin typeface="Georgia"/>
                <a:ea typeface="Georgia"/>
                <a:cs typeface="Georgia"/>
              </a:defRPr>
            </a:defPPr>
            <a:lvl1pPr>
              <a:defRPr sz="3750" b="0">
                <a:solidFill>
                  <a:srgbClr val="4B2E23"/>
                </a:solidFill>
                <a:latin typeface="Georgia"/>
                <a:ea typeface="Georgia"/>
                <a:cs typeface="Georgia"/>
              </a:defRPr>
            </a:lvl1pPr>
            <a:lvl2pPr>
              <a:defRPr sz="3750" b="0">
                <a:solidFill>
                  <a:srgbClr val="4B2E23"/>
                </a:solidFill>
                <a:latin typeface="Georgia"/>
                <a:ea typeface="Georgia"/>
                <a:cs typeface="Georgia"/>
              </a:defRPr>
            </a:lvl2pPr>
            <a:lvl3pPr>
              <a:defRPr sz="3750" b="0">
                <a:solidFill>
                  <a:srgbClr val="4B2E23"/>
                </a:solidFill>
                <a:latin typeface="Georgia"/>
                <a:ea typeface="Georgia"/>
                <a:cs typeface="Georgia"/>
              </a:defRPr>
            </a:lvl3pPr>
            <a:lvl4pPr>
              <a:defRPr sz="3750" b="0">
                <a:solidFill>
                  <a:srgbClr val="4B2E23"/>
                </a:solidFill>
                <a:latin typeface="Georgia"/>
                <a:ea typeface="Georgia"/>
                <a:cs typeface="Georgia"/>
              </a:defRPr>
            </a:lvl4pPr>
            <a:lvl5pPr>
              <a:defRPr sz="3750" b="0">
                <a:solidFill>
                  <a:srgbClr val="4B2E23"/>
                </a:solidFill>
                <a:latin typeface="Georgia"/>
                <a:ea typeface="Georgia"/>
                <a:cs typeface="Georgia"/>
              </a:defRPr>
            </a:lvl5pPr>
            <a:lvl6pPr>
              <a:defRPr sz="3750" b="0">
                <a:solidFill>
                  <a:srgbClr val="4B2E23"/>
                </a:solidFill>
                <a:latin typeface="Georgia"/>
                <a:ea typeface="Georgia"/>
                <a:cs typeface="Georgia"/>
              </a:defRPr>
            </a:lvl6pPr>
            <a:lvl7pPr>
              <a:defRPr sz="3750" b="0">
                <a:solidFill>
                  <a:srgbClr val="4B2E23"/>
                </a:solidFill>
                <a:latin typeface="Georgia"/>
                <a:ea typeface="Georgia"/>
                <a:cs typeface="Georgia"/>
              </a:defRPr>
            </a:lvl7pPr>
            <a:lvl8pPr>
              <a:defRPr sz="3750" b="0">
                <a:solidFill>
                  <a:srgbClr val="4B2E23"/>
                </a:solidFill>
                <a:latin typeface="Georgia"/>
                <a:ea typeface="Georgia"/>
                <a:cs typeface="Georgia"/>
              </a:defRPr>
            </a:lvl8pPr>
            <a:lvl9pPr>
              <a:defRPr sz="3750" b="0">
                <a:solidFill>
                  <a:srgbClr val="4B2E23"/>
                </a:solidFill>
                <a:latin typeface="Georgia"/>
                <a:ea typeface="Georgia"/>
                <a:cs typeface="Georgia"/>
              </a:defRPr>
            </a:lvl9pPr>
          </a:lstStyle>
          <a:p xmlns:a="http://schemas.openxmlformats.org/drawingml/2006/main">
            <a:pPr>
              <a:defRPr sz="3750" b="0">
                <a:solidFill>
                  <a:srgbClr val="4B2E23"/>
                </a:solidFill>
                <a:latin typeface="Georgia"/>
                <a:ea typeface="Georgia"/>
                <a:cs typeface="Georgia"/>
              </a:defRPr>
            </a:pPr>
            <a:r>
              <a:rPr sz="3750" b="0">
                <a:solidFill>
                  <a:srgbClr val="4B2E23"/>
                </a:solidFill>
                <a:latin typeface="Georgia"/>
                <a:ea typeface="Georgia"/>
                <a:cs typeface="Georgia"/>
              </a:rPr>
              <a:t>Build the missing pieces</a:t>
            </a:r>
          </a:p>
        </p:txBody>
      </p:sp>
      <p:sp>
        <p:nvSpPr>
          <p:cNvPr id="5" name="Choose code, services and custom blocks&#10;to se">
            <a:extLst xmlns:a="http://schemas.openxmlformats.org/drawingml/2006/main">
              <a:ext uri="{FF2B5EF4-FFF2-40B4-BE49-F238E27FC236}">
                <a16:creationId xmlns:a16="http://schemas.microsoft.com/office/drawing/2014/main" id="{021E1E8F-3677-43DE-BCA9-8D13C89285C4}"/>
              </a:ext>
            </a:extLst>
          </p:cNvPr>
          <p:cNvSpPr>
            <a:spLocks xmlns:a="http://schemas.openxmlformats.org/drawingml/2006/main" noGrp="1"/>
          </p:cNvSpPr>
          <p:nvPr/>
        </p:nvSpPr>
        <p:spPr>
          <a:xfrm xmlns:a="http://schemas.openxmlformats.org/drawingml/2006/main">
            <a:off x="762000" y="4810125"/>
            <a:ext cx="1057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B2E23"/>
                </a:solidFill>
                <a:latin typeface="Avenir Next"/>
                <a:ea typeface="Avenir Next"/>
                <a:cs typeface="Avenir Next"/>
              </a:defRPr>
            </a:defPPr>
            <a:lvl1pPr>
              <a:defRPr sz="2250" b="0">
                <a:solidFill>
                  <a:srgbClr val="4B2E23"/>
                </a:solidFill>
                <a:latin typeface="Avenir Next"/>
                <a:ea typeface="Avenir Next"/>
                <a:cs typeface="Avenir Next"/>
              </a:defRPr>
            </a:lvl1pPr>
            <a:lvl2pPr>
              <a:defRPr sz="2250" b="0">
                <a:solidFill>
                  <a:srgbClr val="4B2E23"/>
                </a:solidFill>
                <a:latin typeface="Avenir Next"/>
                <a:ea typeface="Avenir Next"/>
                <a:cs typeface="Avenir Next"/>
              </a:defRPr>
            </a:lvl2pPr>
            <a:lvl3pPr>
              <a:defRPr sz="2250" b="0">
                <a:solidFill>
                  <a:srgbClr val="4B2E23"/>
                </a:solidFill>
                <a:latin typeface="Avenir Next"/>
                <a:ea typeface="Avenir Next"/>
                <a:cs typeface="Avenir Next"/>
              </a:defRPr>
            </a:lvl3pPr>
            <a:lvl4pPr>
              <a:defRPr sz="2250" b="0">
                <a:solidFill>
                  <a:srgbClr val="4B2E23"/>
                </a:solidFill>
                <a:latin typeface="Avenir Next"/>
                <a:ea typeface="Avenir Next"/>
                <a:cs typeface="Avenir Next"/>
              </a:defRPr>
            </a:lvl4pPr>
            <a:lvl5pPr>
              <a:defRPr sz="2250" b="0">
                <a:solidFill>
                  <a:srgbClr val="4B2E23"/>
                </a:solidFill>
                <a:latin typeface="Avenir Next"/>
                <a:ea typeface="Avenir Next"/>
                <a:cs typeface="Avenir Next"/>
              </a:defRPr>
            </a:lvl5pPr>
            <a:lvl6pPr>
              <a:defRPr sz="2250" b="0">
                <a:solidFill>
                  <a:srgbClr val="4B2E23"/>
                </a:solidFill>
                <a:latin typeface="Avenir Next"/>
                <a:ea typeface="Avenir Next"/>
                <a:cs typeface="Avenir Next"/>
              </a:defRPr>
            </a:lvl6pPr>
            <a:lvl7pPr>
              <a:defRPr sz="2250" b="0">
                <a:solidFill>
                  <a:srgbClr val="4B2E23"/>
                </a:solidFill>
                <a:latin typeface="Avenir Next"/>
                <a:ea typeface="Avenir Next"/>
                <a:cs typeface="Avenir Next"/>
              </a:defRPr>
            </a:lvl7pPr>
            <a:lvl8pPr>
              <a:defRPr sz="2250" b="0">
                <a:solidFill>
                  <a:srgbClr val="4B2E23"/>
                </a:solidFill>
                <a:latin typeface="Avenir Next"/>
                <a:ea typeface="Avenir Next"/>
                <a:cs typeface="Avenir Next"/>
              </a:defRPr>
            </a:lvl8pPr>
            <a:lvl9pPr>
              <a:defRPr sz="2250" b="0">
                <a:solidFill>
                  <a:srgbClr val="4B2E23"/>
                </a:solidFill>
                <a:latin typeface="Avenir Next"/>
                <a:ea typeface="Avenir Next"/>
                <a:cs typeface="Avenir Next"/>
              </a:defRPr>
            </a:lvl9pPr>
          </a:lstStyle>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Choose code, services and custom blocks</a:t>
            </a:r>
          </a:p>
          <a:p xmlns:a="http://schemas.openxmlformats.org/drawingml/2006/main">
            <a:pPr>
              <a:defRPr sz="2250" b="0">
                <a:solidFill>
                  <a:srgbClr val="4B2E23"/>
                </a:solidFill>
                <a:latin typeface="Avenir Next"/>
                <a:ea typeface="Avenir Next"/>
                <a:cs typeface="Avenir Next"/>
              </a:defRPr>
            </a:pPr>
            <a:r>
              <a:rPr sz="2250" b="0">
                <a:solidFill>
                  <a:srgbClr val="4B2E23"/>
                </a:solidFill>
                <a:latin typeface="Avenir Next"/>
                <a:ea typeface="Avenir Next"/>
                <a:cs typeface="Avenir Next"/>
              </a:rPr>
              <a:t>to serve the complete quality design</a:t>
            </a:r>
          </a:p>
        </p:txBody>
      </p:sp>
    </p:spTree>
    <p:extLst>
      <p:ext uri="{BB962C8B-B14F-4D97-AF65-F5344CB8AC3E}">
        <p14:creationId xmlns:p14="http://schemas.microsoft.com/office/powerpoint/2010/main" val="1715054012"/>
      </p:ext>
    </p:extLst>
  </p:cSld>
</p:sld>
</file>

<file path=ppt/slides/slide14.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9EE7083-AA37-4D8A-B27D-FB2049ED80E6}"/>
              </a:ext>
            </a:extLst>
          </p:cNvPr>
          <p:cNvCxnSpPr>
            <a:stCxn xmlns:a="http://schemas.openxmlformats.org/drawingml/2006/main" id="5" idx="3"/>
            <a:endCxn xmlns:a="http://schemas.openxmlformats.org/drawingml/2006/main" id="7" idx="1"/>
          </p:cNvCxnSpPr>
          <p:nvPr/>
        </p:nvCxnSpPr>
        <p:spPr>
          <a:xfrm xmlns:a="http://schemas.openxmlformats.org/drawingml/2006/main">
            <a:off x="7572375" y="3143250"/>
            <a:ext cx="10001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AB74B3AE-5044-4CDE-985F-BECF898FA113}"/>
              </a:ext>
            </a:extLst>
          </p:cNvPr>
          <p:cNvCxnSpPr>
            <a:stCxn xmlns:a="http://schemas.openxmlformats.org/drawingml/2006/main" id="3" idx="3"/>
            <a:endCxn xmlns:a="http://schemas.openxmlformats.org/drawingml/2006/main" id="5" idx="1"/>
          </p:cNvCxnSpPr>
          <p:nvPr/>
        </p:nvCxnSpPr>
        <p:spPr>
          <a:xfrm xmlns:a="http://schemas.openxmlformats.org/drawingml/2006/main">
            <a:off x="3714750" y="3143250"/>
            <a:ext cx="1000125"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sp>
        <p:nvSpPr>
          <p:cNvPr id="12" name="A pull request in plain language">
            <a:extLst xmlns:a="http://schemas.openxmlformats.org/drawingml/2006/main">
              <a:ext uri="{FF2B5EF4-FFF2-40B4-BE49-F238E27FC236}">
                <a16:creationId xmlns:a16="http://schemas.microsoft.com/office/drawing/2014/main" id="{EA6FA8C6-3177-4E23-BD89-93000F2E6A2D}"/>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A pull request in plain language</a:t>
            </a:r>
          </a:p>
        </p:txBody>
      </p:sp>
      <p:sp>
        <p:nvSpPr>
          <p:cNvPr id="2" name="14">
            <a:extLst xmlns:a="http://schemas.openxmlformats.org/drawingml/2006/main">
              <a:ext uri="{FF2B5EF4-FFF2-40B4-BE49-F238E27FC236}">
                <a16:creationId xmlns:a16="http://schemas.microsoft.com/office/drawing/2014/main" id="{DBE53303-A312-4F71-8469-C8955A3A4B46}"/>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14</a:t>
            </a:r>
          </a:p>
        </p:txBody>
      </p:sp>
      <p:sp>
        <p:nvSpPr>
          <p:cNvPr id="3" name="Base B1&#10;Current project">
            <a:extLst xmlns:a="http://schemas.openxmlformats.org/drawingml/2006/main">
              <a:ext uri="{FF2B5EF4-FFF2-40B4-BE49-F238E27FC236}">
                <a16:creationId xmlns:a16="http://schemas.microsoft.com/office/drawing/2014/main" id="{5D81979F-A47A-4FB5-9028-444EFC99D81C}"/>
              </a:ext>
            </a:extLst>
          </p:cNvPr>
          <p:cNvSpPr>
            <a:spLocks xmlns:a="http://schemas.openxmlformats.org/drawingml/2006/main" noGrp="1"/>
          </p:cNvSpPr>
          <p:nvPr/>
        </p:nvSpPr>
        <p:spPr>
          <a:xfrm xmlns:a="http://schemas.openxmlformats.org/drawingml/2006/main">
            <a:off x="857250" y="2524125"/>
            <a:ext cx="2857500" cy="1238250"/>
          </a:xfrm>
          <a:prstGeom xmlns:a="http://schemas.openxmlformats.org/drawingml/2006/main" prst="roundRect">
            <a:avLst>
              <a:gd name="adj" fmla="val 6154"/>
            </a:avLst>
          </a:prstGeom>
          <a:solidFill xmlns:a="http://schemas.openxmlformats.org/drawingml/2006/main">
            <a:srgbClr val="F4EFE6"/>
          </a:solidFill>
          <a:ln xmlns:a="http://schemas.openxmlformats.org/drawingml/2006/main" w="13335">
            <a:solidFill>
              <a:srgbClr val="978468"/>
            </a:solidFill>
          </a:ln>
        </p:spPr>
      </p:sp>
      <p:sp>
        <p:nvSpPr>
          <p:cNvPr id="4" name="Base B1&#10;Current project">
            <a:extLst xmlns:a="http://schemas.openxmlformats.org/drawingml/2006/main">
              <a:ext uri="{FF2B5EF4-FFF2-40B4-BE49-F238E27FC236}">
                <a16:creationId xmlns:a16="http://schemas.microsoft.com/office/drawing/2014/main" id="{A088630A-6FB7-48F9-9961-2380D67256A6}"/>
              </a:ext>
            </a:extLst>
          </p:cNvPr>
          <p:cNvSpPr>
            <a:spLocks xmlns:a="http://schemas.openxmlformats.org/drawingml/2006/main" noGrp="1"/>
          </p:cNvSpPr>
          <p:nvPr/>
        </p:nvSpPr>
        <p:spPr>
          <a:xfrm xmlns:a="http://schemas.openxmlformats.org/drawingml/2006/main">
            <a:off x="1028700" y="2695575"/>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Base B1</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Current project</a:t>
            </a:r>
          </a:p>
        </p:txBody>
      </p:sp>
      <p:sp>
        <p:nvSpPr>
          <p:cNvPr id="5" name="Head H1&#10;Proposed change">
            <a:extLst xmlns:a="http://schemas.openxmlformats.org/drawingml/2006/main">
              <a:ext uri="{FF2B5EF4-FFF2-40B4-BE49-F238E27FC236}">
                <a16:creationId xmlns:a16="http://schemas.microsoft.com/office/drawing/2014/main" id="{3D93F0CA-7B53-49BE-BBFA-BFB67B9B7E8C}"/>
              </a:ext>
            </a:extLst>
          </p:cNvPr>
          <p:cNvSpPr>
            <a:spLocks xmlns:a="http://schemas.openxmlformats.org/drawingml/2006/main" noGrp="1"/>
          </p:cNvSpPr>
          <p:nvPr/>
        </p:nvSpPr>
        <p:spPr>
          <a:xfrm xmlns:a="http://schemas.openxmlformats.org/drawingml/2006/main">
            <a:off x="4714875" y="2524125"/>
            <a:ext cx="2857500" cy="1238250"/>
          </a:xfrm>
          <a:prstGeom xmlns:a="http://schemas.openxmlformats.org/drawingml/2006/main" prst="roundRect">
            <a:avLst>
              <a:gd name="adj" fmla="val 6154"/>
            </a:avLst>
          </a:prstGeom>
          <a:solidFill xmlns:a="http://schemas.openxmlformats.org/drawingml/2006/main">
            <a:srgbClr val="F4EFE6"/>
          </a:solidFill>
          <a:ln xmlns:a="http://schemas.openxmlformats.org/drawingml/2006/main" w="13335">
            <a:solidFill>
              <a:srgbClr val="978468"/>
            </a:solidFill>
          </a:ln>
        </p:spPr>
      </p:sp>
      <p:sp>
        <p:nvSpPr>
          <p:cNvPr id="6" name="Head H1&#10;Proposed change">
            <a:extLst xmlns:a="http://schemas.openxmlformats.org/drawingml/2006/main">
              <a:ext uri="{FF2B5EF4-FFF2-40B4-BE49-F238E27FC236}">
                <a16:creationId xmlns:a16="http://schemas.microsoft.com/office/drawing/2014/main" id="{A74F8C87-42E0-4C39-BAB1-AC000944AAFE}"/>
              </a:ext>
            </a:extLst>
          </p:cNvPr>
          <p:cNvSpPr>
            <a:spLocks xmlns:a="http://schemas.openxmlformats.org/drawingml/2006/main" noGrp="1"/>
          </p:cNvSpPr>
          <p:nvPr/>
        </p:nvSpPr>
        <p:spPr>
          <a:xfrm xmlns:a="http://schemas.openxmlformats.org/drawingml/2006/main">
            <a:off x="4886325" y="2695575"/>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Head H1</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Proposed change</a:t>
            </a:r>
          </a:p>
        </p:txBody>
      </p:sp>
      <p:sp>
        <p:nvSpPr>
          <p:cNvPr id="7" name="Pull request&#10;Compare and discuss">
            <a:extLst xmlns:a="http://schemas.openxmlformats.org/drawingml/2006/main">
              <a:ext uri="{FF2B5EF4-FFF2-40B4-BE49-F238E27FC236}">
                <a16:creationId xmlns:a16="http://schemas.microsoft.com/office/drawing/2014/main" id="{27B36994-D4BF-4DAD-AB06-F13E2AC6C8DC}"/>
              </a:ext>
            </a:extLst>
          </p:cNvPr>
          <p:cNvSpPr>
            <a:spLocks xmlns:a="http://schemas.openxmlformats.org/drawingml/2006/main" noGrp="1"/>
          </p:cNvSpPr>
          <p:nvPr/>
        </p:nvSpPr>
        <p:spPr>
          <a:xfrm xmlns:a="http://schemas.openxmlformats.org/drawingml/2006/main">
            <a:off x="8572500" y="2524125"/>
            <a:ext cx="2857500" cy="1238250"/>
          </a:xfrm>
          <a:prstGeom xmlns:a="http://schemas.openxmlformats.org/drawingml/2006/main" prst="roundRect">
            <a:avLst>
              <a:gd name="adj" fmla="val 6154"/>
            </a:avLst>
          </a:prstGeom>
          <a:solidFill xmlns:a="http://schemas.openxmlformats.org/drawingml/2006/main">
            <a:srgbClr val="F4EFE6"/>
          </a:solidFill>
          <a:ln xmlns:a="http://schemas.openxmlformats.org/drawingml/2006/main" w="13335">
            <a:solidFill>
              <a:srgbClr val="978468"/>
            </a:solidFill>
          </a:ln>
        </p:spPr>
      </p:sp>
      <p:sp>
        <p:nvSpPr>
          <p:cNvPr id="8" name="Pull request&#10;Compare and discuss">
            <a:extLst xmlns:a="http://schemas.openxmlformats.org/drawingml/2006/main">
              <a:ext uri="{FF2B5EF4-FFF2-40B4-BE49-F238E27FC236}">
                <a16:creationId xmlns:a16="http://schemas.microsoft.com/office/drawing/2014/main" id="{041B841E-0F76-4B57-8C25-2A23A81C1895}"/>
              </a:ext>
            </a:extLst>
          </p:cNvPr>
          <p:cNvSpPr>
            <a:spLocks xmlns:a="http://schemas.openxmlformats.org/drawingml/2006/main" noGrp="1"/>
          </p:cNvSpPr>
          <p:nvPr/>
        </p:nvSpPr>
        <p:spPr>
          <a:xfrm xmlns:a="http://schemas.openxmlformats.org/drawingml/2006/main">
            <a:off x="8743950" y="2695575"/>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Pull request</a:t>
            </a:r>
          </a:p>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Compare and discuss</a:t>
            </a:r>
          </a:p>
        </p:txBody>
      </p:sp>
      <p:sp>
        <p:nvSpPr>
          <p:cNvPr id="11" name="The diff is what changed between the two vers">
            <a:extLst xmlns:a="http://schemas.openxmlformats.org/drawingml/2006/main">
              <a:ext uri="{FF2B5EF4-FFF2-40B4-BE49-F238E27FC236}">
                <a16:creationId xmlns:a16="http://schemas.microsoft.com/office/drawing/2014/main" id="{D34AB925-C056-4975-AF3F-2D793CE7E18C}"/>
              </a:ext>
            </a:extLst>
          </p:cNvPr>
          <p:cNvSpPr>
            <a:spLocks xmlns:a="http://schemas.openxmlformats.org/drawingml/2006/main" noGrp="1"/>
          </p:cNvSpPr>
          <p:nvPr/>
        </p:nvSpPr>
        <p:spPr>
          <a:xfrm xmlns:a="http://schemas.openxmlformats.org/drawingml/2006/main">
            <a:off x="857250" y="4743450"/>
            <a:ext cx="1038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8E5033"/>
                </a:solidFill>
                <a:latin typeface="Avenir Next"/>
                <a:ea typeface="Avenir Next"/>
                <a:cs typeface="Avenir Next"/>
              </a:defRPr>
            </a:defPPr>
            <a:lvl1pPr>
              <a:defRPr sz="2550" b="0">
                <a:solidFill>
                  <a:srgbClr val="8E5033"/>
                </a:solidFill>
                <a:latin typeface="Avenir Next"/>
                <a:ea typeface="Avenir Next"/>
                <a:cs typeface="Avenir Next"/>
              </a:defRPr>
            </a:lvl1pPr>
            <a:lvl2pPr>
              <a:defRPr sz="2550" b="0">
                <a:solidFill>
                  <a:srgbClr val="8E5033"/>
                </a:solidFill>
                <a:latin typeface="Avenir Next"/>
                <a:ea typeface="Avenir Next"/>
                <a:cs typeface="Avenir Next"/>
              </a:defRPr>
            </a:lvl2pPr>
            <a:lvl3pPr>
              <a:defRPr sz="2550" b="0">
                <a:solidFill>
                  <a:srgbClr val="8E5033"/>
                </a:solidFill>
                <a:latin typeface="Avenir Next"/>
                <a:ea typeface="Avenir Next"/>
                <a:cs typeface="Avenir Next"/>
              </a:defRPr>
            </a:lvl3pPr>
            <a:lvl4pPr>
              <a:defRPr sz="2550" b="0">
                <a:solidFill>
                  <a:srgbClr val="8E5033"/>
                </a:solidFill>
                <a:latin typeface="Avenir Next"/>
                <a:ea typeface="Avenir Next"/>
                <a:cs typeface="Avenir Next"/>
              </a:defRPr>
            </a:lvl4pPr>
            <a:lvl5pPr>
              <a:defRPr sz="2550" b="0">
                <a:solidFill>
                  <a:srgbClr val="8E5033"/>
                </a:solidFill>
                <a:latin typeface="Avenir Next"/>
                <a:ea typeface="Avenir Next"/>
                <a:cs typeface="Avenir Next"/>
              </a:defRPr>
            </a:lvl5pPr>
            <a:lvl6pPr>
              <a:defRPr sz="2550" b="0">
                <a:solidFill>
                  <a:srgbClr val="8E5033"/>
                </a:solidFill>
                <a:latin typeface="Avenir Next"/>
                <a:ea typeface="Avenir Next"/>
                <a:cs typeface="Avenir Next"/>
              </a:defRPr>
            </a:lvl6pPr>
            <a:lvl7pPr>
              <a:defRPr sz="2550" b="0">
                <a:solidFill>
                  <a:srgbClr val="8E5033"/>
                </a:solidFill>
                <a:latin typeface="Avenir Next"/>
                <a:ea typeface="Avenir Next"/>
                <a:cs typeface="Avenir Next"/>
              </a:defRPr>
            </a:lvl7pPr>
            <a:lvl8pPr>
              <a:defRPr sz="2550" b="0">
                <a:solidFill>
                  <a:srgbClr val="8E5033"/>
                </a:solidFill>
                <a:latin typeface="Avenir Next"/>
                <a:ea typeface="Avenir Next"/>
                <a:cs typeface="Avenir Next"/>
              </a:defRPr>
            </a:lvl8pPr>
            <a:lvl9pPr>
              <a:defRPr sz="2550" b="0">
                <a:solidFill>
                  <a:srgbClr val="8E5033"/>
                </a:solidFill>
                <a:latin typeface="Avenir Next"/>
                <a:ea typeface="Avenir Next"/>
                <a:cs typeface="Avenir Next"/>
              </a:defRPr>
            </a:lvl9pPr>
          </a:lstStyle>
          <a:p xmlns:a="http://schemas.openxmlformats.org/drawingml/2006/main">
            <a:pPr>
              <a:defRPr sz="2550" b="0">
                <a:solidFill>
                  <a:srgbClr val="8E5033"/>
                </a:solidFill>
                <a:latin typeface="Avenir Next"/>
                <a:ea typeface="Avenir Next"/>
                <a:cs typeface="Avenir Next"/>
              </a:defRPr>
            </a:pPr>
            <a:r>
              <a:rPr sz="2550" b="0">
                <a:solidFill>
                  <a:srgbClr val="8E5033"/>
                </a:solidFill>
                <a:latin typeface="Avenir Next"/>
                <a:ea typeface="Avenir Next"/>
                <a:cs typeface="Avenir Next"/>
              </a:rPr>
              <a:t>The diff is what changed between the two versions</a:t>
            </a:r>
          </a:p>
        </p:txBody>
      </p:sp>
    </p:spTree>
    <p:extLst>
      <p:ext uri="{BB962C8B-B14F-4D97-AF65-F5344CB8AC3E}">
        <p14:creationId xmlns:p14="http://schemas.microsoft.com/office/powerpoint/2010/main" val="230273589"/>
      </p:ext>
    </p:extLst>
  </p:cSld>
</p:sld>
</file>

<file path=ppt/slides/slide15.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9" name="A tiny change with a real consequence">
            <a:extLst xmlns:a="http://schemas.openxmlformats.org/drawingml/2006/main">
              <a:ext uri="{FF2B5EF4-FFF2-40B4-BE49-F238E27FC236}">
                <a16:creationId xmlns:a16="http://schemas.microsoft.com/office/drawing/2014/main" id="{FE77AEF2-890F-4E30-9D05-B44E17A4AB46}"/>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A tiny change with a real consequence</a:t>
            </a:r>
          </a:p>
        </p:txBody>
      </p:sp>
      <p:sp>
        <p:nvSpPr>
          <p:cNvPr id="2" name="15">
            <a:extLst xmlns:a="http://schemas.openxmlformats.org/drawingml/2006/main">
              <a:ext uri="{FF2B5EF4-FFF2-40B4-BE49-F238E27FC236}">
                <a16:creationId xmlns:a16="http://schemas.microsoft.com/office/drawing/2014/main" id="{788FFEFC-1F2B-4F55-9334-B4ED703EB2A5}"/>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15</a:t>
            </a:r>
          </a:p>
        </p:txBody>
      </p:sp>
      <p:sp>
        <p:nvSpPr>
          <p:cNvPr id="3" name="Rule: delivery is free at $50 or more">
            <a:extLst xmlns:a="http://schemas.openxmlformats.org/drawingml/2006/main">
              <a:ext uri="{FF2B5EF4-FFF2-40B4-BE49-F238E27FC236}">
                <a16:creationId xmlns:a16="http://schemas.microsoft.com/office/drawing/2014/main" id="{CD80C87A-E1C8-40BD-83A4-0A27D0407172}"/>
              </a:ext>
            </a:extLst>
          </p:cNvPr>
          <p:cNvSpPr>
            <a:spLocks xmlns:a="http://schemas.openxmlformats.org/drawingml/2006/main" noGrp="1"/>
          </p:cNvSpPr>
          <p:nvPr/>
        </p:nvSpPr>
        <p:spPr>
          <a:xfrm xmlns:a="http://schemas.openxmlformats.org/drawingml/2006/main">
            <a:off x="762000" y="19526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8E5033"/>
                </a:solidFill>
                <a:latin typeface="Avenir Next"/>
                <a:ea typeface="Avenir Next"/>
                <a:cs typeface="Avenir Next"/>
              </a:defRPr>
            </a:defPPr>
            <a:lvl1pPr>
              <a:defRPr sz="2550" b="0">
                <a:solidFill>
                  <a:srgbClr val="8E5033"/>
                </a:solidFill>
                <a:latin typeface="Avenir Next"/>
                <a:ea typeface="Avenir Next"/>
                <a:cs typeface="Avenir Next"/>
              </a:defRPr>
            </a:lvl1pPr>
            <a:lvl2pPr>
              <a:defRPr sz="2550" b="0">
                <a:solidFill>
                  <a:srgbClr val="8E5033"/>
                </a:solidFill>
                <a:latin typeface="Avenir Next"/>
                <a:ea typeface="Avenir Next"/>
                <a:cs typeface="Avenir Next"/>
              </a:defRPr>
            </a:lvl2pPr>
            <a:lvl3pPr>
              <a:defRPr sz="2550" b="0">
                <a:solidFill>
                  <a:srgbClr val="8E5033"/>
                </a:solidFill>
                <a:latin typeface="Avenir Next"/>
                <a:ea typeface="Avenir Next"/>
                <a:cs typeface="Avenir Next"/>
              </a:defRPr>
            </a:lvl3pPr>
            <a:lvl4pPr>
              <a:defRPr sz="2550" b="0">
                <a:solidFill>
                  <a:srgbClr val="8E5033"/>
                </a:solidFill>
                <a:latin typeface="Avenir Next"/>
                <a:ea typeface="Avenir Next"/>
                <a:cs typeface="Avenir Next"/>
              </a:defRPr>
            </a:lvl4pPr>
            <a:lvl5pPr>
              <a:defRPr sz="2550" b="0">
                <a:solidFill>
                  <a:srgbClr val="8E5033"/>
                </a:solidFill>
                <a:latin typeface="Avenir Next"/>
                <a:ea typeface="Avenir Next"/>
                <a:cs typeface="Avenir Next"/>
              </a:defRPr>
            </a:lvl5pPr>
            <a:lvl6pPr>
              <a:defRPr sz="2550" b="0">
                <a:solidFill>
                  <a:srgbClr val="8E5033"/>
                </a:solidFill>
                <a:latin typeface="Avenir Next"/>
                <a:ea typeface="Avenir Next"/>
                <a:cs typeface="Avenir Next"/>
              </a:defRPr>
            </a:lvl6pPr>
            <a:lvl7pPr>
              <a:defRPr sz="2550" b="0">
                <a:solidFill>
                  <a:srgbClr val="8E5033"/>
                </a:solidFill>
                <a:latin typeface="Avenir Next"/>
                <a:ea typeface="Avenir Next"/>
                <a:cs typeface="Avenir Next"/>
              </a:defRPr>
            </a:lvl7pPr>
            <a:lvl8pPr>
              <a:defRPr sz="2550" b="0">
                <a:solidFill>
                  <a:srgbClr val="8E5033"/>
                </a:solidFill>
                <a:latin typeface="Avenir Next"/>
                <a:ea typeface="Avenir Next"/>
                <a:cs typeface="Avenir Next"/>
              </a:defRPr>
            </a:lvl8pPr>
            <a:lvl9pPr>
              <a:defRPr sz="2550" b="0">
                <a:solidFill>
                  <a:srgbClr val="8E5033"/>
                </a:solidFill>
                <a:latin typeface="Avenir Next"/>
                <a:ea typeface="Avenir Next"/>
                <a:cs typeface="Avenir Next"/>
              </a:defRPr>
            </a:lvl9pPr>
          </a:lstStyle>
          <a:p xmlns:a="http://schemas.openxmlformats.org/drawingml/2006/main">
            <a:pPr>
              <a:defRPr sz="2550" b="0">
                <a:solidFill>
                  <a:srgbClr val="8E5033"/>
                </a:solidFill>
                <a:latin typeface="Avenir Next"/>
                <a:ea typeface="Avenir Next"/>
                <a:cs typeface="Avenir Next"/>
              </a:defRPr>
            </a:pPr>
            <a:r>
              <a:rPr sz="2550" b="0">
                <a:solidFill>
                  <a:srgbClr val="8E5033"/>
                </a:solidFill>
                <a:latin typeface="Avenir Next"/>
                <a:ea typeface="Avenir Next"/>
                <a:cs typeface="Avenir Next"/>
              </a:rPr>
              <a:t>Rule: delivery is free at $50 or more</a:t>
            </a:r>
          </a:p>
        </p:txBody>
      </p:sp>
      <p:sp>
        <p:nvSpPr>
          <p:cNvPr id="4" name="Before">
            <a:extLst xmlns:a="http://schemas.openxmlformats.org/drawingml/2006/main">
              <a:ext uri="{FF2B5EF4-FFF2-40B4-BE49-F238E27FC236}">
                <a16:creationId xmlns:a16="http://schemas.microsoft.com/office/drawing/2014/main" id="{F9592C81-6683-4BAB-A5F3-3DB214569ADB}"/>
              </a:ext>
            </a:extLst>
          </p:cNvPr>
          <p:cNvSpPr>
            <a:spLocks xmlns:a="http://schemas.openxmlformats.org/drawingml/2006/main" noGrp="1"/>
          </p:cNvSpPr>
          <p:nvPr/>
        </p:nvSpPr>
        <p:spPr>
          <a:xfrm xmlns:a="http://schemas.openxmlformats.org/drawingml/2006/main">
            <a:off x="762000" y="29527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B2E23"/>
                </a:solidFill>
                <a:latin typeface="Avenir Next"/>
                <a:ea typeface="Avenir Next"/>
                <a:cs typeface="Avenir Next"/>
              </a:defRPr>
            </a:defPPr>
            <a:lvl1pPr>
              <a:defRPr sz="1950" b="0">
                <a:solidFill>
                  <a:srgbClr val="4B2E23"/>
                </a:solidFill>
                <a:latin typeface="Avenir Next"/>
                <a:ea typeface="Avenir Next"/>
                <a:cs typeface="Avenir Next"/>
              </a:defRPr>
            </a:lvl1pPr>
            <a:lvl2pPr>
              <a:defRPr sz="1950" b="0">
                <a:solidFill>
                  <a:srgbClr val="4B2E23"/>
                </a:solidFill>
                <a:latin typeface="Avenir Next"/>
                <a:ea typeface="Avenir Next"/>
                <a:cs typeface="Avenir Next"/>
              </a:defRPr>
            </a:lvl2pPr>
            <a:lvl3pPr>
              <a:defRPr sz="1950" b="0">
                <a:solidFill>
                  <a:srgbClr val="4B2E23"/>
                </a:solidFill>
                <a:latin typeface="Avenir Next"/>
                <a:ea typeface="Avenir Next"/>
                <a:cs typeface="Avenir Next"/>
              </a:defRPr>
            </a:lvl3pPr>
            <a:lvl4pPr>
              <a:defRPr sz="1950" b="0">
                <a:solidFill>
                  <a:srgbClr val="4B2E23"/>
                </a:solidFill>
                <a:latin typeface="Avenir Next"/>
                <a:ea typeface="Avenir Next"/>
                <a:cs typeface="Avenir Next"/>
              </a:defRPr>
            </a:lvl4pPr>
            <a:lvl5pPr>
              <a:defRPr sz="1950" b="0">
                <a:solidFill>
                  <a:srgbClr val="4B2E23"/>
                </a:solidFill>
                <a:latin typeface="Avenir Next"/>
                <a:ea typeface="Avenir Next"/>
                <a:cs typeface="Avenir Next"/>
              </a:defRPr>
            </a:lvl5pPr>
            <a:lvl6pPr>
              <a:defRPr sz="1950" b="0">
                <a:solidFill>
                  <a:srgbClr val="4B2E23"/>
                </a:solidFill>
                <a:latin typeface="Avenir Next"/>
                <a:ea typeface="Avenir Next"/>
                <a:cs typeface="Avenir Next"/>
              </a:defRPr>
            </a:lvl6pPr>
            <a:lvl7pPr>
              <a:defRPr sz="1950" b="0">
                <a:solidFill>
                  <a:srgbClr val="4B2E23"/>
                </a:solidFill>
                <a:latin typeface="Avenir Next"/>
                <a:ea typeface="Avenir Next"/>
                <a:cs typeface="Avenir Next"/>
              </a:defRPr>
            </a:lvl7pPr>
            <a:lvl8pPr>
              <a:defRPr sz="1950" b="0">
                <a:solidFill>
                  <a:srgbClr val="4B2E23"/>
                </a:solidFill>
                <a:latin typeface="Avenir Next"/>
                <a:ea typeface="Avenir Next"/>
                <a:cs typeface="Avenir Next"/>
              </a:defRPr>
            </a:lvl8pPr>
            <a:lvl9pPr>
              <a:defRPr sz="1950" b="0">
                <a:solidFill>
                  <a:srgbClr val="4B2E23"/>
                </a:solidFill>
                <a:latin typeface="Avenir Next"/>
                <a:ea typeface="Avenir Next"/>
                <a:cs typeface="Avenir Next"/>
              </a:defRPr>
            </a:lvl9pPr>
          </a:lstStyle>
          <a:p xmlns:a="http://schemas.openxmlformats.org/drawingml/2006/main">
            <a:pPr>
              <a:defRPr sz="1950" b="0">
                <a:solidFill>
                  <a:srgbClr val="4B2E23"/>
                </a:solidFill>
                <a:latin typeface="Avenir Next"/>
                <a:ea typeface="Avenir Next"/>
                <a:cs typeface="Avenir Next"/>
              </a:defRPr>
            </a:pPr>
            <a:r>
              <a:rPr sz="1950" b="0">
                <a:solidFill>
                  <a:srgbClr val="4B2E23"/>
                </a:solidFill>
                <a:latin typeface="Avenir Next"/>
                <a:ea typeface="Avenir Next"/>
                <a:cs typeface="Avenir Next"/>
              </a:rPr>
              <a:t>Before</a:t>
            </a:r>
          </a:p>
        </p:txBody>
      </p:sp>
      <p:sp>
        <p:nvSpPr>
          <p:cNvPr id="5" name="subtotal &gt;= 50">
            <a:extLst xmlns:a="http://schemas.openxmlformats.org/drawingml/2006/main">
              <a:ext uri="{FF2B5EF4-FFF2-40B4-BE49-F238E27FC236}">
                <a16:creationId xmlns:a16="http://schemas.microsoft.com/office/drawing/2014/main" id="{B037A559-75A7-4BEB-8358-39782F63590A}"/>
              </a:ext>
            </a:extLst>
          </p:cNvPr>
          <p:cNvSpPr>
            <a:spLocks xmlns:a="http://schemas.openxmlformats.org/drawingml/2006/main" noGrp="1"/>
          </p:cNvSpPr>
          <p:nvPr/>
        </p:nvSpPr>
        <p:spPr>
          <a:xfrm xmlns:a="http://schemas.openxmlformats.org/drawingml/2006/main">
            <a:off x="762000" y="3476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4B2E23"/>
                </a:solidFill>
                <a:latin typeface="Menlo"/>
                <a:ea typeface="Menlo"/>
                <a:cs typeface="Menlo"/>
              </a:defRPr>
            </a:defPPr>
            <a:lvl1pPr>
              <a:defRPr sz="3225" b="0">
                <a:solidFill>
                  <a:srgbClr val="4B2E23"/>
                </a:solidFill>
                <a:latin typeface="Menlo"/>
                <a:ea typeface="Menlo"/>
                <a:cs typeface="Menlo"/>
              </a:defRPr>
            </a:lvl1pPr>
            <a:lvl2pPr>
              <a:defRPr sz="3225" b="0">
                <a:solidFill>
                  <a:srgbClr val="4B2E23"/>
                </a:solidFill>
                <a:latin typeface="Menlo"/>
                <a:ea typeface="Menlo"/>
                <a:cs typeface="Menlo"/>
              </a:defRPr>
            </a:lvl2pPr>
            <a:lvl3pPr>
              <a:defRPr sz="3225" b="0">
                <a:solidFill>
                  <a:srgbClr val="4B2E23"/>
                </a:solidFill>
                <a:latin typeface="Menlo"/>
                <a:ea typeface="Menlo"/>
                <a:cs typeface="Menlo"/>
              </a:defRPr>
            </a:lvl3pPr>
            <a:lvl4pPr>
              <a:defRPr sz="3225" b="0">
                <a:solidFill>
                  <a:srgbClr val="4B2E23"/>
                </a:solidFill>
                <a:latin typeface="Menlo"/>
                <a:ea typeface="Menlo"/>
                <a:cs typeface="Menlo"/>
              </a:defRPr>
            </a:lvl4pPr>
            <a:lvl5pPr>
              <a:defRPr sz="3225" b="0">
                <a:solidFill>
                  <a:srgbClr val="4B2E23"/>
                </a:solidFill>
                <a:latin typeface="Menlo"/>
                <a:ea typeface="Menlo"/>
                <a:cs typeface="Menlo"/>
              </a:defRPr>
            </a:lvl5pPr>
            <a:lvl6pPr>
              <a:defRPr sz="3225" b="0">
                <a:solidFill>
                  <a:srgbClr val="4B2E23"/>
                </a:solidFill>
                <a:latin typeface="Menlo"/>
                <a:ea typeface="Menlo"/>
                <a:cs typeface="Menlo"/>
              </a:defRPr>
            </a:lvl6pPr>
            <a:lvl7pPr>
              <a:defRPr sz="3225" b="0">
                <a:solidFill>
                  <a:srgbClr val="4B2E23"/>
                </a:solidFill>
                <a:latin typeface="Menlo"/>
                <a:ea typeface="Menlo"/>
                <a:cs typeface="Menlo"/>
              </a:defRPr>
            </a:lvl7pPr>
            <a:lvl8pPr>
              <a:defRPr sz="3225" b="0">
                <a:solidFill>
                  <a:srgbClr val="4B2E23"/>
                </a:solidFill>
                <a:latin typeface="Menlo"/>
                <a:ea typeface="Menlo"/>
                <a:cs typeface="Menlo"/>
              </a:defRPr>
            </a:lvl8pPr>
            <a:lvl9pPr>
              <a:defRPr sz="3225" b="0">
                <a:solidFill>
                  <a:srgbClr val="4B2E23"/>
                </a:solidFill>
                <a:latin typeface="Menlo"/>
                <a:ea typeface="Menlo"/>
                <a:cs typeface="Menlo"/>
              </a:defRPr>
            </a:lvl9pPr>
          </a:lstStyle>
          <a:p xmlns:a="http://schemas.openxmlformats.org/drawingml/2006/main">
            <a:pPr>
              <a:defRPr sz="3225" b="0">
                <a:solidFill>
                  <a:srgbClr val="4B2E23"/>
                </a:solidFill>
                <a:latin typeface="Menlo"/>
                <a:ea typeface="Menlo"/>
                <a:cs typeface="Menlo"/>
              </a:defRPr>
            </a:pPr>
            <a:r>
              <a:rPr sz="3225" b="0">
                <a:solidFill>
                  <a:srgbClr val="4B2E23"/>
                </a:solidFill>
                <a:latin typeface="Menlo"/>
                <a:ea typeface="Menlo"/>
                <a:cs typeface="Menlo"/>
              </a:rPr>
              <a:t>subtotal &gt;= 50</a:t>
            </a:r>
          </a:p>
        </p:txBody>
      </p:sp>
      <p:sp>
        <p:nvSpPr>
          <p:cNvPr id="6" name="Changed to">
            <a:extLst xmlns:a="http://schemas.openxmlformats.org/drawingml/2006/main">
              <a:ext uri="{FF2B5EF4-FFF2-40B4-BE49-F238E27FC236}">
                <a16:creationId xmlns:a16="http://schemas.microsoft.com/office/drawing/2014/main" id="{3AC1D6E9-C832-402C-884F-392609462F8A}"/>
              </a:ext>
            </a:extLst>
          </p:cNvPr>
          <p:cNvSpPr>
            <a:spLocks xmlns:a="http://schemas.openxmlformats.org/drawingml/2006/main" noGrp="1"/>
          </p:cNvSpPr>
          <p:nvPr/>
        </p:nvSpPr>
        <p:spPr>
          <a:xfrm xmlns:a="http://schemas.openxmlformats.org/drawingml/2006/main">
            <a:off x="6572250" y="29527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B2E23"/>
                </a:solidFill>
                <a:latin typeface="Avenir Next"/>
                <a:ea typeface="Avenir Next"/>
                <a:cs typeface="Avenir Next"/>
              </a:defRPr>
            </a:defPPr>
            <a:lvl1pPr>
              <a:defRPr sz="1950" b="0">
                <a:solidFill>
                  <a:srgbClr val="4B2E23"/>
                </a:solidFill>
                <a:latin typeface="Avenir Next"/>
                <a:ea typeface="Avenir Next"/>
                <a:cs typeface="Avenir Next"/>
              </a:defRPr>
            </a:lvl1pPr>
            <a:lvl2pPr>
              <a:defRPr sz="1950" b="0">
                <a:solidFill>
                  <a:srgbClr val="4B2E23"/>
                </a:solidFill>
                <a:latin typeface="Avenir Next"/>
                <a:ea typeface="Avenir Next"/>
                <a:cs typeface="Avenir Next"/>
              </a:defRPr>
            </a:lvl2pPr>
            <a:lvl3pPr>
              <a:defRPr sz="1950" b="0">
                <a:solidFill>
                  <a:srgbClr val="4B2E23"/>
                </a:solidFill>
                <a:latin typeface="Avenir Next"/>
                <a:ea typeface="Avenir Next"/>
                <a:cs typeface="Avenir Next"/>
              </a:defRPr>
            </a:lvl3pPr>
            <a:lvl4pPr>
              <a:defRPr sz="1950" b="0">
                <a:solidFill>
                  <a:srgbClr val="4B2E23"/>
                </a:solidFill>
                <a:latin typeface="Avenir Next"/>
                <a:ea typeface="Avenir Next"/>
                <a:cs typeface="Avenir Next"/>
              </a:defRPr>
            </a:lvl4pPr>
            <a:lvl5pPr>
              <a:defRPr sz="1950" b="0">
                <a:solidFill>
                  <a:srgbClr val="4B2E23"/>
                </a:solidFill>
                <a:latin typeface="Avenir Next"/>
                <a:ea typeface="Avenir Next"/>
                <a:cs typeface="Avenir Next"/>
              </a:defRPr>
            </a:lvl5pPr>
            <a:lvl6pPr>
              <a:defRPr sz="1950" b="0">
                <a:solidFill>
                  <a:srgbClr val="4B2E23"/>
                </a:solidFill>
                <a:latin typeface="Avenir Next"/>
                <a:ea typeface="Avenir Next"/>
                <a:cs typeface="Avenir Next"/>
              </a:defRPr>
            </a:lvl6pPr>
            <a:lvl7pPr>
              <a:defRPr sz="1950" b="0">
                <a:solidFill>
                  <a:srgbClr val="4B2E23"/>
                </a:solidFill>
                <a:latin typeface="Avenir Next"/>
                <a:ea typeface="Avenir Next"/>
                <a:cs typeface="Avenir Next"/>
              </a:defRPr>
            </a:lvl7pPr>
            <a:lvl8pPr>
              <a:defRPr sz="1950" b="0">
                <a:solidFill>
                  <a:srgbClr val="4B2E23"/>
                </a:solidFill>
                <a:latin typeface="Avenir Next"/>
                <a:ea typeface="Avenir Next"/>
                <a:cs typeface="Avenir Next"/>
              </a:defRPr>
            </a:lvl8pPr>
            <a:lvl9pPr>
              <a:defRPr sz="1950" b="0">
                <a:solidFill>
                  <a:srgbClr val="4B2E23"/>
                </a:solidFill>
                <a:latin typeface="Avenir Next"/>
                <a:ea typeface="Avenir Next"/>
                <a:cs typeface="Avenir Next"/>
              </a:defRPr>
            </a:lvl9pPr>
          </a:lstStyle>
          <a:p xmlns:a="http://schemas.openxmlformats.org/drawingml/2006/main">
            <a:pPr>
              <a:defRPr sz="1950" b="0">
                <a:solidFill>
                  <a:srgbClr val="4B2E23"/>
                </a:solidFill>
                <a:latin typeface="Avenir Next"/>
                <a:ea typeface="Avenir Next"/>
                <a:cs typeface="Avenir Next"/>
              </a:defRPr>
            </a:pPr>
            <a:r>
              <a:rPr sz="1950" b="0">
                <a:solidFill>
                  <a:srgbClr val="4B2E23"/>
                </a:solidFill>
                <a:latin typeface="Avenir Next"/>
                <a:ea typeface="Avenir Next"/>
                <a:cs typeface="Avenir Next"/>
              </a:rPr>
              <a:t>Changed to</a:t>
            </a:r>
          </a:p>
        </p:txBody>
      </p:sp>
      <p:sp>
        <p:nvSpPr>
          <p:cNvPr id="7" name="subtotal &gt; 50">
            <a:extLst xmlns:a="http://schemas.openxmlformats.org/drawingml/2006/main">
              <a:ext uri="{FF2B5EF4-FFF2-40B4-BE49-F238E27FC236}">
                <a16:creationId xmlns:a16="http://schemas.microsoft.com/office/drawing/2014/main" id="{A44E9EEB-CF11-4BD3-B5CD-E18E323E8594}"/>
              </a:ext>
            </a:extLst>
          </p:cNvPr>
          <p:cNvSpPr>
            <a:spLocks xmlns:a="http://schemas.openxmlformats.org/drawingml/2006/main" noGrp="1"/>
          </p:cNvSpPr>
          <p:nvPr/>
        </p:nvSpPr>
        <p:spPr>
          <a:xfrm xmlns:a="http://schemas.openxmlformats.org/drawingml/2006/main">
            <a:off x="6572250" y="3476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8E5033"/>
                </a:solidFill>
                <a:latin typeface="Menlo"/>
                <a:ea typeface="Menlo"/>
                <a:cs typeface="Menlo"/>
              </a:defRPr>
            </a:defPPr>
            <a:lvl1pPr>
              <a:defRPr sz="3225" b="0">
                <a:solidFill>
                  <a:srgbClr val="8E5033"/>
                </a:solidFill>
                <a:latin typeface="Menlo"/>
                <a:ea typeface="Menlo"/>
                <a:cs typeface="Menlo"/>
              </a:defRPr>
            </a:lvl1pPr>
            <a:lvl2pPr>
              <a:defRPr sz="3225" b="0">
                <a:solidFill>
                  <a:srgbClr val="8E5033"/>
                </a:solidFill>
                <a:latin typeface="Menlo"/>
                <a:ea typeface="Menlo"/>
                <a:cs typeface="Menlo"/>
              </a:defRPr>
            </a:lvl2pPr>
            <a:lvl3pPr>
              <a:defRPr sz="3225" b="0">
                <a:solidFill>
                  <a:srgbClr val="8E5033"/>
                </a:solidFill>
                <a:latin typeface="Menlo"/>
                <a:ea typeface="Menlo"/>
                <a:cs typeface="Menlo"/>
              </a:defRPr>
            </a:lvl3pPr>
            <a:lvl4pPr>
              <a:defRPr sz="3225" b="0">
                <a:solidFill>
                  <a:srgbClr val="8E5033"/>
                </a:solidFill>
                <a:latin typeface="Menlo"/>
                <a:ea typeface="Menlo"/>
                <a:cs typeface="Menlo"/>
              </a:defRPr>
            </a:lvl4pPr>
            <a:lvl5pPr>
              <a:defRPr sz="3225" b="0">
                <a:solidFill>
                  <a:srgbClr val="8E5033"/>
                </a:solidFill>
                <a:latin typeface="Menlo"/>
                <a:ea typeface="Menlo"/>
                <a:cs typeface="Menlo"/>
              </a:defRPr>
            </a:lvl5pPr>
            <a:lvl6pPr>
              <a:defRPr sz="3225" b="0">
                <a:solidFill>
                  <a:srgbClr val="8E5033"/>
                </a:solidFill>
                <a:latin typeface="Menlo"/>
                <a:ea typeface="Menlo"/>
                <a:cs typeface="Menlo"/>
              </a:defRPr>
            </a:lvl6pPr>
            <a:lvl7pPr>
              <a:defRPr sz="3225" b="0">
                <a:solidFill>
                  <a:srgbClr val="8E5033"/>
                </a:solidFill>
                <a:latin typeface="Menlo"/>
                <a:ea typeface="Menlo"/>
                <a:cs typeface="Menlo"/>
              </a:defRPr>
            </a:lvl7pPr>
            <a:lvl8pPr>
              <a:defRPr sz="3225" b="0">
                <a:solidFill>
                  <a:srgbClr val="8E5033"/>
                </a:solidFill>
                <a:latin typeface="Menlo"/>
                <a:ea typeface="Menlo"/>
                <a:cs typeface="Menlo"/>
              </a:defRPr>
            </a:lvl8pPr>
            <a:lvl9pPr>
              <a:defRPr sz="3225" b="0">
                <a:solidFill>
                  <a:srgbClr val="8E5033"/>
                </a:solidFill>
                <a:latin typeface="Menlo"/>
                <a:ea typeface="Menlo"/>
                <a:cs typeface="Menlo"/>
              </a:defRPr>
            </a:lvl9pPr>
          </a:lstStyle>
          <a:p xmlns:a="http://schemas.openxmlformats.org/drawingml/2006/main">
            <a:pPr>
              <a:defRPr sz="3225" b="0">
                <a:solidFill>
                  <a:srgbClr val="8E5033"/>
                </a:solidFill>
                <a:latin typeface="Menlo"/>
                <a:ea typeface="Menlo"/>
                <a:cs typeface="Menlo"/>
              </a:defRPr>
            </a:pPr>
            <a:r>
              <a:rPr sz="3225" b="0">
                <a:solidFill>
                  <a:srgbClr val="8E5033"/>
                </a:solidFill>
                <a:latin typeface="Menlo"/>
                <a:ea typeface="Menlo"/>
                <a:cs typeface="Menlo"/>
              </a:rPr>
              <a:t>subtotal &gt; 50</a:t>
            </a:r>
          </a:p>
        </p:txBody>
      </p:sp>
      <p:sp>
        <p:nvSpPr>
          <p:cNvPr id="8" name="At exactly $50, the new code charges a fee">
            <a:extLst xmlns:a="http://schemas.openxmlformats.org/drawingml/2006/main">
              <a:ext uri="{FF2B5EF4-FFF2-40B4-BE49-F238E27FC236}">
                <a16:creationId xmlns:a16="http://schemas.microsoft.com/office/drawing/2014/main" id="{BC413C47-C624-47CE-962B-E6B31E006812}"/>
              </a:ext>
            </a:extLst>
          </p:cNvPr>
          <p:cNvSpPr>
            <a:spLocks xmlns:a="http://schemas.openxmlformats.org/drawingml/2006/main" noGrp="1"/>
          </p:cNvSpPr>
          <p:nvPr/>
        </p:nvSpPr>
        <p:spPr>
          <a:xfrm xmlns:a="http://schemas.openxmlformats.org/drawingml/2006/main">
            <a:off x="762000" y="50958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B2E23"/>
                </a:solidFill>
                <a:latin typeface="Georgia"/>
                <a:ea typeface="Georgia"/>
                <a:cs typeface="Georgia"/>
              </a:defRPr>
            </a:defPPr>
            <a:lvl1pPr>
              <a:defRPr sz="2700" b="0">
                <a:solidFill>
                  <a:srgbClr val="4B2E23"/>
                </a:solidFill>
                <a:latin typeface="Georgia"/>
                <a:ea typeface="Georgia"/>
                <a:cs typeface="Georgia"/>
              </a:defRPr>
            </a:lvl1pPr>
            <a:lvl2pPr>
              <a:defRPr sz="2700" b="0">
                <a:solidFill>
                  <a:srgbClr val="4B2E23"/>
                </a:solidFill>
                <a:latin typeface="Georgia"/>
                <a:ea typeface="Georgia"/>
                <a:cs typeface="Georgia"/>
              </a:defRPr>
            </a:lvl2pPr>
            <a:lvl3pPr>
              <a:defRPr sz="2700" b="0">
                <a:solidFill>
                  <a:srgbClr val="4B2E23"/>
                </a:solidFill>
                <a:latin typeface="Georgia"/>
                <a:ea typeface="Georgia"/>
                <a:cs typeface="Georgia"/>
              </a:defRPr>
            </a:lvl3pPr>
            <a:lvl4pPr>
              <a:defRPr sz="2700" b="0">
                <a:solidFill>
                  <a:srgbClr val="4B2E23"/>
                </a:solidFill>
                <a:latin typeface="Georgia"/>
                <a:ea typeface="Georgia"/>
                <a:cs typeface="Georgia"/>
              </a:defRPr>
            </a:lvl4pPr>
            <a:lvl5pPr>
              <a:defRPr sz="2700" b="0">
                <a:solidFill>
                  <a:srgbClr val="4B2E23"/>
                </a:solidFill>
                <a:latin typeface="Georgia"/>
                <a:ea typeface="Georgia"/>
                <a:cs typeface="Georgia"/>
              </a:defRPr>
            </a:lvl5pPr>
            <a:lvl6pPr>
              <a:defRPr sz="2700" b="0">
                <a:solidFill>
                  <a:srgbClr val="4B2E23"/>
                </a:solidFill>
                <a:latin typeface="Georgia"/>
                <a:ea typeface="Georgia"/>
                <a:cs typeface="Georgia"/>
              </a:defRPr>
            </a:lvl6pPr>
            <a:lvl7pPr>
              <a:defRPr sz="2700" b="0">
                <a:solidFill>
                  <a:srgbClr val="4B2E23"/>
                </a:solidFill>
                <a:latin typeface="Georgia"/>
                <a:ea typeface="Georgia"/>
                <a:cs typeface="Georgia"/>
              </a:defRPr>
            </a:lvl7pPr>
            <a:lvl8pPr>
              <a:defRPr sz="2700" b="0">
                <a:solidFill>
                  <a:srgbClr val="4B2E23"/>
                </a:solidFill>
                <a:latin typeface="Georgia"/>
                <a:ea typeface="Georgia"/>
                <a:cs typeface="Georgia"/>
              </a:defRPr>
            </a:lvl8pPr>
            <a:lvl9pPr>
              <a:defRPr sz="2700" b="0">
                <a:solidFill>
                  <a:srgbClr val="4B2E23"/>
                </a:solidFill>
                <a:latin typeface="Georgia"/>
                <a:ea typeface="Georgia"/>
                <a:cs typeface="Georgia"/>
              </a:defRPr>
            </a:lvl9pPr>
          </a:lstStyle>
          <a:p xmlns:a="http://schemas.openxmlformats.org/drawingml/2006/main">
            <a:pPr>
              <a:defRPr sz="2700" b="0">
                <a:solidFill>
                  <a:srgbClr val="4B2E23"/>
                </a:solidFill>
                <a:latin typeface="Georgia"/>
                <a:ea typeface="Georgia"/>
                <a:cs typeface="Georgia"/>
              </a:defRPr>
            </a:pPr>
            <a:r>
              <a:rPr sz="2700" b="0">
                <a:solidFill>
                  <a:srgbClr val="4B2E23"/>
                </a:solidFill>
                <a:latin typeface="Georgia"/>
                <a:ea typeface="Georgia"/>
                <a:cs typeface="Georgia"/>
              </a:rPr>
              <a:t>At exactly $50, the new code charges a fee</a:t>
            </a:r>
          </a:p>
        </p:txBody>
      </p:sp>
    </p:spTree>
    <p:extLst>
      <p:ext uri="{BB962C8B-B14F-4D97-AF65-F5344CB8AC3E}">
        <p14:creationId xmlns:p14="http://schemas.microsoft.com/office/powerpoint/2010/main" val="1436090235"/>
      </p:ext>
    </p:extLst>
  </p:cSld>
</p:sld>
</file>

<file path=ppt/slides/slide16.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6" name="Check the claim before making a fix">
            <a:extLst xmlns:a="http://schemas.openxmlformats.org/drawingml/2006/main">
              <a:ext uri="{FF2B5EF4-FFF2-40B4-BE49-F238E27FC236}">
                <a16:creationId xmlns:a16="http://schemas.microsoft.com/office/drawing/2014/main" id="{1ABC4A43-2A1D-4E92-8C32-61A78E1A5108}"/>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Check the claim before making a fix</a:t>
            </a:r>
          </a:p>
        </p:txBody>
      </p:sp>
      <p:sp>
        <p:nvSpPr>
          <p:cNvPr id="2" name="16">
            <a:extLst xmlns:a="http://schemas.openxmlformats.org/drawingml/2006/main">
              <a:ext uri="{FF2B5EF4-FFF2-40B4-BE49-F238E27FC236}">
                <a16:creationId xmlns:a16="http://schemas.microsoft.com/office/drawing/2014/main" id="{7679F245-9B54-46C5-9390-61ADB3F5C2F4}"/>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16</a:t>
            </a:r>
          </a:p>
        </p:txBody>
      </p:sp>
      <p:graphicFrame>
        <p:nvGraphicFramePr>
          <p:cNvPr id="3" name="">
            <a:extLst xmlns:a="http://schemas.openxmlformats.org/drawingml/2006/main">
              <a:ext uri="{FF2B5EF4-FFF2-40B4-BE49-F238E27FC236}">
                <a16:creationId xmlns:a16="http://schemas.microsoft.com/office/drawing/2014/main" id="{0FD0C9C6-1E8C-45A2-9E87-6F596354B957}"/>
              </a:ext>
            </a:extLst>
          </p:cNvPr>
          <p:cNvGraphicFramePr/>
          <p:nvPr/>
        </p:nvGraphicFramePr>
        <p:xfrm>
          <a:off xmlns:a="http://schemas.openxmlformats.org/drawingml/2006/main" x="762000" y="2095500"/>
          <a:ext xmlns:a="http://schemas.openxmlformats.org/drawingml/2006/main" cx="10668000" cy="2762250"/>
        </p:xfrm>
        <a:graphic xmlns:a="http://schemas.openxmlformats.org/drawingml/2006/main">
          <a:graphicData uri="http://schemas.openxmlformats.org/drawingml/2006/table">
            <a:tbl>
              <a:tblPr/>
              <a:tblGrid>
                <a:gridCol w="2571750"/>
                <a:gridCol w="2286000"/>
                <a:gridCol w="5810250"/>
              </a:tblGrid>
              <a:tr h="690563">
                <a:tc>
                  <a:txBody>
                    <a:bodyPr/>
                    <a:lstStyle/>
                    <a:p>
                      <a:r>
                        <a:rPr sz="1650" b="1">
                          <a:solidFill>
                            <a:srgbClr val="FFFFFF"/>
                          </a:solidFill>
                          <a:latin typeface="Avenir Next"/>
                          <a:ea typeface="Avenir Next"/>
                          <a:cs typeface="Avenir Next"/>
                        </a:rPr>
                        <a:t>Version</a:t>
                      </a:r>
                    </a:p>
                  </a:txBody>
                  <a:tcPr marL="91440" marR="91440" marT="45720" marB="45720">
                    <a:lnL w="9525">
                      <a:solidFill>
                        <a:srgbClr val="E7E1D5"/>
                      </a:solidFill>
                      <a:prstDash val="solid"/>
                    </a:lnL>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At $50</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Meaning</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r>
              <a:tr h="690563">
                <a:tc>
                  <a:txBody>
                    <a:bodyPr/>
                    <a:lstStyle/>
                    <a:p>
                      <a:r>
                        <a:rPr sz="1800" b="0">
                          <a:solidFill>
                            <a:srgbClr val="4B2E23"/>
                          </a:solidFill>
                          <a:latin typeface="Avenir Next"/>
                          <a:ea typeface="Avenir Next"/>
                          <a:cs typeface="Avenir Next"/>
                        </a:rPr>
                        <a:t>Base B1</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$0 fee</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Expected behavior</a:t>
                      </a:r>
                    </a:p>
                  </a:txBody>
                  <a:tcPr marL="91440" marR="91440" marT="45720" marB="45720">
                    <a:lnR w="9525">
                      <a:solidFill>
                        <a:srgbClr val="E7E1D5"/>
                      </a:solidFill>
                      <a:prstDash val="solid"/>
                    </a:lnR>
                    <a:lnB w="9525">
                      <a:solidFill>
                        <a:srgbClr val="E7E1D5"/>
                      </a:solidFill>
                      <a:prstDash val="solid"/>
                    </a:lnB>
                    <a:solidFill>
                      <a:srgbClr val="F4EFE6"/>
                    </a:solidFill>
                  </a:tcPr>
                </a:tc>
              </a:tr>
              <a:tr h="690563">
                <a:tc>
                  <a:txBody>
                    <a:bodyPr/>
                    <a:lstStyle/>
                    <a:p>
                      <a:r>
                        <a:rPr sz="1800" b="0">
                          <a:solidFill>
                            <a:srgbClr val="4B2E23"/>
                          </a:solidFill>
                          <a:latin typeface="Avenir Next"/>
                          <a:ea typeface="Avenir Next"/>
                          <a:cs typeface="Avenir Next"/>
                        </a:rPr>
                        <a:t>Head H1</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$5 fee</a:t>
                      </a:r>
                    </a:p>
                  </a:txBody>
                  <a:tcPr marL="91440" marR="91440" marT="45720" marB="45720">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Shows the claimed defect</a:t>
                      </a:r>
                    </a:p>
                  </a:txBody>
                  <a:tcPr marL="91440" marR="91440" marT="45720" marB="45720">
                    <a:lnR w="9525">
                      <a:solidFill>
                        <a:srgbClr val="E7E1D5"/>
                      </a:solidFill>
                      <a:prstDash val="solid"/>
                    </a:lnR>
                    <a:lnB w="9525">
                      <a:solidFill>
                        <a:srgbClr val="E7E1D5"/>
                      </a:solidFill>
                      <a:prstDash val="solid"/>
                    </a:lnB>
                    <a:solidFill>
                      <a:srgbClr val="E7E1D5"/>
                    </a:solidFill>
                  </a:tcPr>
                </a:tc>
              </a:tr>
              <a:tr h="690563">
                <a:tc>
                  <a:txBody>
                    <a:bodyPr/>
                    <a:lstStyle/>
                    <a:p>
                      <a:r>
                        <a:rPr sz="1800" b="0">
                          <a:solidFill>
                            <a:srgbClr val="4B2E23"/>
                          </a:solidFill>
                          <a:latin typeface="Avenir Next"/>
                          <a:ea typeface="Avenir Next"/>
                          <a:cs typeface="Avenir Next"/>
                        </a:rPr>
                        <a:t>Candidate C1</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$0 fee</a:t>
                      </a:r>
                    </a:p>
                  </a:txBody>
                  <a:tcPr marL="91440" marR="91440" marT="45720" marB="45720">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Target behavior restored</a:t>
                      </a:r>
                    </a:p>
                  </a:txBody>
                  <a:tcPr marL="91440" marR="91440" marT="45720" marB="45720">
                    <a:lnR w="9525">
                      <a:solidFill>
                        <a:srgbClr val="E7E1D5"/>
                      </a:solidFill>
                      <a:prstDash val="solid"/>
                    </a:lnR>
                    <a:lnB w="9525">
                      <a:solidFill>
                        <a:srgbClr val="E7E1D5"/>
                      </a:solidFill>
                      <a:prstDash val="solid"/>
                    </a:lnB>
                    <a:solidFill>
                      <a:srgbClr val="F4EFE6"/>
                    </a:solidFill>
                  </a:tcPr>
                </a:tc>
              </a:tr>
            </a:tbl>
          </a:graphicData>
        </a:graphic>
      </p:graphicFrame>
      <p:sp>
        <p:nvSpPr>
          <p:cNvPr id="4" name="Then check $49.99, $50.01 and the existing te">
            <a:extLst xmlns:a="http://schemas.openxmlformats.org/drawingml/2006/main">
              <a:ext uri="{FF2B5EF4-FFF2-40B4-BE49-F238E27FC236}">
                <a16:creationId xmlns:a16="http://schemas.microsoft.com/office/drawing/2014/main" id="{56DEAA59-138D-4E7F-A929-DF89E356C46D}"/>
              </a:ext>
            </a:extLst>
          </p:cNvPr>
          <p:cNvSpPr>
            <a:spLocks xmlns:a="http://schemas.openxmlformats.org/drawingml/2006/main" noGrp="1"/>
          </p:cNvSpPr>
          <p:nvPr/>
        </p:nvSpPr>
        <p:spPr>
          <a:xfrm xmlns:a="http://schemas.openxmlformats.org/drawingml/2006/main">
            <a:off x="762000" y="5381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8E5033"/>
                </a:solidFill>
                <a:latin typeface="Avenir Next"/>
                <a:ea typeface="Avenir Next"/>
                <a:cs typeface="Avenir Next"/>
              </a:defRPr>
            </a:defPPr>
            <a:lvl1pPr>
              <a:defRPr sz="2400" b="0">
                <a:solidFill>
                  <a:srgbClr val="8E5033"/>
                </a:solidFill>
                <a:latin typeface="Avenir Next"/>
                <a:ea typeface="Avenir Next"/>
                <a:cs typeface="Avenir Next"/>
              </a:defRPr>
            </a:lvl1pPr>
            <a:lvl2pPr>
              <a:defRPr sz="2400" b="0">
                <a:solidFill>
                  <a:srgbClr val="8E5033"/>
                </a:solidFill>
                <a:latin typeface="Avenir Next"/>
                <a:ea typeface="Avenir Next"/>
                <a:cs typeface="Avenir Next"/>
              </a:defRPr>
            </a:lvl2pPr>
            <a:lvl3pPr>
              <a:defRPr sz="2400" b="0">
                <a:solidFill>
                  <a:srgbClr val="8E5033"/>
                </a:solidFill>
                <a:latin typeface="Avenir Next"/>
                <a:ea typeface="Avenir Next"/>
                <a:cs typeface="Avenir Next"/>
              </a:defRPr>
            </a:lvl3pPr>
            <a:lvl4pPr>
              <a:defRPr sz="2400" b="0">
                <a:solidFill>
                  <a:srgbClr val="8E5033"/>
                </a:solidFill>
                <a:latin typeface="Avenir Next"/>
                <a:ea typeface="Avenir Next"/>
                <a:cs typeface="Avenir Next"/>
              </a:defRPr>
            </a:lvl4pPr>
            <a:lvl5pPr>
              <a:defRPr sz="2400" b="0">
                <a:solidFill>
                  <a:srgbClr val="8E5033"/>
                </a:solidFill>
                <a:latin typeface="Avenir Next"/>
                <a:ea typeface="Avenir Next"/>
                <a:cs typeface="Avenir Next"/>
              </a:defRPr>
            </a:lvl5pPr>
            <a:lvl6pPr>
              <a:defRPr sz="2400" b="0">
                <a:solidFill>
                  <a:srgbClr val="8E5033"/>
                </a:solidFill>
                <a:latin typeface="Avenir Next"/>
                <a:ea typeface="Avenir Next"/>
                <a:cs typeface="Avenir Next"/>
              </a:defRPr>
            </a:lvl6pPr>
            <a:lvl7pPr>
              <a:defRPr sz="2400" b="0">
                <a:solidFill>
                  <a:srgbClr val="8E5033"/>
                </a:solidFill>
                <a:latin typeface="Avenir Next"/>
                <a:ea typeface="Avenir Next"/>
                <a:cs typeface="Avenir Next"/>
              </a:defRPr>
            </a:lvl7pPr>
            <a:lvl8pPr>
              <a:defRPr sz="2400" b="0">
                <a:solidFill>
                  <a:srgbClr val="8E5033"/>
                </a:solidFill>
                <a:latin typeface="Avenir Next"/>
                <a:ea typeface="Avenir Next"/>
                <a:cs typeface="Avenir Next"/>
              </a:defRPr>
            </a:lvl8pPr>
            <a:lvl9pPr>
              <a:defRPr sz="2400" b="0">
                <a:solidFill>
                  <a:srgbClr val="8E5033"/>
                </a:solidFill>
                <a:latin typeface="Avenir Next"/>
                <a:ea typeface="Avenir Next"/>
                <a:cs typeface="Avenir Next"/>
              </a:defRPr>
            </a:lvl9pPr>
          </a:lstStyle>
          <a:p xmlns:a="http://schemas.openxmlformats.org/drawingml/2006/main">
            <a:pPr>
              <a:defRPr sz="2400" b="0">
                <a:solidFill>
                  <a:srgbClr val="8E5033"/>
                </a:solidFill>
                <a:latin typeface="Avenir Next"/>
                <a:ea typeface="Avenir Next"/>
                <a:cs typeface="Avenir Next"/>
              </a:defRPr>
            </a:pPr>
            <a:r>
              <a:rPr sz="2400" b="0">
                <a:solidFill>
                  <a:srgbClr val="8E5033"/>
                </a:solidFill>
                <a:latin typeface="Avenir Next"/>
                <a:ea typeface="Avenir Next"/>
                <a:cs typeface="Avenir Next"/>
              </a:rPr>
              <a:t>Then check $49.99, $50.01 and the existing tests</a:t>
            </a:r>
          </a:p>
        </p:txBody>
      </p:sp>
      <p:sp>
        <p:nvSpPr>
          <p:cNvPr id="5" name="Expected results for an unexecuted example">
            <a:extLst xmlns:a="http://schemas.openxmlformats.org/drawingml/2006/main">
              <a:ext uri="{FF2B5EF4-FFF2-40B4-BE49-F238E27FC236}">
                <a16:creationId xmlns:a16="http://schemas.microsoft.com/office/drawing/2014/main" id="{EF6C81F5-3EA3-4D96-B72F-4DAB2407C893}"/>
              </a:ext>
            </a:extLst>
          </p:cNvPr>
          <p:cNvSpPr>
            <a:spLocks xmlns:a="http://schemas.openxmlformats.org/drawingml/2006/main" noGrp="1"/>
          </p:cNvSpPr>
          <p:nvPr/>
        </p:nvSpPr>
        <p:spPr>
          <a:xfrm xmlns:a="http://schemas.openxmlformats.org/drawingml/2006/main">
            <a:off x="762000" y="6048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8E5033"/>
                </a:solidFill>
                <a:latin typeface="Avenir Next"/>
                <a:ea typeface="Avenir Next"/>
                <a:cs typeface="Avenir Next"/>
              </a:defRPr>
            </a:defPPr>
            <a:lvl1pPr>
              <a:defRPr sz="1350" b="0">
                <a:solidFill>
                  <a:srgbClr val="8E5033"/>
                </a:solidFill>
                <a:latin typeface="Avenir Next"/>
                <a:ea typeface="Avenir Next"/>
                <a:cs typeface="Avenir Next"/>
              </a:defRPr>
            </a:lvl1pPr>
            <a:lvl2pPr>
              <a:defRPr sz="1350" b="0">
                <a:solidFill>
                  <a:srgbClr val="8E5033"/>
                </a:solidFill>
                <a:latin typeface="Avenir Next"/>
                <a:ea typeface="Avenir Next"/>
                <a:cs typeface="Avenir Next"/>
              </a:defRPr>
            </a:lvl2pPr>
            <a:lvl3pPr>
              <a:defRPr sz="1350" b="0">
                <a:solidFill>
                  <a:srgbClr val="8E5033"/>
                </a:solidFill>
                <a:latin typeface="Avenir Next"/>
                <a:ea typeface="Avenir Next"/>
                <a:cs typeface="Avenir Next"/>
              </a:defRPr>
            </a:lvl3pPr>
            <a:lvl4pPr>
              <a:defRPr sz="1350" b="0">
                <a:solidFill>
                  <a:srgbClr val="8E5033"/>
                </a:solidFill>
                <a:latin typeface="Avenir Next"/>
                <a:ea typeface="Avenir Next"/>
                <a:cs typeface="Avenir Next"/>
              </a:defRPr>
            </a:lvl4pPr>
            <a:lvl5pPr>
              <a:defRPr sz="1350" b="0">
                <a:solidFill>
                  <a:srgbClr val="8E5033"/>
                </a:solidFill>
                <a:latin typeface="Avenir Next"/>
                <a:ea typeface="Avenir Next"/>
                <a:cs typeface="Avenir Next"/>
              </a:defRPr>
            </a:lvl5pPr>
            <a:lvl6pPr>
              <a:defRPr sz="1350" b="0">
                <a:solidFill>
                  <a:srgbClr val="8E5033"/>
                </a:solidFill>
                <a:latin typeface="Avenir Next"/>
                <a:ea typeface="Avenir Next"/>
                <a:cs typeface="Avenir Next"/>
              </a:defRPr>
            </a:lvl6pPr>
            <a:lvl7pPr>
              <a:defRPr sz="1350" b="0">
                <a:solidFill>
                  <a:srgbClr val="8E5033"/>
                </a:solidFill>
                <a:latin typeface="Avenir Next"/>
                <a:ea typeface="Avenir Next"/>
                <a:cs typeface="Avenir Next"/>
              </a:defRPr>
            </a:lvl7pPr>
            <a:lvl8pPr>
              <a:defRPr sz="1350" b="0">
                <a:solidFill>
                  <a:srgbClr val="8E5033"/>
                </a:solidFill>
                <a:latin typeface="Avenir Next"/>
                <a:ea typeface="Avenir Next"/>
                <a:cs typeface="Avenir Next"/>
              </a:defRPr>
            </a:lvl8pPr>
            <a:lvl9pPr>
              <a:defRPr sz="1350" b="0">
                <a:solidFill>
                  <a:srgbClr val="8E5033"/>
                </a:solidFill>
                <a:latin typeface="Avenir Next"/>
                <a:ea typeface="Avenir Next"/>
                <a:cs typeface="Avenir Next"/>
              </a:defRPr>
            </a:lvl9pPr>
          </a:lstStyle>
          <a:p xmlns:a="http://schemas.openxmlformats.org/drawingml/2006/main">
            <a:pPr>
              <a:defRPr sz="1350" b="0">
                <a:solidFill>
                  <a:srgbClr val="8E5033"/>
                </a:solidFill>
                <a:latin typeface="Avenir Next"/>
                <a:ea typeface="Avenir Next"/>
                <a:cs typeface="Avenir Next"/>
              </a:defRPr>
            </a:pPr>
            <a:r>
              <a:rPr sz="1350" b="0">
                <a:solidFill>
                  <a:srgbClr val="8E5033"/>
                </a:solidFill>
                <a:latin typeface="Avenir Next"/>
                <a:ea typeface="Avenir Next"/>
                <a:cs typeface="Avenir Next"/>
              </a:rPr>
              <a:t>Expected results for an unexecuted example</a:t>
            </a:r>
          </a:p>
        </p:txBody>
      </p:sp>
    </p:spTree>
    <p:extLst>
      <p:ext uri="{BB962C8B-B14F-4D97-AF65-F5344CB8AC3E}">
        <p14:creationId xmlns:p14="http://schemas.microsoft.com/office/powerpoint/2010/main" val="250876714"/>
      </p:ext>
    </p:extLst>
  </p:cSld>
</p:sld>
</file>

<file path=ppt/slides/slide17.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5" name="Three real GitHub controls">
            <a:extLst xmlns:a="http://schemas.openxmlformats.org/drawingml/2006/main">
              <a:ext uri="{FF2B5EF4-FFF2-40B4-BE49-F238E27FC236}">
                <a16:creationId xmlns:a16="http://schemas.microsoft.com/office/drawing/2014/main" id="{E8F616F4-06CB-40E5-B159-7D035EC129D2}"/>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Three real GitHub controls</a:t>
            </a:r>
          </a:p>
        </p:txBody>
      </p:sp>
      <p:sp>
        <p:nvSpPr>
          <p:cNvPr id="2" name="17">
            <a:extLst xmlns:a="http://schemas.openxmlformats.org/drawingml/2006/main">
              <a:ext uri="{FF2B5EF4-FFF2-40B4-BE49-F238E27FC236}">
                <a16:creationId xmlns:a16="http://schemas.microsoft.com/office/drawing/2014/main" id="{36BB3488-8B37-4E75-A47F-C4B5BF435919}"/>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17</a:t>
            </a:r>
          </a:p>
        </p:txBody>
      </p:sp>
      <p:graphicFrame>
        <p:nvGraphicFramePr>
          <p:cNvPr id="3" name="">
            <a:extLst xmlns:a="http://schemas.openxmlformats.org/drawingml/2006/main">
              <a:ext uri="{FF2B5EF4-FFF2-40B4-BE49-F238E27FC236}">
                <a16:creationId xmlns:a16="http://schemas.microsoft.com/office/drawing/2014/main" id="{FDE87707-253F-4D13-97D8-E35C91834AD2}"/>
              </a:ext>
            </a:extLst>
          </p:cNvPr>
          <p:cNvGraphicFramePr/>
          <p:nvPr/>
        </p:nvGraphicFramePr>
        <p:xfrm>
          <a:off xmlns:a="http://schemas.openxmlformats.org/drawingml/2006/main" x="762000" y="2095500"/>
          <a:ext xmlns:a="http://schemas.openxmlformats.org/drawingml/2006/main" cx="10668000" cy="3000375"/>
        </p:xfrm>
        <a:graphic xmlns:a="http://schemas.openxmlformats.org/drawingml/2006/main">
          <a:graphicData uri="http://schemas.openxmlformats.org/drawingml/2006/table">
            <a:tbl>
              <a:tblPr/>
              <a:tblGrid>
                <a:gridCol w="4476750"/>
                <a:gridCol w="6191250"/>
              </a:tblGrid>
              <a:tr h="750094">
                <a:tc>
                  <a:txBody>
                    <a:bodyPr/>
                    <a:lstStyle/>
                    <a:p>
                      <a:r>
                        <a:rPr sz="1650" b="1">
                          <a:solidFill>
                            <a:srgbClr val="FFFFFF"/>
                          </a:solidFill>
                          <a:latin typeface="Avenir Next"/>
                          <a:ea typeface="Avenir Next"/>
                          <a:cs typeface="Avenir Next"/>
                        </a:rPr>
                        <a:t>Setting</a:t>
                      </a:r>
                    </a:p>
                  </a:txBody>
                  <a:tcPr marL="91440" marR="91440" marT="45720" marB="45720">
                    <a:lnL w="9525">
                      <a:solidFill>
                        <a:srgbClr val="E7E1D5"/>
                      </a:solidFill>
                      <a:prstDash val="solid"/>
                    </a:lnL>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What it protects</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r>
              <a:tr h="750094">
                <a:tc>
                  <a:txBody>
                    <a:bodyPr/>
                    <a:lstStyle/>
                    <a:p>
                      <a:r>
                        <a:rPr sz="1800" b="0">
                          <a:solidFill>
                            <a:srgbClr val="4B2E23"/>
                          </a:solidFill>
                          <a:latin typeface="Avenir Next"/>
                          <a:ea typeface="Avenir Next"/>
                          <a:cs typeface="Avenir Next"/>
                        </a:rPr>
                        <a:t>Require status checks to pass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Chosen checks must report an eligible result</a:t>
                      </a:r>
                    </a:p>
                  </a:txBody>
                  <a:tcPr marL="91440" marR="91440" marT="45720" marB="45720">
                    <a:lnR w="9525">
                      <a:solidFill>
                        <a:srgbClr val="E7E1D5"/>
                      </a:solidFill>
                      <a:prstDash val="solid"/>
                    </a:lnR>
                    <a:lnB w="9525">
                      <a:solidFill>
                        <a:srgbClr val="E7E1D5"/>
                      </a:solidFill>
                      <a:prstDash val="solid"/>
                    </a:lnB>
                    <a:solidFill>
                      <a:srgbClr val="F4EFE6"/>
                    </a:solidFill>
                  </a:tcPr>
                </a:tc>
              </a:tr>
              <a:tr h="750094">
                <a:tc>
                  <a:txBody>
                    <a:bodyPr/>
                    <a:lstStyle/>
                    <a:p>
                      <a:r>
                        <a:rPr sz="1800" b="0">
                          <a:solidFill>
                            <a:srgbClr val="4B2E23"/>
                          </a:solidFill>
                          <a:latin typeface="Avenir Next"/>
                          <a:ea typeface="Avenir Next"/>
                          <a:cs typeface="Avenir Next"/>
                        </a:rPr>
                        <a:t>Dismiss stale approvals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New code can require human review again</a:t>
                      </a:r>
                    </a:p>
                  </a:txBody>
                  <a:tcPr marL="91440" marR="91440" marT="45720" marB="45720">
                    <a:lnR w="9525">
                      <a:solidFill>
                        <a:srgbClr val="E7E1D5"/>
                      </a:solidFill>
                      <a:prstDash val="solid"/>
                    </a:lnR>
                    <a:lnB w="9525">
                      <a:solidFill>
                        <a:srgbClr val="E7E1D5"/>
                      </a:solidFill>
                      <a:prstDash val="solid"/>
                    </a:lnB>
                    <a:solidFill>
                      <a:srgbClr val="E7E1D5"/>
                    </a:solidFill>
                  </a:tcPr>
                </a:tc>
              </a:tr>
              <a:tr h="750094">
                <a:tc>
                  <a:txBody>
                    <a:bodyPr/>
                    <a:lstStyle/>
                    <a:p>
                      <a:r>
                        <a:rPr sz="1800" b="0">
                          <a:solidFill>
                            <a:srgbClr val="4B2E23"/>
                          </a:solidFill>
                          <a:latin typeface="Avenir Next"/>
                          <a:ea typeface="Avenir Next"/>
                          <a:cs typeface="Avenir Next"/>
                        </a:rPr>
                        <a:t>Require conversation resolution</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Open review discussions must be addressed</a:t>
                      </a:r>
                    </a:p>
                  </a:txBody>
                  <a:tcPr marL="91440" marR="91440" marT="45720" marB="45720">
                    <a:lnR w="9525">
                      <a:solidFill>
                        <a:srgbClr val="E7E1D5"/>
                      </a:solidFill>
                      <a:prstDash val="solid"/>
                    </a:lnR>
                    <a:lnB w="9525">
                      <a:solidFill>
                        <a:srgbClr val="E7E1D5"/>
                      </a:solidFill>
                      <a:prstDash val="solid"/>
                    </a:lnB>
                    <a:solidFill>
                      <a:srgbClr val="F4EFE6"/>
                    </a:solidFill>
                  </a:tcPr>
                </a:tc>
              </a:tr>
            </a:tbl>
          </a:graphicData>
        </a:graphic>
      </p:graphicFrame>
      <p:sp>
        <p:nvSpPr>
          <p:cNvPr id="4" name="Merge rules do not approve an unpublished pat">
            <a:extLst xmlns:a="http://schemas.openxmlformats.org/drawingml/2006/main">
              <a:ext uri="{FF2B5EF4-FFF2-40B4-BE49-F238E27FC236}">
                <a16:creationId xmlns:a16="http://schemas.microsoft.com/office/drawing/2014/main" id="{D40DFC04-A9BA-43B1-8CEE-77C181AFA33E}"/>
              </a:ext>
            </a:extLst>
          </p:cNvPr>
          <p:cNvSpPr>
            <a:spLocks xmlns:a="http://schemas.openxmlformats.org/drawingml/2006/main" noGrp="1"/>
          </p:cNvSpPr>
          <p:nvPr/>
        </p:nvSpPr>
        <p:spPr>
          <a:xfrm xmlns:a="http://schemas.openxmlformats.org/drawingml/2006/main">
            <a:off x="762000" y="557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8E5033"/>
                </a:solidFill>
                <a:latin typeface="Avenir Next"/>
                <a:ea typeface="Avenir Next"/>
                <a:cs typeface="Avenir Next"/>
              </a:defRPr>
            </a:defPPr>
            <a:lvl1pPr>
              <a:defRPr sz="2325" b="0">
                <a:solidFill>
                  <a:srgbClr val="8E5033"/>
                </a:solidFill>
                <a:latin typeface="Avenir Next"/>
                <a:ea typeface="Avenir Next"/>
                <a:cs typeface="Avenir Next"/>
              </a:defRPr>
            </a:lvl1pPr>
            <a:lvl2pPr>
              <a:defRPr sz="2325" b="0">
                <a:solidFill>
                  <a:srgbClr val="8E5033"/>
                </a:solidFill>
                <a:latin typeface="Avenir Next"/>
                <a:ea typeface="Avenir Next"/>
                <a:cs typeface="Avenir Next"/>
              </a:defRPr>
            </a:lvl2pPr>
            <a:lvl3pPr>
              <a:defRPr sz="2325" b="0">
                <a:solidFill>
                  <a:srgbClr val="8E5033"/>
                </a:solidFill>
                <a:latin typeface="Avenir Next"/>
                <a:ea typeface="Avenir Next"/>
                <a:cs typeface="Avenir Next"/>
              </a:defRPr>
            </a:lvl3pPr>
            <a:lvl4pPr>
              <a:defRPr sz="2325" b="0">
                <a:solidFill>
                  <a:srgbClr val="8E5033"/>
                </a:solidFill>
                <a:latin typeface="Avenir Next"/>
                <a:ea typeface="Avenir Next"/>
                <a:cs typeface="Avenir Next"/>
              </a:defRPr>
            </a:lvl4pPr>
            <a:lvl5pPr>
              <a:defRPr sz="2325" b="0">
                <a:solidFill>
                  <a:srgbClr val="8E5033"/>
                </a:solidFill>
                <a:latin typeface="Avenir Next"/>
                <a:ea typeface="Avenir Next"/>
                <a:cs typeface="Avenir Next"/>
              </a:defRPr>
            </a:lvl5pPr>
            <a:lvl6pPr>
              <a:defRPr sz="2325" b="0">
                <a:solidFill>
                  <a:srgbClr val="8E5033"/>
                </a:solidFill>
                <a:latin typeface="Avenir Next"/>
                <a:ea typeface="Avenir Next"/>
                <a:cs typeface="Avenir Next"/>
              </a:defRPr>
            </a:lvl6pPr>
            <a:lvl7pPr>
              <a:defRPr sz="2325" b="0">
                <a:solidFill>
                  <a:srgbClr val="8E5033"/>
                </a:solidFill>
                <a:latin typeface="Avenir Next"/>
                <a:ea typeface="Avenir Next"/>
                <a:cs typeface="Avenir Next"/>
              </a:defRPr>
            </a:lvl7pPr>
            <a:lvl8pPr>
              <a:defRPr sz="2325" b="0">
                <a:solidFill>
                  <a:srgbClr val="8E5033"/>
                </a:solidFill>
                <a:latin typeface="Avenir Next"/>
                <a:ea typeface="Avenir Next"/>
                <a:cs typeface="Avenir Next"/>
              </a:defRPr>
            </a:lvl8pPr>
            <a:lvl9pPr>
              <a:defRPr sz="2325" b="0">
                <a:solidFill>
                  <a:srgbClr val="8E5033"/>
                </a:solidFill>
                <a:latin typeface="Avenir Next"/>
                <a:ea typeface="Avenir Next"/>
                <a:cs typeface="Avenir Next"/>
              </a:defRPr>
            </a:lvl9pPr>
          </a:lstStyle>
          <a:p xmlns:a="http://schemas.openxmlformats.org/drawingml/2006/main">
            <a:pPr>
              <a:defRPr sz="2325" b="0">
                <a:solidFill>
                  <a:srgbClr val="8E5033"/>
                </a:solidFill>
                <a:latin typeface="Avenir Next"/>
                <a:ea typeface="Avenir Next"/>
                <a:cs typeface="Avenir Next"/>
              </a:defRPr>
            </a:pPr>
            <a:r>
              <a:rPr sz="2325" b="0">
                <a:solidFill>
                  <a:srgbClr val="8E5033"/>
                </a:solidFill>
                <a:latin typeface="Avenir Next"/>
                <a:ea typeface="Avenir Next"/>
                <a:cs typeface="Avenir Next"/>
              </a:rPr>
              <a:t>Merge rules do not approve an unpublished patch</a:t>
            </a:r>
          </a:p>
        </p:txBody>
      </p:sp>
    </p:spTree>
    <p:extLst>
      <p:ext uri="{BB962C8B-B14F-4D97-AF65-F5344CB8AC3E}">
        <p14:creationId xmlns:p14="http://schemas.microsoft.com/office/powerpoint/2010/main" val="1168000497"/>
      </p:ext>
    </p:extLst>
  </p:cSld>
</p:sld>
</file>

<file path=ppt/slides/slide18.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4" name="One bot needs different PR strategies">
            <a:extLst xmlns:a="http://schemas.openxmlformats.org/drawingml/2006/main">
              <a:ext uri="{FF2B5EF4-FFF2-40B4-BE49-F238E27FC236}">
                <a16:creationId xmlns:a16="http://schemas.microsoft.com/office/drawing/2014/main" id="{F4834FFC-8B7F-41F0-9083-EE99825BF051}"/>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One bot needs different PR strategies</a:t>
            </a:r>
          </a:p>
        </p:txBody>
      </p:sp>
      <p:sp>
        <p:nvSpPr>
          <p:cNvPr id="2" name="18">
            <a:extLst xmlns:a="http://schemas.openxmlformats.org/drawingml/2006/main">
              <a:ext uri="{FF2B5EF4-FFF2-40B4-BE49-F238E27FC236}">
                <a16:creationId xmlns:a16="http://schemas.microsoft.com/office/drawing/2014/main" id="{31331688-91EC-41C4-90F7-FF2A5E1A429D}"/>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18</a:t>
            </a:r>
          </a:p>
        </p:txBody>
      </p:sp>
      <p:graphicFrame>
        <p:nvGraphicFramePr>
          <p:cNvPr id="3" name="">
            <a:extLst xmlns:a="http://schemas.openxmlformats.org/drawingml/2006/main">
              <a:ext uri="{FF2B5EF4-FFF2-40B4-BE49-F238E27FC236}">
                <a16:creationId xmlns:a16="http://schemas.microsoft.com/office/drawing/2014/main" id="{36B0B23D-2E5D-4C21-B8E6-E29140CC69FE}"/>
              </a:ext>
            </a:extLst>
          </p:cNvPr>
          <p:cNvGraphicFramePr/>
          <p:nvPr/>
        </p:nvGraphicFramePr>
        <p:xfrm>
          <a:off xmlns:a="http://schemas.openxmlformats.org/drawingml/2006/main" x="762000" y="2028825"/>
          <a:ext xmlns:a="http://schemas.openxmlformats.org/drawingml/2006/main" cx="10668000" cy="3619500"/>
        </p:xfrm>
        <a:graphic xmlns:a="http://schemas.openxmlformats.org/drawingml/2006/main">
          <a:graphicData uri="http://schemas.openxmlformats.org/drawingml/2006/table">
            <a:tbl>
              <a:tblPr/>
              <a:tblGrid>
                <a:gridCol w="3238500"/>
                <a:gridCol w="7429500"/>
              </a:tblGrid>
              <a:tr h="723900">
                <a:tc>
                  <a:txBody>
                    <a:bodyPr/>
                    <a:lstStyle/>
                    <a:p>
                      <a:r>
                        <a:rPr sz="1650" b="1">
                          <a:solidFill>
                            <a:srgbClr val="FFFFFF"/>
                          </a:solidFill>
                          <a:latin typeface="Avenir Next"/>
                          <a:ea typeface="Avenir Next"/>
                          <a:cs typeface="Avenir Next"/>
                        </a:rPr>
                        <a:t>PR type</a:t>
                      </a:r>
                    </a:p>
                  </a:txBody>
                  <a:tcPr marL="91440" marR="91440" marT="45720" marB="45720">
                    <a:lnL w="9525">
                      <a:solidFill>
                        <a:srgbClr val="E7E1D5"/>
                      </a:solidFill>
                      <a:prstDash val="solid"/>
                    </a:lnL>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c>
                  <a:txBody>
                    <a:bodyPr/>
                    <a:lstStyle/>
                    <a:p>
                      <a:r>
                        <a:rPr sz="1650" b="1">
                          <a:solidFill>
                            <a:srgbClr val="FFFFFF"/>
                          </a:solidFill>
                          <a:latin typeface="Avenir Next"/>
                          <a:ea typeface="Avenir Next"/>
                          <a:cs typeface="Avenir Next"/>
                        </a:rPr>
                        <a:t>Useful strategy</a:t>
                      </a:r>
                    </a:p>
                  </a:txBody>
                  <a:tcPr marL="91440" marR="91440" marT="45720" marB="45720">
                    <a:lnR w="9525">
                      <a:solidFill>
                        <a:srgbClr val="E7E1D5"/>
                      </a:solidFill>
                      <a:prstDash val="solid"/>
                    </a:lnR>
                    <a:lnT w="9525">
                      <a:solidFill>
                        <a:srgbClr val="E7E1D5"/>
                      </a:solidFill>
                      <a:prstDash val="solid"/>
                    </a:lnT>
                    <a:lnB w="9525">
                      <a:solidFill>
                        <a:srgbClr val="E7E1D5"/>
                      </a:solidFill>
                      <a:prstDash val="solid"/>
                    </a:lnB>
                    <a:solidFill>
                      <a:srgbClr val="8E5033"/>
                    </a:solidFill>
                  </a:tcPr>
                </a:tc>
              </a:tr>
              <a:tr h="723900">
                <a:tc>
                  <a:txBody>
                    <a:bodyPr/>
                    <a:lstStyle/>
                    <a:p>
                      <a:r>
                        <a:rPr sz="1800" b="0">
                          <a:solidFill>
                            <a:srgbClr val="4B2E23"/>
                          </a:solidFill>
                          <a:latin typeface="Avenir Next"/>
                          <a:ea typeface="Avenir Next"/>
                          <a:cs typeface="Avenir Next"/>
                        </a:rPr>
                        <a:t>Documentation</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Check truth, links and executable instructions</a:t>
                      </a:r>
                    </a:p>
                  </a:txBody>
                  <a:tcPr marL="91440" marR="91440" marT="45720" marB="45720">
                    <a:lnR w="9525">
                      <a:solidFill>
                        <a:srgbClr val="E7E1D5"/>
                      </a:solidFill>
                      <a:prstDash val="solid"/>
                    </a:lnR>
                    <a:lnB w="9525">
                      <a:solidFill>
                        <a:srgbClr val="E7E1D5"/>
                      </a:solidFill>
                      <a:prstDash val="solid"/>
                    </a:lnB>
                    <a:solidFill>
                      <a:srgbClr val="F4EFE6"/>
                    </a:solidFill>
                  </a:tcPr>
                </a:tc>
              </a:tr>
              <a:tr h="723900">
                <a:tc>
                  <a:txBody>
                    <a:bodyPr/>
                    <a:lstStyle/>
                    <a:p>
                      <a:r>
                        <a:rPr sz="1800" b="0">
                          <a:solidFill>
                            <a:srgbClr val="4B2E23"/>
                          </a:solidFill>
                          <a:latin typeface="Avenir Next"/>
                          <a:ea typeface="Avenir Next"/>
                          <a:cs typeface="Avenir Next"/>
                        </a:rPr>
                        <a:t>Dependencies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Check compatibility, lockfile and install risk</a:t>
                      </a:r>
                    </a:p>
                  </a:txBody>
                  <a:tcPr marL="91440" marR="91440" marT="45720" marB="45720">
                    <a:lnR w="9525">
                      <a:solidFill>
                        <a:srgbClr val="E7E1D5"/>
                      </a:solidFill>
                      <a:prstDash val="solid"/>
                    </a:lnR>
                    <a:lnB w="9525">
                      <a:solidFill>
                        <a:srgbClr val="E7E1D5"/>
                      </a:solidFill>
                      <a:prstDash val="solid"/>
                    </a:lnB>
                    <a:solidFill>
                      <a:srgbClr val="E7E1D5"/>
                    </a:solidFill>
                  </a:tcPr>
                </a:tc>
              </a:tr>
              <a:tr h="723900">
                <a:tc>
                  <a:txBody>
                    <a:bodyPr/>
                    <a:lstStyle/>
                    <a:p>
                      <a:r>
                        <a:rPr sz="1800" b="0">
                          <a:solidFill>
                            <a:srgbClr val="4B2E23"/>
                          </a:solidFill>
                          <a:latin typeface="Avenir Next"/>
                          <a:ea typeface="Avenir Next"/>
                          <a:cs typeface="Avenir Next"/>
                        </a:rPr>
                        <a:t>Native or GPU code</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F4EFE6"/>
                    </a:solidFill>
                  </a:tcPr>
                </a:tc>
                <a:tc>
                  <a:txBody>
                    <a:bodyPr/>
                    <a:lstStyle/>
                    <a:p>
                      <a:r>
                        <a:rPr sz="1800" b="0">
                          <a:solidFill>
                            <a:srgbClr val="4B2E23"/>
                          </a:solidFill>
                          <a:latin typeface="Avenir Next"/>
                          <a:ea typeface="Avenir Next"/>
                          <a:cs typeface="Avenir Next"/>
                        </a:rPr>
                        <a:t>Use real toolchain and device checks</a:t>
                      </a:r>
                    </a:p>
                  </a:txBody>
                  <a:tcPr marL="91440" marR="91440" marT="45720" marB="45720">
                    <a:lnR w="9525">
                      <a:solidFill>
                        <a:srgbClr val="E7E1D5"/>
                      </a:solidFill>
                      <a:prstDash val="solid"/>
                    </a:lnR>
                    <a:lnB w="9525">
                      <a:solidFill>
                        <a:srgbClr val="E7E1D5"/>
                      </a:solidFill>
                      <a:prstDash val="solid"/>
                    </a:lnB>
                    <a:solidFill>
                      <a:srgbClr val="F4EFE6"/>
                    </a:solidFill>
                  </a:tcPr>
                </a:tc>
              </a:tr>
              <a:tr h="723900">
                <a:tc>
                  <a:txBody>
                    <a:bodyPr/>
                    <a:lstStyle/>
                    <a:p>
                      <a:r>
                        <a:rPr sz="1800" b="0">
                          <a:solidFill>
                            <a:srgbClr val="4B2E23"/>
                          </a:solidFill>
                          <a:latin typeface="Avenir Next"/>
                          <a:ea typeface="Avenir Next"/>
                          <a:cs typeface="Avenir Next"/>
                        </a:rPr>
                        <a:t>Security or workflow changes</a:t>
                      </a:r>
                    </a:p>
                  </a:txBody>
                  <a:tcPr marL="91440" marR="91440" marT="45720" marB="45720">
                    <a:lnL w="9525">
                      <a:solidFill>
                        <a:srgbClr val="E7E1D5"/>
                      </a:solidFill>
                      <a:prstDash val="solid"/>
                    </a:lnL>
                    <a:lnR w="9525">
                      <a:solidFill>
                        <a:srgbClr val="E7E1D5"/>
                      </a:solidFill>
                      <a:prstDash val="solid"/>
                    </a:lnR>
                    <a:lnB w="9525">
                      <a:solidFill>
                        <a:srgbClr val="E7E1D5"/>
                      </a:solidFill>
                      <a:prstDash val="solid"/>
                    </a:lnB>
                    <a:solidFill>
                      <a:srgbClr val="E7E1D5"/>
                    </a:solidFill>
                  </a:tcPr>
                </a:tc>
                <a:tc>
                  <a:txBody>
                    <a:bodyPr/>
                    <a:lstStyle/>
                    <a:p>
                      <a:r>
                        <a:rPr sz="1800" b="0">
                          <a:solidFill>
                            <a:srgbClr val="4B2E23"/>
                          </a:solidFill>
                          <a:latin typeface="Avenir Next"/>
                          <a:ea typeface="Avenir Next"/>
                          <a:cs typeface="Avenir Next"/>
                        </a:rPr>
                        <a:t>Use specialist evidence and human ownership</a:t>
                      </a:r>
                    </a:p>
                  </a:txBody>
                  <a:tcPr marL="91440" marR="91440" marT="45720" marB="45720">
                    <a:lnR w="9525">
                      <a:solidFill>
                        <a:srgbClr val="E7E1D5"/>
                      </a:solidFill>
                      <a:prstDash val="solid"/>
                    </a:lnR>
                    <a:lnB w="9525">
                      <a:solidFill>
                        <a:srgbClr val="E7E1D5"/>
                      </a:solidFill>
                      <a:prstDash val="solid"/>
                    </a:lnB>
                    <a:solidFill>
                      <a:srgbClr val="E7E1D5"/>
                    </a:solidFill>
                  </a:tcPr>
                </a:tc>
              </a:tr>
            </a:tbl>
          </a:graphicData>
        </a:graphic>
      </p:graphicFrame>
    </p:spTree>
    <p:extLst>
      <p:ext uri="{BB962C8B-B14F-4D97-AF65-F5344CB8AC3E}">
        <p14:creationId xmlns:p14="http://schemas.microsoft.com/office/powerpoint/2010/main" val="1358730806"/>
      </p:ext>
    </p:extLst>
  </p:cSld>
</p:sld>
</file>

<file path=ppt/slides/slide19.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C446D4A-F4DB-4EEB-AB85-6BD909180E2F}"/>
              </a:ext>
            </a:extLst>
          </p:cNvPr>
          <p:cNvCxnSpPr>
            <a:stCxn xmlns:a="http://schemas.openxmlformats.org/drawingml/2006/main" id="5" idx="3"/>
            <a:endCxn xmlns:a="http://schemas.openxmlformats.org/drawingml/2006/main" id="7" idx="1"/>
          </p:cNvCxnSpPr>
          <p:nvPr/>
        </p:nvCxnSpPr>
        <p:spPr>
          <a:xfrm xmlns:a="http://schemas.openxmlformats.org/drawingml/2006/main">
            <a:off x="7524750" y="3190875"/>
            <a:ext cx="1047750"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74E32DC4-5E9E-48AB-B3C1-D8195E3326C5}"/>
              </a:ext>
            </a:extLst>
          </p:cNvPr>
          <p:cNvCxnSpPr>
            <a:stCxn xmlns:a="http://schemas.openxmlformats.org/drawingml/2006/main" id="3" idx="3"/>
            <a:endCxn xmlns:a="http://schemas.openxmlformats.org/drawingml/2006/main" id="5" idx="1"/>
          </p:cNvCxnSpPr>
          <p:nvPr/>
        </p:nvCxnSpPr>
        <p:spPr>
          <a:xfrm xmlns:a="http://schemas.openxmlformats.org/drawingml/2006/main">
            <a:off x="3619500" y="3190875"/>
            <a:ext cx="1047750" cy="0"/>
          </a:xfrm>
          <a:prstGeom xmlns:a="http://schemas.openxmlformats.org/drawingml/2006/main" prst="straightConnector1">
            <a:avLst/>
          </a:prstGeom>
          <a:ln xmlns:a="http://schemas.openxmlformats.org/drawingml/2006/main" w="19050">
            <a:solidFill>
              <a:srgbClr val="8E5033"/>
            </a:solidFill>
            <a:prstDash val="solid"/>
            <a:tailEnd type="triangle" w="med" len="med"/>
          </a:ln>
        </p:spPr>
      </p:cxnSp>
      <p:sp>
        <p:nvSpPr>
          <p:cNvPr id="12" name="New commits make old results stale">
            <a:extLst xmlns:a="http://schemas.openxmlformats.org/drawingml/2006/main">
              <a:ext uri="{FF2B5EF4-FFF2-40B4-BE49-F238E27FC236}">
                <a16:creationId xmlns:a16="http://schemas.microsoft.com/office/drawing/2014/main" id="{B7B01F3E-3AB1-4B8D-9EB3-A9B9575701F1}"/>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New commits make old results stale</a:t>
            </a:r>
          </a:p>
        </p:txBody>
      </p:sp>
      <p:sp>
        <p:nvSpPr>
          <p:cNvPr id="2" name="19">
            <a:extLst xmlns:a="http://schemas.openxmlformats.org/drawingml/2006/main">
              <a:ext uri="{FF2B5EF4-FFF2-40B4-BE49-F238E27FC236}">
                <a16:creationId xmlns:a16="http://schemas.microsoft.com/office/drawing/2014/main" id="{901C5D47-D168-4F55-9472-FE1924EE40DA}"/>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19</a:t>
            </a:r>
          </a:p>
        </p:txBody>
      </p:sp>
      <p:sp>
        <p:nvSpPr>
          <p:cNvPr id="3" name="Review H1">
            <a:extLst xmlns:a="http://schemas.openxmlformats.org/drawingml/2006/main">
              <a:ext uri="{FF2B5EF4-FFF2-40B4-BE49-F238E27FC236}">
                <a16:creationId xmlns:a16="http://schemas.microsoft.com/office/drawing/2014/main" id="{65660B5C-8F16-4622-85C9-310E6FDD5F5C}"/>
              </a:ext>
            </a:extLst>
          </p:cNvPr>
          <p:cNvSpPr>
            <a:spLocks xmlns:a="http://schemas.openxmlformats.org/drawingml/2006/main" noGrp="1"/>
          </p:cNvSpPr>
          <p:nvPr/>
        </p:nvSpPr>
        <p:spPr>
          <a:xfrm xmlns:a="http://schemas.openxmlformats.org/drawingml/2006/main">
            <a:off x="762000" y="2571750"/>
            <a:ext cx="2857500" cy="1238250"/>
          </a:xfrm>
          <a:prstGeom xmlns:a="http://schemas.openxmlformats.org/drawingml/2006/main" prst="roundRect">
            <a:avLst>
              <a:gd name="adj" fmla="val 6154"/>
            </a:avLst>
          </a:prstGeom>
          <a:solidFill xmlns:a="http://schemas.openxmlformats.org/drawingml/2006/main">
            <a:srgbClr val="F4EFE6"/>
          </a:solidFill>
          <a:ln xmlns:a="http://schemas.openxmlformats.org/drawingml/2006/main" w="13335">
            <a:solidFill>
              <a:srgbClr val="978468"/>
            </a:solidFill>
          </a:ln>
        </p:spPr>
      </p:sp>
      <p:sp>
        <p:nvSpPr>
          <p:cNvPr id="4" name="Review H1">
            <a:extLst xmlns:a="http://schemas.openxmlformats.org/drawingml/2006/main">
              <a:ext uri="{FF2B5EF4-FFF2-40B4-BE49-F238E27FC236}">
                <a16:creationId xmlns:a16="http://schemas.microsoft.com/office/drawing/2014/main" id="{C5853910-C8EE-4193-B9BA-FD5D9D956F30}"/>
              </a:ext>
            </a:extLst>
          </p:cNvPr>
          <p:cNvSpPr>
            <a:spLocks xmlns:a="http://schemas.openxmlformats.org/drawingml/2006/main" noGrp="1"/>
          </p:cNvSpPr>
          <p:nvPr/>
        </p:nvSpPr>
        <p:spPr>
          <a:xfrm xmlns:a="http://schemas.openxmlformats.org/drawingml/2006/main">
            <a:off x="933450" y="2743200"/>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Review H1</a:t>
            </a:r>
          </a:p>
        </p:txBody>
      </p:sp>
      <p:sp>
        <p:nvSpPr>
          <p:cNvPr id="5" name="Test candidate C1">
            <a:extLst xmlns:a="http://schemas.openxmlformats.org/drawingml/2006/main">
              <a:ext uri="{FF2B5EF4-FFF2-40B4-BE49-F238E27FC236}">
                <a16:creationId xmlns:a16="http://schemas.microsoft.com/office/drawing/2014/main" id="{8EAC9C1C-1770-4F8A-A728-02D6BC1C6B25}"/>
              </a:ext>
            </a:extLst>
          </p:cNvPr>
          <p:cNvSpPr>
            <a:spLocks xmlns:a="http://schemas.openxmlformats.org/drawingml/2006/main" noGrp="1"/>
          </p:cNvSpPr>
          <p:nvPr/>
        </p:nvSpPr>
        <p:spPr>
          <a:xfrm xmlns:a="http://schemas.openxmlformats.org/drawingml/2006/main">
            <a:off x="4667250" y="2571750"/>
            <a:ext cx="2857500" cy="1238250"/>
          </a:xfrm>
          <a:prstGeom xmlns:a="http://schemas.openxmlformats.org/drawingml/2006/main" prst="roundRect">
            <a:avLst>
              <a:gd name="adj" fmla="val 6154"/>
            </a:avLst>
          </a:prstGeom>
          <a:solidFill xmlns:a="http://schemas.openxmlformats.org/drawingml/2006/main">
            <a:srgbClr val="F4EFE6"/>
          </a:solidFill>
          <a:ln xmlns:a="http://schemas.openxmlformats.org/drawingml/2006/main" w="13335">
            <a:solidFill>
              <a:srgbClr val="978468"/>
            </a:solidFill>
          </a:ln>
        </p:spPr>
      </p:sp>
      <p:sp>
        <p:nvSpPr>
          <p:cNvPr id="6" name="Test candidate C1">
            <a:extLst xmlns:a="http://schemas.openxmlformats.org/drawingml/2006/main">
              <a:ext uri="{FF2B5EF4-FFF2-40B4-BE49-F238E27FC236}">
                <a16:creationId xmlns:a16="http://schemas.microsoft.com/office/drawing/2014/main" id="{B56A97E8-E231-4789-B5AB-BEF7C51265A1}"/>
              </a:ext>
            </a:extLst>
          </p:cNvPr>
          <p:cNvSpPr>
            <a:spLocks xmlns:a="http://schemas.openxmlformats.org/drawingml/2006/main" noGrp="1"/>
          </p:cNvSpPr>
          <p:nvPr/>
        </p:nvSpPr>
        <p:spPr>
          <a:xfrm xmlns:a="http://schemas.openxmlformats.org/drawingml/2006/main">
            <a:off x="4838700" y="2743200"/>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Test candidate C1</a:t>
            </a:r>
          </a:p>
        </p:txBody>
      </p:sp>
      <p:sp>
        <p:nvSpPr>
          <p:cNvPr id="7" name="Author pushes H2">
            <a:extLst xmlns:a="http://schemas.openxmlformats.org/drawingml/2006/main">
              <a:ext uri="{FF2B5EF4-FFF2-40B4-BE49-F238E27FC236}">
                <a16:creationId xmlns:a16="http://schemas.microsoft.com/office/drawing/2014/main" id="{2E7D7A03-6B59-4E5E-8093-D9585E6D0EBC}"/>
              </a:ext>
            </a:extLst>
          </p:cNvPr>
          <p:cNvSpPr>
            <a:spLocks xmlns:a="http://schemas.openxmlformats.org/drawingml/2006/main" noGrp="1"/>
          </p:cNvSpPr>
          <p:nvPr/>
        </p:nvSpPr>
        <p:spPr>
          <a:xfrm xmlns:a="http://schemas.openxmlformats.org/drawingml/2006/main">
            <a:off x="8572500" y="2571750"/>
            <a:ext cx="2857500" cy="1238250"/>
          </a:xfrm>
          <a:prstGeom xmlns:a="http://schemas.openxmlformats.org/drawingml/2006/main" prst="roundRect">
            <a:avLst>
              <a:gd name="adj" fmla="val 6154"/>
            </a:avLst>
          </a:prstGeom>
          <a:solidFill xmlns:a="http://schemas.openxmlformats.org/drawingml/2006/main">
            <a:srgbClr val="CA8E2F"/>
          </a:solidFill>
          <a:ln xmlns:a="http://schemas.openxmlformats.org/drawingml/2006/main" w="13335">
            <a:solidFill>
              <a:srgbClr val="978468"/>
            </a:solidFill>
          </a:ln>
        </p:spPr>
      </p:sp>
      <p:sp>
        <p:nvSpPr>
          <p:cNvPr id="8" name="Author pushes H2">
            <a:extLst xmlns:a="http://schemas.openxmlformats.org/drawingml/2006/main">
              <a:ext uri="{FF2B5EF4-FFF2-40B4-BE49-F238E27FC236}">
                <a16:creationId xmlns:a16="http://schemas.microsoft.com/office/drawing/2014/main" id="{05B1EA86-95A4-4870-BD04-F3C14E7819CF}"/>
              </a:ext>
            </a:extLst>
          </p:cNvPr>
          <p:cNvSpPr>
            <a:spLocks xmlns:a="http://schemas.openxmlformats.org/drawingml/2006/main" noGrp="1"/>
          </p:cNvSpPr>
          <p:nvPr/>
        </p:nvSpPr>
        <p:spPr>
          <a:xfrm xmlns:a="http://schemas.openxmlformats.org/drawingml/2006/main">
            <a:off x="8743950" y="2743200"/>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2E23"/>
                </a:solidFill>
                <a:latin typeface="Avenir Next"/>
                <a:ea typeface="Avenir Next"/>
                <a:cs typeface="Avenir Next"/>
              </a:defRPr>
            </a:defPPr>
            <a:lvl1pPr>
              <a:defRPr sz="2025" b="0">
                <a:solidFill>
                  <a:srgbClr val="4B2E23"/>
                </a:solidFill>
                <a:latin typeface="Avenir Next"/>
                <a:ea typeface="Avenir Next"/>
                <a:cs typeface="Avenir Next"/>
              </a:defRPr>
            </a:lvl1pPr>
            <a:lvl2pPr>
              <a:defRPr sz="2025" b="0">
                <a:solidFill>
                  <a:srgbClr val="4B2E23"/>
                </a:solidFill>
                <a:latin typeface="Avenir Next"/>
                <a:ea typeface="Avenir Next"/>
                <a:cs typeface="Avenir Next"/>
              </a:defRPr>
            </a:lvl2pPr>
            <a:lvl3pPr>
              <a:defRPr sz="2025" b="0">
                <a:solidFill>
                  <a:srgbClr val="4B2E23"/>
                </a:solidFill>
                <a:latin typeface="Avenir Next"/>
                <a:ea typeface="Avenir Next"/>
                <a:cs typeface="Avenir Next"/>
              </a:defRPr>
            </a:lvl3pPr>
            <a:lvl4pPr>
              <a:defRPr sz="2025" b="0">
                <a:solidFill>
                  <a:srgbClr val="4B2E23"/>
                </a:solidFill>
                <a:latin typeface="Avenir Next"/>
                <a:ea typeface="Avenir Next"/>
                <a:cs typeface="Avenir Next"/>
              </a:defRPr>
            </a:lvl4pPr>
            <a:lvl5pPr>
              <a:defRPr sz="2025" b="0">
                <a:solidFill>
                  <a:srgbClr val="4B2E23"/>
                </a:solidFill>
                <a:latin typeface="Avenir Next"/>
                <a:ea typeface="Avenir Next"/>
                <a:cs typeface="Avenir Next"/>
              </a:defRPr>
            </a:lvl5pPr>
            <a:lvl6pPr>
              <a:defRPr sz="2025" b="0">
                <a:solidFill>
                  <a:srgbClr val="4B2E23"/>
                </a:solidFill>
                <a:latin typeface="Avenir Next"/>
                <a:ea typeface="Avenir Next"/>
                <a:cs typeface="Avenir Next"/>
              </a:defRPr>
            </a:lvl6pPr>
            <a:lvl7pPr>
              <a:defRPr sz="2025" b="0">
                <a:solidFill>
                  <a:srgbClr val="4B2E23"/>
                </a:solidFill>
                <a:latin typeface="Avenir Next"/>
                <a:ea typeface="Avenir Next"/>
                <a:cs typeface="Avenir Next"/>
              </a:defRPr>
            </a:lvl7pPr>
            <a:lvl8pPr>
              <a:defRPr sz="2025" b="0">
                <a:solidFill>
                  <a:srgbClr val="4B2E23"/>
                </a:solidFill>
                <a:latin typeface="Avenir Next"/>
                <a:ea typeface="Avenir Next"/>
                <a:cs typeface="Avenir Next"/>
              </a:defRPr>
            </a:lvl8pPr>
            <a:lvl9pPr>
              <a:defRPr sz="2025" b="0">
                <a:solidFill>
                  <a:srgbClr val="4B2E23"/>
                </a:solidFill>
                <a:latin typeface="Avenir Next"/>
                <a:ea typeface="Avenir Next"/>
                <a:cs typeface="Avenir Next"/>
              </a:defRPr>
            </a:lvl9pPr>
          </a:lstStyle>
          <a:p xmlns:a="http://schemas.openxmlformats.org/drawingml/2006/main">
            <a:pPr>
              <a:defRPr sz="2025" b="0">
                <a:solidFill>
                  <a:srgbClr val="4B2E23"/>
                </a:solidFill>
                <a:latin typeface="Avenir Next"/>
                <a:ea typeface="Avenir Next"/>
                <a:cs typeface="Avenir Next"/>
              </a:defRPr>
            </a:pPr>
            <a:r>
              <a:rPr sz="2025" b="0">
                <a:solidFill>
                  <a:srgbClr val="4B2E23"/>
                </a:solidFill>
                <a:latin typeface="Avenir Next"/>
                <a:ea typeface="Avenir Next"/>
                <a:cs typeface="Avenir Next"/>
              </a:rPr>
              <a:t>Author pushes H2</a:t>
            </a:r>
          </a:p>
        </p:txBody>
      </p:sp>
      <p:sp>
        <p:nvSpPr>
          <p:cNvPr id="11" name="Stop and reconcile before any write">
            <a:extLst xmlns:a="http://schemas.openxmlformats.org/drawingml/2006/main">
              <a:ext uri="{FF2B5EF4-FFF2-40B4-BE49-F238E27FC236}">
                <a16:creationId xmlns:a16="http://schemas.microsoft.com/office/drawing/2014/main" id="{428A9DB6-A6AC-4E9A-A6DF-2A97B4FCD916}"/>
              </a:ext>
            </a:extLst>
          </p:cNvPr>
          <p:cNvSpPr>
            <a:spLocks xmlns:a="http://schemas.openxmlformats.org/drawingml/2006/main" noGrp="1"/>
          </p:cNvSpPr>
          <p:nvPr/>
        </p:nvSpPr>
        <p:spPr>
          <a:xfrm xmlns:a="http://schemas.openxmlformats.org/drawingml/2006/main">
            <a:off x="762000" y="5000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8E5033"/>
                </a:solidFill>
                <a:latin typeface="Georgia"/>
                <a:ea typeface="Georgia"/>
                <a:cs typeface="Georgia"/>
              </a:defRPr>
            </a:defPPr>
            <a:lvl1pPr>
              <a:defRPr sz="3225" b="0">
                <a:solidFill>
                  <a:srgbClr val="8E5033"/>
                </a:solidFill>
                <a:latin typeface="Georgia"/>
                <a:ea typeface="Georgia"/>
                <a:cs typeface="Georgia"/>
              </a:defRPr>
            </a:lvl1pPr>
            <a:lvl2pPr>
              <a:defRPr sz="3225" b="0">
                <a:solidFill>
                  <a:srgbClr val="8E5033"/>
                </a:solidFill>
                <a:latin typeface="Georgia"/>
                <a:ea typeface="Georgia"/>
                <a:cs typeface="Georgia"/>
              </a:defRPr>
            </a:lvl2pPr>
            <a:lvl3pPr>
              <a:defRPr sz="3225" b="0">
                <a:solidFill>
                  <a:srgbClr val="8E5033"/>
                </a:solidFill>
                <a:latin typeface="Georgia"/>
                <a:ea typeface="Georgia"/>
                <a:cs typeface="Georgia"/>
              </a:defRPr>
            </a:lvl3pPr>
            <a:lvl4pPr>
              <a:defRPr sz="3225" b="0">
                <a:solidFill>
                  <a:srgbClr val="8E5033"/>
                </a:solidFill>
                <a:latin typeface="Georgia"/>
                <a:ea typeface="Georgia"/>
                <a:cs typeface="Georgia"/>
              </a:defRPr>
            </a:lvl4pPr>
            <a:lvl5pPr>
              <a:defRPr sz="3225" b="0">
                <a:solidFill>
                  <a:srgbClr val="8E5033"/>
                </a:solidFill>
                <a:latin typeface="Georgia"/>
                <a:ea typeface="Georgia"/>
                <a:cs typeface="Georgia"/>
              </a:defRPr>
            </a:lvl5pPr>
            <a:lvl6pPr>
              <a:defRPr sz="3225" b="0">
                <a:solidFill>
                  <a:srgbClr val="8E5033"/>
                </a:solidFill>
                <a:latin typeface="Georgia"/>
                <a:ea typeface="Georgia"/>
                <a:cs typeface="Georgia"/>
              </a:defRPr>
            </a:lvl6pPr>
            <a:lvl7pPr>
              <a:defRPr sz="3225" b="0">
                <a:solidFill>
                  <a:srgbClr val="8E5033"/>
                </a:solidFill>
                <a:latin typeface="Georgia"/>
                <a:ea typeface="Georgia"/>
                <a:cs typeface="Georgia"/>
              </a:defRPr>
            </a:lvl7pPr>
            <a:lvl8pPr>
              <a:defRPr sz="3225" b="0">
                <a:solidFill>
                  <a:srgbClr val="8E5033"/>
                </a:solidFill>
                <a:latin typeface="Georgia"/>
                <a:ea typeface="Georgia"/>
                <a:cs typeface="Georgia"/>
              </a:defRPr>
            </a:lvl8pPr>
            <a:lvl9pPr>
              <a:defRPr sz="3225" b="0">
                <a:solidFill>
                  <a:srgbClr val="8E5033"/>
                </a:solidFill>
                <a:latin typeface="Georgia"/>
                <a:ea typeface="Georgia"/>
                <a:cs typeface="Georgia"/>
              </a:defRPr>
            </a:lvl9pPr>
          </a:lstStyle>
          <a:p xmlns:a="http://schemas.openxmlformats.org/drawingml/2006/main">
            <a:pPr>
              <a:defRPr sz="3225" b="0">
                <a:solidFill>
                  <a:srgbClr val="8E5033"/>
                </a:solidFill>
                <a:latin typeface="Georgia"/>
                <a:ea typeface="Georgia"/>
                <a:cs typeface="Georgia"/>
              </a:defRPr>
            </a:pPr>
            <a:r>
              <a:rPr sz="3225" b="0">
                <a:solidFill>
                  <a:srgbClr val="8E5033"/>
                </a:solidFill>
                <a:latin typeface="Georgia"/>
                <a:ea typeface="Georgia"/>
                <a:cs typeface="Georgia"/>
              </a:rPr>
              <a:t>Stop and reconcile before any write</a:t>
            </a:r>
          </a:p>
        </p:txBody>
      </p:sp>
    </p:spTree>
    <p:extLst>
      <p:ext uri="{BB962C8B-B14F-4D97-AF65-F5344CB8AC3E}">
        <p14:creationId xmlns:p14="http://schemas.microsoft.com/office/powerpoint/2010/main" val="2115226581"/>
      </p:ext>
    </p:extLst>
  </p:cSld>
</p:sld>
</file>

<file path=ppt/slides/slide20.xml><?xml version="1.0" encoding="utf-8"?>
<p:sld xmlns:p="http://schemas.openxmlformats.org/presentationml/2006/main">
  <p:cSld>
    <p:bg>
      <p:bgPr>
        <a:solidFill xmlns:a="http://schemas.openxmlformats.org/drawingml/2006/main">
          <a:srgbClr val="E7E1D5"/>
        </a:solidFill>
      </p:bgPr>
    </p:bg>
    <p:spTree>
      <p:nvGrpSpPr>
        <p:cNvPr id="1" name=""/>
        <p:cNvGrpSpPr/>
        <p:nvPr/>
      </p:nvGrpSpPr>
      <p:grpSpPr>
        <a:xfrm xmlns:a="http://schemas.openxmlformats.org/drawingml/2006/main"/>
      </p:grpSpPr>
      <p:sp>
        <p:nvSpPr>
          <p:cNvPr id="7" name="The questions you should be able to answer">
            <a:extLst xmlns:a="http://schemas.openxmlformats.org/drawingml/2006/main">
              <a:ext uri="{FF2B5EF4-FFF2-40B4-BE49-F238E27FC236}">
                <a16:creationId xmlns:a16="http://schemas.microsoft.com/office/drawing/2014/main" id="{BF7F5C73-BD41-456D-850F-A5EE3D7CBFC0}"/>
              </a:ext>
            </a:extLst>
          </p:cNvPr>
          <p:cNvSpPr>
            <a:spLocks xmlns:a="http://schemas.openxmlformats.org/drawingml/2006/main" noGrp="1"/>
          </p:cNvSpPr>
          <p:nvPr/>
        </p:nvSpPr>
        <p:spPr>
          <a:xfrm xmlns:a="http://schemas.openxmlformats.org/drawingml/2006/main">
            <a:off x="704850" y="5524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B2E23"/>
                </a:solidFill>
                <a:latin typeface="Georgia"/>
                <a:ea typeface="Georgia"/>
                <a:cs typeface="Georgia"/>
              </a:defRPr>
            </a:defPPr>
            <a:lvl1pPr>
              <a:defRPr sz="3900" b="0">
                <a:solidFill>
                  <a:srgbClr val="4B2E23"/>
                </a:solidFill>
                <a:latin typeface="Georgia"/>
                <a:ea typeface="Georgia"/>
                <a:cs typeface="Georgia"/>
              </a:defRPr>
            </a:lvl1pPr>
            <a:lvl2pPr>
              <a:defRPr sz="3900" b="0">
                <a:solidFill>
                  <a:srgbClr val="4B2E23"/>
                </a:solidFill>
                <a:latin typeface="Georgia"/>
                <a:ea typeface="Georgia"/>
                <a:cs typeface="Georgia"/>
              </a:defRPr>
            </a:lvl2pPr>
            <a:lvl3pPr>
              <a:defRPr sz="3900" b="0">
                <a:solidFill>
                  <a:srgbClr val="4B2E23"/>
                </a:solidFill>
                <a:latin typeface="Georgia"/>
                <a:ea typeface="Georgia"/>
                <a:cs typeface="Georgia"/>
              </a:defRPr>
            </a:lvl3pPr>
            <a:lvl4pPr>
              <a:defRPr sz="3900" b="0">
                <a:solidFill>
                  <a:srgbClr val="4B2E23"/>
                </a:solidFill>
                <a:latin typeface="Georgia"/>
                <a:ea typeface="Georgia"/>
                <a:cs typeface="Georgia"/>
              </a:defRPr>
            </a:lvl4pPr>
            <a:lvl5pPr>
              <a:defRPr sz="3900" b="0">
                <a:solidFill>
                  <a:srgbClr val="4B2E23"/>
                </a:solidFill>
                <a:latin typeface="Georgia"/>
                <a:ea typeface="Georgia"/>
                <a:cs typeface="Georgia"/>
              </a:defRPr>
            </a:lvl5pPr>
            <a:lvl6pPr>
              <a:defRPr sz="3900" b="0">
                <a:solidFill>
                  <a:srgbClr val="4B2E23"/>
                </a:solidFill>
                <a:latin typeface="Georgia"/>
                <a:ea typeface="Georgia"/>
                <a:cs typeface="Georgia"/>
              </a:defRPr>
            </a:lvl6pPr>
            <a:lvl7pPr>
              <a:defRPr sz="3900" b="0">
                <a:solidFill>
                  <a:srgbClr val="4B2E23"/>
                </a:solidFill>
                <a:latin typeface="Georgia"/>
                <a:ea typeface="Georgia"/>
                <a:cs typeface="Georgia"/>
              </a:defRPr>
            </a:lvl7pPr>
            <a:lvl8pPr>
              <a:defRPr sz="3900" b="0">
                <a:solidFill>
                  <a:srgbClr val="4B2E23"/>
                </a:solidFill>
                <a:latin typeface="Georgia"/>
                <a:ea typeface="Georgia"/>
                <a:cs typeface="Georgia"/>
              </a:defRPr>
            </a:lvl8pPr>
            <a:lvl9pPr>
              <a:defRPr sz="3900" b="0">
                <a:solidFill>
                  <a:srgbClr val="4B2E23"/>
                </a:solidFill>
                <a:latin typeface="Georgia"/>
                <a:ea typeface="Georgia"/>
                <a:cs typeface="Georgia"/>
              </a:defRPr>
            </a:lvl9pPr>
          </a:lstStyle>
          <a:p xmlns:a="http://schemas.openxmlformats.org/drawingml/2006/main">
            <a:pPr>
              <a:defRPr sz="3900" b="0">
                <a:solidFill>
                  <a:srgbClr val="4B2E23"/>
                </a:solidFill>
                <a:latin typeface="Georgia"/>
                <a:ea typeface="Georgia"/>
                <a:cs typeface="Georgia"/>
              </a:defRPr>
            </a:pPr>
            <a:r>
              <a:rPr sz="3900" b="0">
                <a:solidFill>
                  <a:srgbClr val="4B2E23"/>
                </a:solidFill>
                <a:latin typeface="Georgia"/>
                <a:ea typeface="Georgia"/>
                <a:cs typeface="Georgia"/>
              </a:rPr>
              <a:t>The questions you should be able to answer</a:t>
            </a:r>
          </a:p>
        </p:txBody>
      </p:sp>
      <p:sp>
        <p:nvSpPr>
          <p:cNvPr id="2" name="20">
            <a:extLst xmlns:a="http://schemas.openxmlformats.org/drawingml/2006/main">
              <a:ext uri="{FF2B5EF4-FFF2-40B4-BE49-F238E27FC236}">
                <a16:creationId xmlns:a16="http://schemas.microsoft.com/office/drawing/2014/main" id="{35EFD2A0-1C39-4F3D-BAE8-8CD3CD53CE45}"/>
              </a:ext>
            </a:extLst>
          </p:cNvPr>
          <p:cNvSpPr>
            <a:spLocks xmlns:a="http://schemas.openxmlformats.org/drawingml/2006/main" noGrp="1"/>
          </p:cNvSpPr>
          <p:nvPr/>
        </p:nvSpPr>
        <p:spPr>
          <a:xfrm xmlns:a="http://schemas.openxmlformats.org/drawingml/2006/main">
            <a:off x="11087100" y="63055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E5033"/>
                </a:solidFill>
                <a:latin typeface="Avenir Next"/>
                <a:ea typeface="Avenir Next"/>
                <a:cs typeface="Avenir Next"/>
              </a:defRPr>
            </a:defPPr>
            <a:lvl1pPr>
              <a:defRPr sz="1200" b="0">
                <a:solidFill>
                  <a:srgbClr val="8E5033"/>
                </a:solidFill>
                <a:latin typeface="Avenir Next"/>
                <a:ea typeface="Avenir Next"/>
                <a:cs typeface="Avenir Next"/>
              </a:defRPr>
            </a:lvl1pPr>
            <a:lvl2pPr>
              <a:defRPr sz="1200" b="0">
                <a:solidFill>
                  <a:srgbClr val="8E5033"/>
                </a:solidFill>
                <a:latin typeface="Avenir Next"/>
                <a:ea typeface="Avenir Next"/>
                <a:cs typeface="Avenir Next"/>
              </a:defRPr>
            </a:lvl2pPr>
            <a:lvl3pPr>
              <a:defRPr sz="1200" b="0">
                <a:solidFill>
                  <a:srgbClr val="8E5033"/>
                </a:solidFill>
                <a:latin typeface="Avenir Next"/>
                <a:ea typeface="Avenir Next"/>
                <a:cs typeface="Avenir Next"/>
              </a:defRPr>
            </a:lvl3pPr>
            <a:lvl4pPr>
              <a:defRPr sz="1200" b="0">
                <a:solidFill>
                  <a:srgbClr val="8E5033"/>
                </a:solidFill>
                <a:latin typeface="Avenir Next"/>
                <a:ea typeface="Avenir Next"/>
                <a:cs typeface="Avenir Next"/>
              </a:defRPr>
            </a:lvl4pPr>
            <a:lvl5pPr>
              <a:defRPr sz="1200" b="0">
                <a:solidFill>
                  <a:srgbClr val="8E5033"/>
                </a:solidFill>
                <a:latin typeface="Avenir Next"/>
                <a:ea typeface="Avenir Next"/>
                <a:cs typeface="Avenir Next"/>
              </a:defRPr>
            </a:lvl5pPr>
            <a:lvl6pPr>
              <a:defRPr sz="1200" b="0">
                <a:solidFill>
                  <a:srgbClr val="8E5033"/>
                </a:solidFill>
                <a:latin typeface="Avenir Next"/>
                <a:ea typeface="Avenir Next"/>
                <a:cs typeface="Avenir Next"/>
              </a:defRPr>
            </a:lvl6pPr>
            <a:lvl7pPr>
              <a:defRPr sz="1200" b="0">
                <a:solidFill>
                  <a:srgbClr val="8E5033"/>
                </a:solidFill>
                <a:latin typeface="Avenir Next"/>
                <a:ea typeface="Avenir Next"/>
                <a:cs typeface="Avenir Next"/>
              </a:defRPr>
            </a:lvl7pPr>
            <a:lvl8pPr>
              <a:defRPr sz="1200" b="0">
                <a:solidFill>
                  <a:srgbClr val="8E5033"/>
                </a:solidFill>
                <a:latin typeface="Avenir Next"/>
                <a:ea typeface="Avenir Next"/>
                <a:cs typeface="Avenir Next"/>
              </a:defRPr>
            </a:lvl8pPr>
            <a:lvl9pPr>
              <a:defRPr sz="1200" b="0">
                <a:solidFill>
                  <a:srgbClr val="8E5033"/>
                </a:solidFill>
                <a:latin typeface="Avenir Next"/>
                <a:ea typeface="Avenir Next"/>
                <a:cs typeface="Avenir Next"/>
              </a:defRPr>
            </a:lvl9pPr>
          </a:lstStyle>
          <a:p xmlns:a="http://schemas.openxmlformats.org/drawingml/2006/main">
            <a:pPr>
              <a:defRPr sz="1200" b="0">
                <a:solidFill>
                  <a:srgbClr val="8E5033"/>
                </a:solidFill>
                <a:latin typeface="Avenir Next"/>
                <a:ea typeface="Avenir Next"/>
                <a:cs typeface="Avenir Next"/>
              </a:defRPr>
            </a:pPr>
            <a:r>
              <a:rPr sz="1200" b="0">
                <a:solidFill>
                  <a:srgbClr val="8E5033"/>
                </a:solidFill>
                <a:latin typeface="Avenir Next"/>
                <a:ea typeface="Avenir Next"/>
                <a:cs typeface="Avenir Next"/>
              </a:rPr>
              <a:t>20</a:t>
            </a:r>
          </a:p>
        </p:txBody>
      </p:sp>
      <p:sp>
        <p:nvSpPr>
          <p:cNvPr id="3" name="Which code did we review?">
            <a:extLst xmlns:a="http://schemas.openxmlformats.org/drawingml/2006/main">
              <a:ext uri="{FF2B5EF4-FFF2-40B4-BE49-F238E27FC236}">
                <a16:creationId xmlns:a16="http://schemas.microsoft.com/office/drawing/2014/main" id="{068753A9-A8F9-4B5F-834D-1B0DDD38B1F8}"/>
              </a:ext>
            </a:extLst>
          </p:cNvPr>
          <p:cNvSpPr>
            <a:spLocks xmlns:a="http://schemas.openxmlformats.org/drawingml/2006/main" noGrp="1"/>
          </p:cNvSpPr>
          <p:nvPr/>
        </p:nvSpPr>
        <p:spPr>
          <a:xfrm xmlns:a="http://schemas.openxmlformats.org/drawingml/2006/main">
            <a:off x="762000" y="1971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B2E23"/>
                </a:solidFill>
                <a:latin typeface="Avenir Next"/>
                <a:ea typeface="Avenir Next"/>
                <a:cs typeface="Avenir Next"/>
              </a:defRPr>
            </a:defPPr>
            <a:lvl1pPr>
              <a:defRPr sz="2700" b="0">
                <a:solidFill>
                  <a:srgbClr val="4B2E23"/>
                </a:solidFill>
                <a:latin typeface="Avenir Next"/>
                <a:ea typeface="Avenir Next"/>
                <a:cs typeface="Avenir Next"/>
              </a:defRPr>
            </a:lvl1pPr>
            <a:lvl2pPr>
              <a:defRPr sz="2700" b="0">
                <a:solidFill>
                  <a:srgbClr val="4B2E23"/>
                </a:solidFill>
                <a:latin typeface="Avenir Next"/>
                <a:ea typeface="Avenir Next"/>
                <a:cs typeface="Avenir Next"/>
              </a:defRPr>
            </a:lvl2pPr>
            <a:lvl3pPr>
              <a:defRPr sz="2700" b="0">
                <a:solidFill>
                  <a:srgbClr val="4B2E23"/>
                </a:solidFill>
                <a:latin typeface="Avenir Next"/>
                <a:ea typeface="Avenir Next"/>
                <a:cs typeface="Avenir Next"/>
              </a:defRPr>
            </a:lvl3pPr>
            <a:lvl4pPr>
              <a:defRPr sz="2700" b="0">
                <a:solidFill>
                  <a:srgbClr val="4B2E23"/>
                </a:solidFill>
                <a:latin typeface="Avenir Next"/>
                <a:ea typeface="Avenir Next"/>
                <a:cs typeface="Avenir Next"/>
              </a:defRPr>
            </a:lvl4pPr>
            <a:lvl5pPr>
              <a:defRPr sz="2700" b="0">
                <a:solidFill>
                  <a:srgbClr val="4B2E23"/>
                </a:solidFill>
                <a:latin typeface="Avenir Next"/>
                <a:ea typeface="Avenir Next"/>
                <a:cs typeface="Avenir Next"/>
              </a:defRPr>
            </a:lvl5pPr>
            <a:lvl6pPr>
              <a:defRPr sz="2700" b="0">
                <a:solidFill>
                  <a:srgbClr val="4B2E23"/>
                </a:solidFill>
                <a:latin typeface="Avenir Next"/>
                <a:ea typeface="Avenir Next"/>
                <a:cs typeface="Avenir Next"/>
              </a:defRPr>
            </a:lvl6pPr>
            <a:lvl7pPr>
              <a:defRPr sz="2700" b="0">
                <a:solidFill>
                  <a:srgbClr val="4B2E23"/>
                </a:solidFill>
                <a:latin typeface="Avenir Next"/>
                <a:ea typeface="Avenir Next"/>
                <a:cs typeface="Avenir Next"/>
              </a:defRPr>
            </a:lvl7pPr>
            <a:lvl8pPr>
              <a:defRPr sz="2700" b="0">
                <a:solidFill>
                  <a:srgbClr val="4B2E23"/>
                </a:solidFill>
                <a:latin typeface="Avenir Next"/>
                <a:ea typeface="Avenir Next"/>
                <a:cs typeface="Avenir Next"/>
              </a:defRPr>
            </a:lvl8pPr>
            <a:lvl9pPr>
              <a:defRPr sz="2700" b="0">
                <a:solidFill>
                  <a:srgbClr val="4B2E23"/>
                </a:solidFill>
                <a:latin typeface="Avenir Next"/>
                <a:ea typeface="Avenir Next"/>
                <a:cs typeface="Avenir Next"/>
              </a:defRPr>
            </a:lvl9pPr>
          </a:lstStyle>
          <a:p xmlns:a="http://schemas.openxmlformats.org/drawingml/2006/main">
            <a:pPr>
              <a:defRPr sz="2700" b="0">
                <a:solidFill>
                  <a:srgbClr val="4B2E23"/>
                </a:solidFill>
                <a:latin typeface="Avenir Next"/>
                <a:ea typeface="Avenir Next"/>
                <a:cs typeface="Avenir Next"/>
              </a:defRPr>
            </a:pPr>
            <a:r>
              <a:rPr sz="2700" b="0">
                <a:solidFill>
                  <a:srgbClr val="4B2E23"/>
                </a:solidFill>
                <a:latin typeface="Avenir Next"/>
                <a:ea typeface="Avenir Next"/>
                <a:cs typeface="Avenir Next"/>
              </a:rPr>
              <a:t>Which code did we review?</a:t>
            </a:r>
          </a:p>
        </p:txBody>
      </p:sp>
      <p:sp>
        <p:nvSpPr>
          <p:cNvPr id="4" name="What evidence supports the finding and repair">
            <a:extLst xmlns:a="http://schemas.openxmlformats.org/drawingml/2006/main">
              <a:ext uri="{FF2B5EF4-FFF2-40B4-BE49-F238E27FC236}">
                <a16:creationId xmlns:a16="http://schemas.microsoft.com/office/drawing/2014/main" id="{08ECAA74-B4B7-4A2F-B0B6-0C2AE9F8BFEE}"/>
              </a:ext>
            </a:extLst>
          </p:cNvPr>
          <p:cNvSpPr>
            <a:spLocks xmlns:a="http://schemas.openxmlformats.org/drawingml/2006/main" noGrp="1"/>
          </p:cNvSpPr>
          <p:nvPr/>
        </p:nvSpPr>
        <p:spPr>
          <a:xfrm xmlns:a="http://schemas.openxmlformats.org/drawingml/2006/main">
            <a:off x="762000" y="300037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B2E23"/>
                </a:solidFill>
                <a:latin typeface="Avenir Next"/>
                <a:ea typeface="Avenir Next"/>
                <a:cs typeface="Avenir Next"/>
              </a:defRPr>
            </a:defPPr>
            <a:lvl1pPr>
              <a:defRPr sz="2700" b="0">
                <a:solidFill>
                  <a:srgbClr val="4B2E23"/>
                </a:solidFill>
                <a:latin typeface="Avenir Next"/>
                <a:ea typeface="Avenir Next"/>
                <a:cs typeface="Avenir Next"/>
              </a:defRPr>
            </a:lvl1pPr>
            <a:lvl2pPr>
              <a:defRPr sz="2700" b="0">
                <a:solidFill>
                  <a:srgbClr val="4B2E23"/>
                </a:solidFill>
                <a:latin typeface="Avenir Next"/>
                <a:ea typeface="Avenir Next"/>
                <a:cs typeface="Avenir Next"/>
              </a:defRPr>
            </a:lvl2pPr>
            <a:lvl3pPr>
              <a:defRPr sz="2700" b="0">
                <a:solidFill>
                  <a:srgbClr val="4B2E23"/>
                </a:solidFill>
                <a:latin typeface="Avenir Next"/>
                <a:ea typeface="Avenir Next"/>
                <a:cs typeface="Avenir Next"/>
              </a:defRPr>
            </a:lvl3pPr>
            <a:lvl4pPr>
              <a:defRPr sz="2700" b="0">
                <a:solidFill>
                  <a:srgbClr val="4B2E23"/>
                </a:solidFill>
                <a:latin typeface="Avenir Next"/>
                <a:ea typeface="Avenir Next"/>
                <a:cs typeface="Avenir Next"/>
              </a:defRPr>
            </a:lvl4pPr>
            <a:lvl5pPr>
              <a:defRPr sz="2700" b="0">
                <a:solidFill>
                  <a:srgbClr val="4B2E23"/>
                </a:solidFill>
                <a:latin typeface="Avenir Next"/>
                <a:ea typeface="Avenir Next"/>
                <a:cs typeface="Avenir Next"/>
              </a:defRPr>
            </a:lvl5pPr>
            <a:lvl6pPr>
              <a:defRPr sz="2700" b="0">
                <a:solidFill>
                  <a:srgbClr val="4B2E23"/>
                </a:solidFill>
                <a:latin typeface="Avenir Next"/>
                <a:ea typeface="Avenir Next"/>
                <a:cs typeface="Avenir Next"/>
              </a:defRPr>
            </a:lvl6pPr>
            <a:lvl7pPr>
              <a:defRPr sz="2700" b="0">
                <a:solidFill>
                  <a:srgbClr val="4B2E23"/>
                </a:solidFill>
                <a:latin typeface="Avenir Next"/>
                <a:ea typeface="Avenir Next"/>
                <a:cs typeface="Avenir Next"/>
              </a:defRPr>
            </a:lvl7pPr>
            <a:lvl8pPr>
              <a:defRPr sz="2700" b="0">
                <a:solidFill>
                  <a:srgbClr val="4B2E23"/>
                </a:solidFill>
                <a:latin typeface="Avenir Next"/>
                <a:ea typeface="Avenir Next"/>
                <a:cs typeface="Avenir Next"/>
              </a:defRPr>
            </a:lvl8pPr>
            <a:lvl9pPr>
              <a:defRPr sz="2700" b="0">
                <a:solidFill>
                  <a:srgbClr val="4B2E23"/>
                </a:solidFill>
                <a:latin typeface="Avenir Next"/>
                <a:ea typeface="Avenir Next"/>
                <a:cs typeface="Avenir Next"/>
              </a:defRPr>
            </a:lvl9pPr>
          </a:lstStyle>
          <a:p xmlns:a="http://schemas.openxmlformats.org/drawingml/2006/main">
            <a:pPr>
              <a:defRPr sz="2700" b="0">
                <a:solidFill>
                  <a:srgbClr val="4B2E23"/>
                </a:solidFill>
                <a:latin typeface="Avenir Next"/>
                <a:ea typeface="Avenir Next"/>
                <a:cs typeface="Avenir Next"/>
              </a:defRPr>
            </a:pPr>
            <a:r>
              <a:rPr sz="2700" b="0">
                <a:solidFill>
                  <a:srgbClr val="4B2E23"/>
                </a:solidFill>
                <a:latin typeface="Avenir Next"/>
                <a:ea typeface="Avenir Next"/>
                <a:cs typeface="Avenir Next"/>
              </a:rPr>
              <a:t>What evidence supports the finding and repair?</a:t>
            </a:r>
          </a:p>
        </p:txBody>
      </p:sp>
      <p:sp>
        <p:nvSpPr>
          <p:cNvPr id="5" name="Which risks did the checks leave open?">
            <a:extLst xmlns:a="http://schemas.openxmlformats.org/drawingml/2006/main">
              <a:ext uri="{FF2B5EF4-FFF2-40B4-BE49-F238E27FC236}">
                <a16:creationId xmlns:a16="http://schemas.microsoft.com/office/drawing/2014/main" id="{006B2D00-3007-428A-B66F-BE21C77B0628}"/>
              </a:ext>
            </a:extLst>
          </p:cNvPr>
          <p:cNvSpPr>
            <a:spLocks xmlns:a="http://schemas.openxmlformats.org/drawingml/2006/main" noGrp="1"/>
          </p:cNvSpPr>
          <p:nvPr/>
        </p:nvSpPr>
        <p:spPr>
          <a:xfrm xmlns:a="http://schemas.openxmlformats.org/drawingml/2006/main">
            <a:off x="762000" y="41433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B2E23"/>
                </a:solidFill>
                <a:latin typeface="Avenir Next"/>
                <a:ea typeface="Avenir Next"/>
                <a:cs typeface="Avenir Next"/>
              </a:defRPr>
            </a:defPPr>
            <a:lvl1pPr>
              <a:defRPr sz="2700" b="0">
                <a:solidFill>
                  <a:srgbClr val="4B2E23"/>
                </a:solidFill>
                <a:latin typeface="Avenir Next"/>
                <a:ea typeface="Avenir Next"/>
                <a:cs typeface="Avenir Next"/>
              </a:defRPr>
            </a:lvl1pPr>
            <a:lvl2pPr>
              <a:defRPr sz="2700" b="0">
                <a:solidFill>
                  <a:srgbClr val="4B2E23"/>
                </a:solidFill>
                <a:latin typeface="Avenir Next"/>
                <a:ea typeface="Avenir Next"/>
                <a:cs typeface="Avenir Next"/>
              </a:defRPr>
            </a:lvl2pPr>
            <a:lvl3pPr>
              <a:defRPr sz="2700" b="0">
                <a:solidFill>
                  <a:srgbClr val="4B2E23"/>
                </a:solidFill>
                <a:latin typeface="Avenir Next"/>
                <a:ea typeface="Avenir Next"/>
                <a:cs typeface="Avenir Next"/>
              </a:defRPr>
            </a:lvl3pPr>
            <a:lvl4pPr>
              <a:defRPr sz="2700" b="0">
                <a:solidFill>
                  <a:srgbClr val="4B2E23"/>
                </a:solidFill>
                <a:latin typeface="Avenir Next"/>
                <a:ea typeface="Avenir Next"/>
                <a:cs typeface="Avenir Next"/>
              </a:defRPr>
            </a:lvl4pPr>
            <a:lvl5pPr>
              <a:defRPr sz="2700" b="0">
                <a:solidFill>
                  <a:srgbClr val="4B2E23"/>
                </a:solidFill>
                <a:latin typeface="Avenir Next"/>
                <a:ea typeface="Avenir Next"/>
                <a:cs typeface="Avenir Next"/>
              </a:defRPr>
            </a:lvl5pPr>
            <a:lvl6pPr>
              <a:defRPr sz="2700" b="0">
                <a:solidFill>
                  <a:srgbClr val="4B2E23"/>
                </a:solidFill>
                <a:latin typeface="Avenir Next"/>
                <a:ea typeface="Avenir Next"/>
                <a:cs typeface="Avenir Next"/>
              </a:defRPr>
            </a:lvl6pPr>
            <a:lvl7pPr>
              <a:defRPr sz="2700" b="0">
                <a:solidFill>
                  <a:srgbClr val="4B2E23"/>
                </a:solidFill>
                <a:latin typeface="Avenir Next"/>
                <a:ea typeface="Avenir Next"/>
                <a:cs typeface="Avenir Next"/>
              </a:defRPr>
            </a:lvl7pPr>
            <a:lvl8pPr>
              <a:defRPr sz="2700" b="0">
                <a:solidFill>
                  <a:srgbClr val="4B2E23"/>
                </a:solidFill>
                <a:latin typeface="Avenir Next"/>
                <a:ea typeface="Avenir Next"/>
                <a:cs typeface="Avenir Next"/>
              </a:defRPr>
            </a:lvl8pPr>
            <a:lvl9pPr>
              <a:defRPr sz="2700" b="0">
                <a:solidFill>
                  <a:srgbClr val="4B2E23"/>
                </a:solidFill>
                <a:latin typeface="Avenir Next"/>
                <a:ea typeface="Avenir Next"/>
                <a:cs typeface="Avenir Next"/>
              </a:defRPr>
            </a:lvl9pPr>
          </a:lstStyle>
          <a:p xmlns:a="http://schemas.openxmlformats.org/drawingml/2006/main">
            <a:pPr>
              <a:defRPr sz="2700" b="0">
                <a:solidFill>
                  <a:srgbClr val="4B2E23"/>
                </a:solidFill>
                <a:latin typeface="Avenir Next"/>
                <a:ea typeface="Avenir Next"/>
                <a:cs typeface="Avenir Next"/>
              </a:defRPr>
            </a:pPr>
            <a:r>
              <a:rPr sz="2700" b="0">
                <a:solidFill>
                  <a:srgbClr val="4B2E23"/>
                </a:solidFill>
                <a:latin typeface="Avenir Next"/>
                <a:ea typeface="Avenir Next"/>
                <a:cs typeface="Avenir Next"/>
              </a:rPr>
              <a:t>Which risks did the checks leave open?</a:t>
            </a:r>
          </a:p>
        </p:txBody>
      </p:sp>
      <p:sp>
        <p:nvSpPr>
          <p:cNvPr id="6" name="Who can publish this exact patch?">
            <a:extLst xmlns:a="http://schemas.openxmlformats.org/drawingml/2006/main">
              <a:ext uri="{FF2B5EF4-FFF2-40B4-BE49-F238E27FC236}">
                <a16:creationId xmlns:a16="http://schemas.microsoft.com/office/drawing/2014/main" id="{CBC0213A-38A1-49F4-95CB-9DAA8BBC5FA8}"/>
              </a:ext>
            </a:extLst>
          </p:cNvPr>
          <p:cNvSpPr>
            <a:spLocks xmlns:a="http://schemas.openxmlformats.org/drawingml/2006/main" noGrp="1"/>
          </p:cNvSpPr>
          <p:nvPr/>
        </p:nvSpPr>
        <p:spPr>
          <a:xfrm xmlns:a="http://schemas.openxmlformats.org/drawingml/2006/main">
            <a:off x="762000" y="5219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8E5033"/>
                </a:solidFill>
                <a:latin typeface="Avenir Next"/>
                <a:ea typeface="Avenir Next"/>
                <a:cs typeface="Avenir Next"/>
              </a:defRPr>
            </a:defPPr>
            <a:lvl1pPr>
              <a:defRPr sz="2700" b="0">
                <a:solidFill>
                  <a:srgbClr val="8E5033"/>
                </a:solidFill>
                <a:latin typeface="Avenir Next"/>
                <a:ea typeface="Avenir Next"/>
                <a:cs typeface="Avenir Next"/>
              </a:defRPr>
            </a:lvl1pPr>
            <a:lvl2pPr>
              <a:defRPr sz="2700" b="0">
                <a:solidFill>
                  <a:srgbClr val="8E5033"/>
                </a:solidFill>
                <a:latin typeface="Avenir Next"/>
                <a:ea typeface="Avenir Next"/>
                <a:cs typeface="Avenir Next"/>
              </a:defRPr>
            </a:lvl2pPr>
            <a:lvl3pPr>
              <a:defRPr sz="2700" b="0">
                <a:solidFill>
                  <a:srgbClr val="8E5033"/>
                </a:solidFill>
                <a:latin typeface="Avenir Next"/>
                <a:ea typeface="Avenir Next"/>
                <a:cs typeface="Avenir Next"/>
              </a:defRPr>
            </a:lvl3pPr>
            <a:lvl4pPr>
              <a:defRPr sz="2700" b="0">
                <a:solidFill>
                  <a:srgbClr val="8E5033"/>
                </a:solidFill>
                <a:latin typeface="Avenir Next"/>
                <a:ea typeface="Avenir Next"/>
                <a:cs typeface="Avenir Next"/>
              </a:defRPr>
            </a:lvl4pPr>
            <a:lvl5pPr>
              <a:defRPr sz="2700" b="0">
                <a:solidFill>
                  <a:srgbClr val="8E5033"/>
                </a:solidFill>
                <a:latin typeface="Avenir Next"/>
                <a:ea typeface="Avenir Next"/>
                <a:cs typeface="Avenir Next"/>
              </a:defRPr>
            </a:lvl5pPr>
            <a:lvl6pPr>
              <a:defRPr sz="2700" b="0">
                <a:solidFill>
                  <a:srgbClr val="8E5033"/>
                </a:solidFill>
                <a:latin typeface="Avenir Next"/>
                <a:ea typeface="Avenir Next"/>
                <a:cs typeface="Avenir Next"/>
              </a:defRPr>
            </a:lvl6pPr>
            <a:lvl7pPr>
              <a:defRPr sz="2700" b="0">
                <a:solidFill>
                  <a:srgbClr val="8E5033"/>
                </a:solidFill>
                <a:latin typeface="Avenir Next"/>
                <a:ea typeface="Avenir Next"/>
                <a:cs typeface="Avenir Next"/>
              </a:defRPr>
            </a:lvl7pPr>
            <a:lvl8pPr>
              <a:defRPr sz="2700" b="0">
                <a:solidFill>
                  <a:srgbClr val="8E5033"/>
                </a:solidFill>
                <a:latin typeface="Avenir Next"/>
                <a:ea typeface="Avenir Next"/>
                <a:cs typeface="Avenir Next"/>
              </a:defRPr>
            </a:lvl8pPr>
            <a:lvl9pPr>
              <a:defRPr sz="2700" b="0">
                <a:solidFill>
                  <a:srgbClr val="8E5033"/>
                </a:solidFill>
                <a:latin typeface="Avenir Next"/>
                <a:ea typeface="Avenir Next"/>
                <a:cs typeface="Avenir Next"/>
              </a:defRPr>
            </a:lvl9pPr>
          </a:lstStyle>
          <a:p xmlns:a="http://schemas.openxmlformats.org/drawingml/2006/main">
            <a:pPr>
              <a:defRPr sz="2700" b="0">
                <a:solidFill>
                  <a:srgbClr val="8E5033"/>
                </a:solidFill>
                <a:latin typeface="Avenir Next"/>
                <a:ea typeface="Avenir Next"/>
                <a:cs typeface="Avenir Next"/>
              </a:defRPr>
            </a:pPr>
            <a:r>
              <a:rPr sz="2700" b="0">
                <a:solidFill>
                  <a:srgbClr val="8E5033"/>
                </a:solidFill>
                <a:latin typeface="Avenir Next"/>
                <a:ea typeface="Avenir Next"/>
                <a:cs typeface="Avenir Next"/>
              </a:rPr>
              <a:t>Who can publish this exact patch?</a:t>
            </a:r>
          </a:p>
        </p:txBody>
      </p:sp>
    </p:spTree>
    <p:extLst>
      <p:ext uri="{BB962C8B-B14F-4D97-AF65-F5344CB8AC3E}">
        <p14:creationId xmlns:p14="http://schemas.microsoft.com/office/powerpoint/2010/main" val="343156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2026-10-21T07:18:17.4110000Z</dcterms:created>
  <dcterms:modified xsi:type="dcterms:W3CDTF">2026-10-21T07:18:17.4110000Z</dcterms:modified>
</coreProperties>
</file>