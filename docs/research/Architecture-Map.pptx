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379d7e8e1b478c" /><Relationship Type="http://schemas.openxmlformats.org/officeDocument/2006/relationships/extended-properties" Target="/docProps/app.xml" Id="Rff87c116772f4c3d" /><Relationship Type="http://schemas.openxmlformats.org/officeDocument/2006/relationships/officeDocument" Target="/ppt/presentation.xml" Id="R8bac8df3d54844e6" /></Relationships>
</file>

<file path=ppt/presentation.xml><?xml version="1.0" encoding="utf-8"?>
<p:presentation xmlns:p="http://schemas.openxmlformats.org/presentationml/2006/main">
  <p:sldMasterIdLst>
    <p:sldMasterId xmlns:r="http://schemas.openxmlformats.org/officeDocument/2006/relationships" id="2147483648" r:id="Rd6044a09539e4e91"/>
  </p:sldMasterIdLst>
  <p:notesMasterIdLst>
    <p:notesMasterId xmlns:r="http://schemas.openxmlformats.org/officeDocument/2006/relationships" r:id="Re05d2d7bc96840e4"/>
  </p:notesMasterIdLst>
  <p:sldIdLst>
    <p:sldId xmlns:r="http://schemas.openxmlformats.org/officeDocument/2006/relationships" id="256" r:id="R86bd29ef076d4440"/>
    <p:sldId xmlns:r="http://schemas.openxmlformats.org/officeDocument/2006/relationships" id="257" r:id="R1cd65915131c41e2"/>
  </p:sldIdLst>
  <p:sldSz cx="15240000" cy="952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0ff92de8da4456" /><Relationship Type="http://schemas.openxmlformats.org/officeDocument/2006/relationships/slideMaster" Target="/ppt/slideMasters/slideMaster1.xml" Id="Rd6044a09539e4e91" /><Relationship Type="http://schemas.openxmlformats.org/officeDocument/2006/relationships/notesMaster" Target="/ppt/notesMasters/notesMaster1.xml" Id="Re05d2d7bc96840e4" /><Relationship Type="http://schemas.openxmlformats.org/officeDocument/2006/relationships/presProps" Target="/ppt/presProps.xml" Id="R843d1b578f714490" /><Relationship Type="http://schemas.openxmlformats.org/officeDocument/2006/relationships/tableStyles" Target="/ppt/tableStyles.xml" Id="R331276a4bd904995" /><Relationship Type="http://schemas.openxmlformats.org/officeDocument/2006/relationships/slide" Target="/ppt/slides/slide1.xml" Id="R86bd29ef076d4440" /><Relationship Type="http://schemas.openxmlformats.org/officeDocument/2006/relationships/slide" Target="/ppt/slides/slide2.xml" Id="R1cd65915131c41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dfab4e721a4c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3e25a2c0b74eec" /><Relationship Type="http://schemas.openxmlformats.org/officeDocument/2006/relationships/notesMaster" Target="/ppt/notesMasters/notesMaster1.xml" Id="Rf96ca3b0dac343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231db0de5a4731" /><Relationship Type="http://schemas.openxmlformats.org/officeDocument/2006/relationships/notesMaster" Target="/ppt/notesMasters/notesMaster1.xml" Id="Rf8523784499849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idea-first architecture. Every source names a published mechanism, not copied private code or completed integration. Core evidence sources: https://www.uber.com/us/en/blog/ureview/ ; https://code.claude.com/docs/en/code-review ; https://www.greptile.com/blog/how-to-build-a-code-review-agent ; https://sourcegraph.com/blog/a-smarter-way-to-run-code-migrations-with-less-llm-context ; https://openai.com/index/harness-engineering/ ; https://stripe.dev/blog/minions-stripes-one-shot-end-to-end-coding-agents-part-2 ; https://deepmind.google/blog/introducing-codemender-an-ai-agent-for-code-security/ ; https://claude.dev/blog/solving-code-review-at-anthropic/ . Exact Qodo and Aviator sources and transcript timestamps are in the companion idea catalogue. Intake identity, isolation, durable state and evidence govern every stage. Personal and organization variants share the design core. Current publication policy remains human approval of the exact tested push and no automatic merge; more autonomous policies are researched options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revised idea-first target design; code availability is not a research filter. A single controller is authoritative. Use DBOS/PostgreSQL for the organization branch only if its recovery and operating requirements justify it; do not simultaneously embed Temporal and gh-aw as redundant orchestrators. reviewdog is diagnostic transport; it does not itself prove bugs. Source references and pinned licenses are in the companion report and source manifests. Exact patch approval, expected-old-head atomics, repository/ref fencing, immutable evidence and readback are application controls that must be built and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887bfb6a3242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1cd5f9e6b54d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8d3eb2499b48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ba0e67d91b4c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ef8b82c87143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d9835742ca4b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E6D550-0D81-4906-B7D8-12B443A980BB}"/>
              </a:ext>
            </a:extLst>
          </p:cNvPr>
          <p:cNvSpPr>
            <a:spLocks xmlns:a="http://schemas.openxmlformats.org/drawingml/2006/main" noGrp="1"/>
          </p:cNvSpPr>
          <p:nvPr>
            <p:ph type="title" idx="0"/>
          </p:nvPr>
        </p:nvSpPr>
        <p:spPr>
          <a:xfrm xmlns:a="http://schemas.openxmlformats.org/drawingml/2006/main">
            <a:off x="1524000" y="3598333"/>
            <a:ext cx="12192000" cy="1375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30ADC5-DD67-4CC6-B789-A23C8641031A}"/>
              </a:ext>
            </a:extLst>
          </p:cNvPr>
          <p:cNvSpPr>
            <a:spLocks xmlns:a="http://schemas.openxmlformats.org/drawingml/2006/main" noGrp="1"/>
          </p:cNvSpPr>
          <p:nvPr>
            <p:ph type="subTitle" idx="1"/>
          </p:nvPr>
        </p:nvSpPr>
        <p:spPr>
          <a:xfrm xmlns:a="http://schemas.openxmlformats.org/drawingml/2006/main">
            <a:off x="2286000" y="5238750"/>
            <a:ext cx="10668000" cy="1058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53CB45-7106-401D-8590-AE428E637F87}"/>
              </a:ext>
            </a:extLst>
          </p:cNvPr>
          <p:cNvSpPr>
            <a:spLocks xmlns:a="http://schemas.openxmlformats.org/drawingml/2006/main" noGrp="1"/>
          </p:cNvSpPr>
          <p:nvPr>
            <p:ph type="title" idx="0"/>
          </p:nvPr>
        </p:nvSpPr>
        <p:spPr>
          <a:xfrm xmlns:a="http://schemas.openxmlformats.org/drawingml/2006/main">
            <a:off x="1524000" y="3968750"/>
            <a:ext cx="12192000" cy="1587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F42E0A-5766-422F-94CE-EA957B654BD7}"/>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E7A809-4F20-4E46-A5F9-476247ADDE94}"/>
              </a:ext>
            </a:extLst>
          </p:cNvPr>
          <p:cNvSpPr>
            <a:spLocks xmlns:a="http://schemas.openxmlformats.org/drawingml/2006/main" noGrp="1"/>
          </p:cNvSpPr>
          <p:nvPr>
            <p:ph type="body" idx="1"/>
          </p:nvPr>
        </p:nvSpPr>
        <p:spPr>
          <a:xfrm xmlns:a="http://schemas.openxmlformats.org/drawingml/2006/main">
            <a:off x="857250" y="2645833"/>
            <a:ext cx="13525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220802-53AA-4627-A398-2F461563E036}"/>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27D90E-464D-4398-A0FB-79BAB0AC8750}"/>
              </a:ext>
            </a:extLst>
          </p:cNvPr>
          <p:cNvSpPr>
            <a:spLocks xmlns:a="http://schemas.openxmlformats.org/drawingml/2006/main" noGrp="1"/>
          </p:cNvSpPr>
          <p:nvPr>
            <p:ph type="body" idx="1"/>
          </p:nvPr>
        </p:nvSpPr>
        <p:spPr>
          <a:xfrm xmlns:a="http://schemas.openxmlformats.org/drawingml/2006/main">
            <a:off x="857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CFCF9A-8D34-4DCF-A8B9-DCF3F62DD6B4}"/>
              </a:ext>
            </a:extLst>
          </p:cNvPr>
          <p:cNvSpPr>
            <a:spLocks xmlns:a="http://schemas.openxmlformats.org/drawingml/2006/main" noGrp="1"/>
          </p:cNvSpPr>
          <p:nvPr>
            <p:ph type="body" idx="2"/>
          </p:nvPr>
        </p:nvSpPr>
        <p:spPr>
          <a:xfrm xmlns:a="http://schemas.openxmlformats.org/drawingml/2006/main">
            <a:off x="8096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F7EBC9-2CE5-4B78-96E3-C7CB3E5C4344}"/>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23F4D4-30E5-4E9E-9E6C-D4CAB170F99E}"/>
              </a:ext>
            </a:extLst>
          </p:cNvPr>
          <p:cNvSpPr>
            <a:spLocks xmlns:a="http://schemas.openxmlformats.org/drawingml/2006/main" noGrp="1"/>
          </p:cNvSpPr>
          <p:nvPr>
            <p:ph type="body" idx="1"/>
          </p:nvPr>
        </p:nvSpPr>
        <p:spPr>
          <a:xfrm xmlns:a="http://schemas.openxmlformats.org/drawingml/2006/main">
            <a:off x="857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2e6f05f97049f8" /><Relationship Type="http://schemas.openxmlformats.org/officeDocument/2006/relationships/slideLayout" Target="/ppt/slideLayouts/slideLayout1.xml" Id="Rfd8306bd0a98421f" /><Relationship Type="http://schemas.openxmlformats.org/officeDocument/2006/relationships/slideLayout" Target="/ppt/slideLayouts/slideLayout2.xml" Id="Rfd4270094c514e27" /><Relationship Type="http://schemas.openxmlformats.org/officeDocument/2006/relationships/slideLayout" Target="/ppt/slideLayouts/slideLayout3.xml" Id="R87eedf216cfa4ca8" /><Relationship Type="http://schemas.openxmlformats.org/officeDocument/2006/relationships/slideLayout" Target="/ppt/slideLayouts/slideLayout4.xml" Id="R4b38c949dd284ebb" /><Relationship Type="http://schemas.openxmlformats.org/officeDocument/2006/relationships/slideLayout" Target="/ppt/slideLayouts/slideLayout5.xml" Id="Rd56abf42b8be4705" /><Relationship Type="http://schemas.openxmlformats.org/officeDocument/2006/relationships/slideLayout" Target="/ppt/slideLayouts/slideLayout6.xml" Id="Rda1cc55c7b9542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8306bd0a98421f"/>
    <p:sldLayoutId xmlns:r="http://schemas.openxmlformats.org/officeDocument/2006/relationships" id="2147483650" r:id="Rfd4270094c514e27"/>
    <p:sldLayoutId xmlns:r="http://schemas.openxmlformats.org/officeDocument/2006/relationships" id="2147483651" r:id="R87eedf216cfa4ca8"/>
    <p:sldLayoutId xmlns:r="http://schemas.openxmlformats.org/officeDocument/2006/relationships" id="2147483652" r:id="R4b38c949dd284ebb"/>
    <p:sldLayoutId xmlns:r="http://schemas.openxmlformats.org/officeDocument/2006/relationships" id="2147483653" r:id="Rd56abf42b8be4705"/>
    <p:sldLayoutId xmlns:r="http://schemas.openxmlformats.org/officeDocument/2006/relationships" id="2147483654" r:id="Rda1cc55c7b9542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f635d271d44570" /><Relationship Type="http://schemas.openxmlformats.org/officeDocument/2006/relationships/notesSlide" Target="/ppt/notesSlides/notesSlide1.xml" Id="R98b1159c67924d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38d0d633b943c7" /><Relationship Type="http://schemas.openxmlformats.org/officeDocument/2006/relationships/notesSlide" Target="/ppt/notesSlides/notesSlide2.xml" Id="Rf312ae75617f41de" /></Relationships>
</file>

<file path=ppt/slides/slide1.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cxnSp>
        <p:nvCxnSpPr>
          <p:cNvPr id="49" name="">
            <a:extLst xmlns:a="http://schemas.openxmlformats.org/drawingml/2006/main">
              <a:ext uri="{FF2B5EF4-FFF2-40B4-BE49-F238E27FC236}">
                <a16:creationId xmlns:a16="http://schemas.microsoft.com/office/drawing/2014/main" id="{8BA9B7A1-8315-4979-B785-5DC900D0A4FB}"/>
              </a:ext>
            </a:extLst>
          </p:cNvPr>
          <p:cNvCxnSpPr>
            <a:stCxn xmlns:a="http://schemas.openxmlformats.org/drawingml/2006/main" id="33" idx="1"/>
            <a:endCxn xmlns:a="http://schemas.openxmlformats.org/drawingml/2006/main" id="38" idx="3"/>
          </p:cNvCxnSpPr>
          <p:nvPr/>
        </p:nvCxnSpPr>
        <p:spPr>
          <a:xfrm xmlns:a="http://schemas.openxmlformats.org/drawingml/2006/main" flipH="1">
            <a:off x="3857625" y="6605588"/>
            <a:ext cx="381000" cy="0"/>
          </a:xfrm>
          <a:prstGeom xmlns:a="http://schemas.openxmlformats.org/drawingml/2006/main" prst="straightConnector1">
            <a:avLst/>
          </a:prstGeom>
          <a:ln xmlns:a="http://schemas.openxmlformats.org/drawingml/2006/main" w="19050">
            <a:solidFill>
              <a:srgbClr val="8E5033"/>
            </a:solidFill>
            <a:tailEnd type="triangle" w="med" len="med"/>
          </a:ln>
        </p:spPr>
      </p:cxnSp>
      <p:cxnSp>
        <p:nvCxnSpPr>
          <p:cNvPr id="48" name="">
            <a:extLst xmlns:a="http://schemas.openxmlformats.org/drawingml/2006/main">
              <a:ext uri="{FF2B5EF4-FFF2-40B4-BE49-F238E27FC236}">
                <a16:creationId xmlns:a16="http://schemas.microsoft.com/office/drawing/2014/main" id="{DB00B410-F240-4690-8211-756A60E66D04}"/>
              </a:ext>
            </a:extLst>
          </p:cNvPr>
          <p:cNvCxnSpPr>
            <a:stCxn xmlns:a="http://schemas.openxmlformats.org/drawingml/2006/main" id="28" idx="1"/>
            <a:endCxn xmlns:a="http://schemas.openxmlformats.org/drawingml/2006/main" id="33" idx="3"/>
          </p:cNvCxnSpPr>
          <p:nvPr/>
        </p:nvCxnSpPr>
        <p:spPr>
          <a:xfrm xmlns:a="http://schemas.openxmlformats.org/drawingml/2006/main" flipH="1">
            <a:off x="7429500" y="6605588"/>
            <a:ext cx="381000" cy="0"/>
          </a:xfrm>
          <a:prstGeom xmlns:a="http://schemas.openxmlformats.org/drawingml/2006/main" prst="straightConnector1">
            <a:avLst/>
          </a:prstGeom>
          <a:ln xmlns:a="http://schemas.openxmlformats.org/drawingml/2006/main" w="19050">
            <a:solidFill>
              <a:srgbClr val="8E5033"/>
            </a:solidFill>
            <a:tailEnd type="triangle" w="med" len="med"/>
          </a:ln>
        </p:spPr>
      </p:cxnSp>
      <p:cxnSp>
        <p:nvCxnSpPr>
          <p:cNvPr id="47" name="">
            <a:extLst xmlns:a="http://schemas.openxmlformats.org/drawingml/2006/main">
              <a:ext uri="{FF2B5EF4-FFF2-40B4-BE49-F238E27FC236}">
                <a16:creationId xmlns:a16="http://schemas.microsoft.com/office/drawing/2014/main" id="{0BADFD2F-CB16-4A9B-8A3D-F42CE4691194}"/>
              </a:ext>
            </a:extLst>
          </p:cNvPr>
          <p:cNvCxnSpPr>
            <a:stCxn xmlns:a="http://schemas.openxmlformats.org/drawingml/2006/main" id="23" idx="1"/>
            <a:endCxn xmlns:a="http://schemas.openxmlformats.org/drawingml/2006/main" id="28" idx="3"/>
          </p:cNvCxnSpPr>
          <p:nvPr/>
        </p:nvCxnSpPr>
        <p:spPr>
          <a:xfrm xmlns:a="http://schemas.openxmlformats.org/drawingml/2006/main" flipH="1">
            <a:off x="11001375" y="6605588"/>
            <a:ext cx="381000" cy="0"/>
          </a:xfrm>
          <a:prstGeom xmlns:a="http://schemas.openxmlformats.org/drawingml/2006/main" prst="straightConnector1">
            <a:avLst/>
          </a:prstGeom>
          <a:ln xmlns:a="http://schemas.openxmlformats.org/drawingml/2006/main" w="19050">
            <a:solidFill>
              <a:srgbClr val="8E5033"/>
            </a:solidFill>
            <a:tailEnd type="triangle" w="med" len="med"/>
          </a:ln>
        </p:spPr>
      </p:cxnSp>
      <p:cxnSp>
        <p:nvCxnSpPr>
          <p:cNvPr id="46" name="">
            <a:extLst xmlns:a="http://schemas.openxmlformats.org/drawingml/2006/main">
              <a:ext uri="{FF2B5EF4-FFF2-40B4-BE49-F238E27FC236}">
                <a16:creationId xmlns:a16="http://schemas.microsoft.com/office/drawing/2014/main" id="{D47DEC28-3994-4B5F-BFF3-0E9ACA7F84BB}"/>
              </a:ext>
            </a:extLst>
          </p:cNvPr>
          <p:cNvCxnSpPr>
            <a:stCxn xmlns:a="http://schemas.openxmlformats.org/drawingml/2006/main" id="18" idx="2"/>
            <a:endCxn xmlns:a="http://schemas.openxmlformats.org/drawingml/2006/main" id="23" idx="0"/>
          </p:cNvCxnSpPr>
          <p:nvPr/>
        </p:nvCxnSpPr>
        <p:spPr>
          <a:xfrm xmlns:a="http://schemas.openxmlformats.org/drawingml/2006/main">
            <a:off x="12977813" y="4448175"/>
            <a:ext cx="0" cy="1076325"/>
          </a:xfrm>
          <a:prstGeom xmlns:a="http://schemas.openxmlformats.org/drawingml/2006/main" prst="straightConnector1">
            <a:avLst/>
          </a:prstGeom>
          <a:ln xmlns:a="http://schemas.openxmlformats.org/drawingml/2006/main" w="19050">
            <a:solidFill>
              <a:srgbClr val="8E5033"/>
            </a:solidFill>
            <a:tailEnd type="triangle" w="med" len="med"/>
          </a:ln>
        </p:spPr>
      </p:cxnSp>
      <p:cxnSp>
        <p:nvCxnSpPr>
          <p:cNvPr id="45" name="">
            <a:extLst xmlns:a="http://schemas.openxmlformats.org/drawingml/2006/main">
              <a:ext uri="{FF2B5EF4-FFF2-40B4-BE49-F238E27FC236}">
                <a16:creationId xmlns:a16="http://schemas.microsoft.com/office/drawing/2014/main" id="{EE266B45-3012-4188-82F6-BE8C848F84E2}"/>
              </a:ext>
            </a:extLst>
          </p:cNvPr>
          <p:cNvCxnSpPr>
            <a:stCxn xmlns:a="http://schemas.openxmlformats.org/drawingml/2006/main" id="13" idx="3"/>
            <a:endCxn xmlns:a="http://schemas.openxmlformats.org/drawingml/2006/main" id="18" idx="1"/>
          </p:cNvCxnSpPr>
          <p:nvPr/>
        </p:nvCxnSpPr>
        <p:spPr>
          <a:xfrm xmlns:a="http://schemas.openxmlformats.org/drawingml/2006/main">
            <a:off x="11001375" y="3367088"/>
            <a:ext cx="381000" cy="0"/>
          </a:xfrm>
          <a:prstGeom xmlns:a="http://schemas.openxmlformats.org/drawingml/2006/main" prst="straightConnector1">
            <a:avLst/>
          </a:prstGeom>
          <a:ln xmlns:a="http://schemas.openxmlformats.org/drawingml/2006/main" w="19050">
            <a:solidFill>
              <a:srgbClr val="8E5033"/>
            </a:solidFill>
            <a:tailEnd type="triangle" w="med" len="med"/>
          </a:ln>
        </p:spPr>
      </p:cxnSp>
      <p:cxnSp>
        <p:nvCxnSpPr>
          <p:cNvPr id="44" name="">
            <a:extLst xmlns:a="http://schemas.openxmlformats.org/drawingml/2006/main">
              <a:ext uri="{FF2B5EF4-FFF2-40B4-BE49-F238E27FC236}">
                <a16:creationId xmlns:a16="http://schemas.microsoft.com/office/drawing/2014/main" id="{0643898F-2119-4E80-B4DE-D6CA37F9D96C}"/>
              </a:ext>
            </a:extLst>
          </p:cNvPr>
          <p:cNvCxnSpPr>
            <a:stCxn xmlns:a="http://schemas.openxmlformats.org/drawingml/2006/main" id="8" idx="3"/>
            <a:endCxn xmlns:a="http://schemas.openxmlformats.org/drawingml/2006/main" id="13" idx="1"/>
          </p:cNvCxnSpPr>
          <p:nvPr/>
        </p:nvCxnSpPr>
        <p:spPr>
          <a:xfrm xmlns:a="http://schemas.openxmlformats.org/drawingml/2006/main">
            <a:off x="7429500" y="3367088"/>
            <a:ext cx="381000" cy="0"/>
          </a:xfrm>
          <a:prstGeom xmlns:a="http://schemas.openxmlformats.org/drawingml/2006/main" prst="straightConnector1">
            <a:avLst/>
          </a:prstGeom>
          <a:ln xmlns:a="http://schemas.openxmlformats.org/drawingml/2006/main" w="19050">
            <a:solidFill>
              <a:srgbClr val="8E5033"/>
            </a:solidFill>
            <a:tailEnd type="triangle" w="med" len="med"/>
          </a:ln>
        </p:spPr>
      </p:cxnSp>
      <p:cxnSp>
        <p:nvCxnSpPr>
          <p:cNvPr id="43" name="">
            <a:extLst xmlns:a="http://schemas.openxmlformats.org/drawingml/2006/main">
              <a:ext uri="{FF2B5EF4-FFF2-40B4-BE49-F238E27FC236}">
                <a16:creationId xmlns:a16="http://schemas.microsoft.com/office/drawing/2014/main" id="{7ACC2555-DD15-4427-B3D1-AF597B12CCE2}"/>
              </a:ext>
            </a:extLst>
          </p:cNvPr>
          <p:cNvCxnSpPr>
            <a:stCxn xmlns:a="http://schemas.openxmlformats.org/drawingml/2006/main" id="3" idx="3"/>
            <a:endCxn xmlns:a="http://schemas.openxmlformats.org/drawingml/2006/main" id="8" idx="1"/>
          </p:cNvCxnSpPr>
          <p:nvPr/>
        </p:nvCxnSpPr>
        <p:spPr>
          <a:xfrm xmlns:a="http://schemas.openxmlformats.org/drawingml/2006/main">
            <a:off x="3857625" y="3367088"/>
            <a:ext cx="381000" cy="0"/>
          </a:xfrm>
          <a:prstGeom xmlns:a="http://schemas.openxmlformats.org/drawingml/2006/main" prst="straightConnector1">
            <a:avLst/>
          </a:prstGeom>
          <a:ln xmlns:a="http://schemas.openxmlformats.org/drawingml/2006/main" w="19050">
            <a:solidFill>
              <a:srgbClr val="8E5033"/>
            </a:solidFill>
            <a:tailEnd type="triangle" w="med" len="med"/>
          </a:ln>
        </p:spPr>
      </p:cxnSp>
      <p:sp>
        <p:nvSpPr>
          <p:cNvPr id="52" name="">
            <a:extLst xmlns:a="http://schemas.openxmlformats.org/drawingml/2006/main">
              <a:ext uri="{FF2B5EF4-FFF2-40B4-BE49-F238E27FC236}">
                <a16:creationId xmlns:a16="http://schemas.microsoft.com/office/drawing/2014/main" id="{3A53BAA0-223B-4708-9836-049DAD677CB1}"/>
              </a:ext>
            </a:extLst>
          </p:cNvPr>
          <p:cNvSpPr>
            <a:spLocks xmlns:a="http://schemas.openxmlformats.org/drawingml/2006/main" noGrp="1"/>
          </p:cNvSpPr>
          <p:nvPr/>
        </p:nvSpPr>
        <p:spPr>
          <a:xfrm xmlns:a="http://schemas.openxmlformats.org/drawingml/2006/main">
            <a:off x="628650" y="3810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Where the proposed architecture comes from</a:t>
            </a:r>
          </a:p>
        </p:txBody>
      </p:sp>
      <p:sp>
        <p:nvSpPr>
          <p:cNvPr id="2" name="">
            <a:extLst xmlns:a="http://schemas.openxmlformats.org/drawingml/2006/main">
              <a:ext uri="{FF2B5EF4-FFF2-40B4-BE49-F238E27FC236}">
                <a16:creationId xmlns:a16="http://schemas.microsoft.com/office/drawing/2014/main" id="{1E8BE7FD-14E6-4188-A9B7-334DE5DC09F3}"/>
              </a:ext>
            </a:extLst>
          </p:cNvPr>
          <p:cNvSpPr>
            <a:spLocks xmlns:a="http://schemas.openxmlformats.org/drawingml/2006/main" noGrp="1"/>
          </p:cNvSpPr>
          <p:nvPr/>
        </p:nvSpPr>
        <p:spPr>
          <a:xfrm xmlns:a="http://schemas.openxmlformats.org/drawingml/2006/main">
            <a:off x="666750" y="1266825"/>
            <a:ext cx="1381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8E5033"/>
                </a:solidFill>
                <a:latin typeface="Avenir Next"/>
                <a:ea typeface="Avenir Next"/>
                <a:cs typeface="Avenir Next"/>
              </a:defRPr>
            </a:defPPr>
            <a:lvl1pPr>
              <a:defRPr sz="2250" b="0">
                <a:solidFill>
                  <a:srgbClr val="8E5033"/>
                </a:solidFill>
                <a:latin typeface="Avenir Next"/>
                <a:ea typeface="Avenir Next"/>
                <a:cs typeface="Avenir Next"/>
              </a:defRPr>
            </a:lvl1pPr>
            <a:lvl2pPr>
              <a:defRPr sz="2250" b="0">
                <a:solidFill>
                  <a:srgbClr val="8E5033"/>
                </a:solidFill>
                <a:latin typeface="Avenir Next"/>
                <a:ea typeface="Avenir Next"/>
                <a:cs typeface="Avenir Next"/>
              </a:defRPr>
            </a:lvl2pPr>
            <a:lvl3pPr>
              <a:defRPr sz="2250" b="0">
                <a:solidFill>
                  <a:srgbClr val="8E5033"/>
                </a:solidFill>
                <a:latin typeface="Avenir Next"/>
                <a:ea typeface="Avenir Next"/>
                <a:cs typeface="Avenir Next"/>
              </a:defRPr>
            </a:lvl3pPr>
            <a:lvl4pPr>
              <a:defRPr sz="2250" b="0">
                <a:solidFill>
                  <a:srgbClr val="8E5033"/>
                </a:solidFill>
                <a:latin typeface="Avenir Next"/>
                <a:ea typeface="Avenir Next"/>
                <a:cs typeface="Avenir Next"/>
              </a:defRPr>
            </a:lvl4pPr>
            <a:lvl5pPr>
              <a:defRPr sz="2250" b="0">
                <a:solidFill>
                  <a:srgbClr val="8E5033"/>
                </a:solidFill>
                <a:latin typeface="Avenir Next"/>
                <a:ea typeface="Avenir Next"/>
                <a:cs typeface="Avenir Next"/>
              </a:defRPr>
            </a:lvl5pPr>
            <a:lvl6pPr>
              <a:defRPr sz="2250" b="0">
                <a:solidFill>
                  <a:srgbClr val="8E5033"/>
                </a:solidFill>
                <a:latin typeface="Avenir Next"/>
                <a:ea typeface="Avenir Next"/>
                <a:cs typeface="Avenir Next"/>
              </a:defRPr>
            </a:lvl6pPr>
            <a:lvl7pPr>
              <a:defRPr sz="2250" b="0">
                <a:solidFill>
                  <a:srgbClr val="8E5033"/>
                </a:solidFill>
                <a:latin typeface="Avenir Next"/>
                <a:ea typeface="Avenir Next"/>
                <a:cs typeface="Avenir Next"/>
              </a:defRPr>
            </a:lvl7pPr>
            <a:lvl8pPr>
              <a:defRPr sz="2250" b="0">
                <a:solidFill>
                  <a:srgbClr val="8E5033"/>
                </a:solidFill>
                <a:latin typeface="Avenir Next"/>
                <a:ea typeface="Avenir Next"/>
                <a:cs typeface="Avenir Next"/>
              </a:defRPr>
            </a:lvl8pPr>
            <a:lvl9pPr>
              <a:defRPr sz="2250" b="0">
                <a:solidFill>
                  <a:srgbClr val="8E5033"/>
                </a:solidFill>
                <a:latin typeface="Avenir Next"/>
                <a:ea typeface="Avenir Next"/>
                <a:cs typeface="Avenir Next"/>
              </a:defRPr>
            </a:lvl9pPr>
          </a:lstStyle>
          <a:p xmlns:a="http://schemas.openxmlformats.org/drawingml/2006/main">
            <a:pPr>
              <a:defRPr sz="2250" b="0">
                <a:solidFill>
                  <a:srgbClr val="8E5033"/>
                </a:solidFill>
                <a:latin typeface="Avenir Next"/>
                <a:ea typeface="Avenir Next"/>
                <a:cs typeface="Avenir Next"/>
              </a:defRPr>
            </a:pPr>
            <a:r>
              <a:rPr sz="2250" b="0">
                <a:solidFill>
                  <a:srgbClr val="8E5033"/>
                </a:solidFill>
                <a:latin typeface="Avenir Next"/>
                <a:ea typeface="Avenir Next"/>
                <a:cs typeface="Avenir Next"/>
              </a:rPr>
              <a:t>A component map with sources and reasons</a:t>
            </a:r>
          </a:p>
        </p:txBody>
      </p:sp>
      <p:sp>
        <p:nvSpPr>
          <p:cNvPr id="3" name="1  Intent">
            <a:extLst xmlns:a="http://schemas.openxmlformats.org/drawingml/2006/main">
              <a:ext uri="{FF2B5EF4-FFF2-40B4-BE49-F238E27FC236}">
                <a16:creationId xmlns:a16="http://schemas.microsoft.com/office/drawing/2014/main" id="{C52D9685-B538-4EBE-AF78-29C1B9FE537B}"/>
              </a:ext>
            </a:extLst>
          </p:cNvPr>
          <p:cNvSpPr>
            <a:spLocks xmlns:a="http://schemas.openxmlformats.org/drawingml/2006/main" noGrp="1"/>
          </p:cNvSpPr>
          <p:nvPr/>
        </p:nvSpPr>
        <p:spPr>
          <a:xfrm xmlns:a="http://schemas.openxmlformats.org/drawingml/2006/main">
            <a:off x="666750" y="22860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4" name="">
            <a:extLst xmlns:a="http://schemas.openxmlformats.org/drawingml/2006/main">
              <a:ext uri="{FF2B5EF4-FFF2-40B4-BE49-F238E27FC236}">
                <a16:creationId xmlns:a16="http://schemas.microsoft.com/office/drawing/2014/main" id="{6545EDAF-4B78-4E66-9D64-2D5D60933251}"/>
              </a:ext>
            </a:extLst>
          </p:cNvPr>
          <p:cNvSpPr>
            <a:spLocks xmlns:a="http://schemas.openxmlformats.org/drawingml/2006/main" noGrp="1"/>
          </p:cNvSpPr>
          <p:nvPr/>
        </p:nvSpPr>
        <p:spPr>
          <a:xfrm xmlns:a="http://schemas.openxmlformats.org/drawingml/2006/main">
            <a:off x="828675" y="24003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5" name="">
            <a:extLst xmlns:a="http://schemas.openxmlformats.org/drawingml/2006/main">
              <a:ext uri="{FF2B5EF4-FFF2-40B4-BE49-F238E27FC236}">
                <a16:creationId xmlns:a16="http://schemas.microsoft.com/office/drawing/2014/main" id="{10E80B49-773C-4C0F-8FCD-D6929FB5CA6A}"/>
              </a:ext>
            </a:extLst>
          </p:cNvPr>
          <p:cNvSpPr>
            <a:spLocks xmlns:a="http://schemas.openxmlformats.org/drawingml/2006/main" noGrp="1"/>
          </p:cNvSpPr>
          <p:nvPr/>
        </p:nvSpPr>
        <p:spPr>
          <a:xfrm xmlns:a="http://schemas.openxmlformats.org/drawingml/2006/main">
            <a:off x="828675" y="27241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1  Intent</a:t>
            </a:r>
          </a:p>
        </p:txBody>
      </p:sp>
      <p:sp>
        <p:nvSpPr>
          <p:cNvPr id="6" name="">
            <a:extLst xmlns:a="http://schemas.openxmlformats.org/drawingml/2006/main">
              <a:ext uri="{FF2B5EF4-FFF2-40B4-BE49-F238E27FC236}">
                <a16:creationId xmlns:a16="http://schemas.microsoft.com/office/drawing/2014/main" id="{0038531F-B796-456E-BF91-F50DE47A83CB}"/>
              </a:ext>
            </a:extLst>
          </p:cNvPr>
          <p:cNvSpPr>
            <a:spLocks xmlns:a="http://schemas.openxmlformats.org/drawingml/2006/main" noGrp="1"/>
          </p:cNvSpPr>
          <p:nvPr/>
        </p:nvSpPr>
        <p:spPr>
          <a:xfrm xmlns:a="http://schemas.openxmlformats.org/drawingml/2006/main">
            <a:off x="828675" y="32289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Aviator + OpenAI</a:t>
            </a:r>
          </a:p>
        </p:txBody>
      </p:sp>
      <p:sp>
        <p:nvSpPr>
          <p:cNvPr id="7" name="">
            <a:extLst xmlns:a="http://schemas.openxmlformats.org/drawingml/2006/main">
              <a:ext uri="{FF2B5EF4-FFF2-40B4-BE49-F238E27FC236}">
                <a16:creationId xmlns:a16="http://schemas.microsoft.com/office/drawing/2014/main" id="{38F84647-D1FB-494F-868F-8676883ABA6D}"/>
              </a:ext>
            </a:extLst>
          </p:cNvPr>
          <p:cNvSpPr>
            <a:spLocks xmlns:a="http://schemas.openxmlformats.org/drawingml/2006/main" noGrp="1"/>
          </p:cNvSpPr>
          <p:nvPr/>
        </p:nvSpPr>
        <p:spPr>
          <a:xfrm xmlns:a="http://schemas.openxmlformats.org/drawingml/2006/main">
            <a:off x="828675" y="38290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Make requirements and</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acceptance criteria explicit</a:t>
            </a:r>
          </a:p>
        </p:txBody>
      </p:sp>
      <p:sp>
        <p:nvSpPr>
          <p:cNvPr id="8" name="2  Context">
            <a:extLst xmlns:a="http://schemas.openxmlformats.org/drawingml/2006/main">
              <a:ext uri="{FF2B5EF4-FFF2-40B4-BE49-F238E27FC236}">
                <a16:creationId xmlns:a16="http://schemas.microsoft.com/office/drawing/2014/main" id="{69D74A08-FCF4-4277-810A-DE1181D8D929}"/>
              </a:ext>
            </a:extLst>
          </p:cNvPr>
          <p:cNvSpPr>
            <a:spLocks xmlns:a="http://schemas.openxmlformats.org/drawingml/2006/main" noGrp="1"/>
          </p:cNvSpPr>
          <p:nvPr/>
        </p:nvSpPr>
        <p:spPr>
          <a:xfrm xmlns:a="http://schemas.openxmlformats.org/drawingml/2006/main">
            <a:off x="4238625" y="22860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9" name="">
            <a:extLst xmlns:a="http://schemas.openxmlformats.org/drawingml/2006/main">
              <a:ext uri="{FF2B5EF4-FFF2-40B4-BE49-F238E27FC236}">
                <a16:creationId xmlns:a16="http://schemas.microsoft.com/office/drawing/2014/main" id="{B4804D6D-242C-45FD-810C-1E80F54891B8}"/>
              </a:ext>
            </a:extLst>
          </p:cNvPr>
          <p:cNvSpPr>
            <a:spLocks xmlns:a="http://schemas.openxmlformats.org/drawingml/2006/main" noGrp="1"/>
          </p:cNvSpPr>
          <p:nvPr/>
        </p:nvSpPr>
        <p:spPr>
          <a:xfrm xmlns:a="http://schemas.openxmlformats.org/drawingml/2006/main">
            <a:off x="4400550" y="24003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10" name="">
            <a:extLst xmlns:a="http://schemas.openxmlformats.org/drawingml/2006/main">
              <a:ext uri="{FF2B5EF4-FFF2-40B4-BE49-F238E27FC236}">
                <a16:creationId xmlns:a16="http://schemas.microsoft.com/office/drawing/2014/main" id="{A0C37B9C-C3F1-445A-9CD4-F4467D569ED7}"/>
              </a:ext>
            </a:extLst>
          </p:cNvPr>
          <p:cNvSpPr>
            <a:spLocks xmlns:a="http://schemas.openxmlformats.org/drawingml/2006/main" noGrp="1"/>
          </p:cNvSpPr>
          <p:nvPr/>
        </p:nvSpPr>
        <p:spPr>
          <a:xfrm xmlns:a="http://schemas.openxmlformats.org/drawingml/2006/main">
            <a:off x="4400550" y="27241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2  Context</a:t>
            </a:r>
          </a:p>
        </p:txBody>
      </p:sp>
      <p:sp>
        <p:nvSpPr>
          <p:cNvPr id="11" name="">
            <a:extLst xmlns:a="http://schemas.openxmlformats.org/drawingml/2006/main">
              <a:ext uri="{FF2B5EF4-FFF2-40B4-BE49-F238E27FC236}">
                <a16:creationId xmlns:a16="http://schemas.microsoft.com/office/drawing/2014/main" id="{B8F79F89-9065-4CBC-BF0E-08A9E803EC11}"/>
              </a:ext>
            </a:extLst>
          </p:cNvPr>
          <p:cNvSpPr>
            <a:spLocks xmlns:a="http://schemas.openxmlformats.org/drawingml/2006/main" noGrp="1"/>
          </p:cNvSpPr>
          <p:nvPr/>
        </p:nvSpPr>
        <p:spPr>
          <a:xfrm xmlns:a="http://schemas.openxmlformats.org/drawingml/2006/main">
            <a:off x="4400550" y="32289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Qodo + Greptile</a:t>
            </a:r>
          </a:p>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Sourcegraph + CodePlan</a:t>
            </a:r>
          </a:p>
        </p:txBody>
      </p:sp>
      <p:sp>
        <p:nvSpPr>
          <p:cNvPr id="12" name="">
            <a:extLst xmlns:a="http://schemas.openxmlformats.org/drawingml/2006/main">
              <a:ext uri="{FF2B5EF4-FFF2-40B4-BE49-F238E27FC236}">
                <a16:creationId xmlns:a16="http://schemas.microsoft.com/office/drawing/2014/main" id="{1AF69803-BE67-4649-A13E-3220AC2435CE}"/>
              </a:ext>
            </a:extLst>
          </p:cNvPr>
          <p:cNvSpPr>
            <a:spLocks xmlns:a="http://schemas.openxmlformats.org/drawingml/2006/main" noGrp="1"/>
          </p:cNvSpPr>
          <p:nvPr/>
        </p:nvSpPr>
        <p:spPr>
          <a:xfrm xmlns:a="http://schemas.openxmlformats.org/drawingml/2006/main">
            <a:off x="4400550" y="38290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Follow relevant contracts</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and dependencies</a:t>
            </a:r>
          </a:p>
        </p:txBody>
      </p:sp>
      <p:sp>
        <p:nvSpPr>
          <p:cNvPr id="13" name="3  Risk plan">
            <a:extLst xmlns:a="http://schemas.openxmlformats.org/drawingml/2006/main">
              <a:ext uri="{FF2B5EF4-FFF2-40B4-BE49-F238E27FC236}">
                <a16:creationId xmlns:a16="http://schemas.microsoft.com/office/drawing/2014/main" id="{6EBB8090-0FD4-4A1D-B3FB-C10C51AC0900}"/>
              </a:ext>
            </a:extLst>
          </p:cNvPr>
          <p:cNvSpPr>
            <a:spLocks xmlns:a="http://schemas.openxmlformats.org/drawingml/2006/main" noGrp="1"/>
          </p:cNvSpPr>
          <p:nvPr/>
        </p:nvSpPr>
        <p:spPr>
          <a:xfrm xmlns:a="http://schemas.openxmlformats.org/drawingml/2006/main">
            <a:off x="7810500" y="22860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14" name="">
            <a:extLst xmlns:a="http://schemas.openxmlformats.org/drawingml/2006/main">
              <a:ext uri="{FF2B5EF4-FFF2-40B4-BE49-F238E27FC236}">
                <a16:creationId xmlns:a16="http://schemas.microsoft.com/office/drawing/2014/main" id="{5CE91E55-304F-49EB-BEDC-C74B48BE6666}"/>
              </a:ext>
            </a:extLst>
          </p:cNvPr>
          <p:cNvSpPr>
            <a:spLocks xmlns:a="http://schemas.openxmlformats.org/drawingml/2006/main" noGrp="1"/>
          </p:cNvSpPr>
          <p:nvPr/>
        </p:nvSpPr>
        <p:spPr>
          <a:xfrm xmlns:a="http://schemas.openxmlformats.org/drawingml/2006/main">
            <a:off x="7972425" y="24003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15" name="">
            <a:extLst xmlns:a="http://schemas.openxmlformats.org/drawingml/2006/main">
              <a:ext uri="{FF2B5EF4-FFF2-40B4-BE49-F238E27FC236}">
                <a16:creationId xmlns:a16="http://schemas.microsoft.com/office/drawing/2014/main" id="{FF3D8B41-6869-4C66-B9ED-3A7F699B503A}"/>
              </a:ext>
            </a:extLst>
          </p:cNvPr>
          <p:cNvSpPr>
            <a:spLocks xmlns:a="http://schemas.openxmlformats.org/drawingml/2006/main" noGrp="1"/>
          </p:cNvSpPr>
          <p:nvPr/>
        </p:nvSpPr>
        <p:spPr>
          <a:xfrm xmlns:a="http://schemas.openxmlformats.org/drawingml/2006/main">
            <a:off x="7972425" y="27241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3  Risk plan</a:t>
            </a:r>
          </a:p>
        </p:txBody>
      </p:sp>
      <p:sp>
        <p:nvSpPr>
          <p:cNvPr id="16" name="">
            <a:extLst xmlns:a="http://schemas.openxmlformats.org/drawingml/2006/main">
              <a:ext uri="{FF2B5EF4-FFF2-40B4-BE49-F238E27FC236}">
                <a16:creationId xmlns:a16="http://schemas.microsoft.com/office/drawing/2014/main" id="{93CEB5CF-0DE0-46F4-9542-0FEC7733B8CA}"/>
              </a:ext>
            </a:extLst>
          </p:cNvPr>
          <p:cNvSpPr>
            <a:spLocks xmlns:a="http://schemas.openxmlformats.org/drawingml/2006/main" noGrp="1"/>
          </p:cNvSpPr>
          <p:nvPr/>
        </p:nvSpPr>
        <p:spPr>
          <a:xfrm xmlns:a="http://schemas.openxmlformats.org/drawingml/2006/main">
            <a:off x="7972425" y="32289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Anthropic risk tiers</a:t>
            </a:r>
          </a:p>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Specialist review systems</a:t>
            </a:r>
          </a:p>
        </p:txBody>
      </p:sp>
      <p:sp>
        <p:nvSpPr>
          <p:cNvPr id="17" name="">
            <a:extLst xmlns:a="http://schemas.openxmlformats.org/drawingml/2006/main">
              <a:ext uri="{FF2B5EF4-FFF2-40B4-BE49-F238E27FC236}">
                <a16:creationId xmlns:a16="http://schemas.microsoft.com/office/drawing/2014/main" id="{F5B9EB02-79DE-43E6-82EC-FEE54CE9EDBD}"/>
              </a:ext>
            </a:extLst>
          </p:cNvPr>
          <p:cNvSpPr>
            <a:spLocks xmlns:a="http://schemas.openxmlformats.org/drawingml/2006/main" noGrp="1"/>
          </p:cNvSpPr>
          <p:nvPr/>
        </p:nvSpPr>
        <p:spPr>
          <a:xfrm xmlns:a="http://schemas.openxmlformats.org/drawingml/2006/main">
            <a:off x="7972425" y="38290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Choose the evidence</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and depth this PR needs</a:t>
            </a:r>
          </a:p>
        </p:txBody>
      </p:sp>
      <p:sp>
        <p:nvSpPr>
          <p:cNvPr id="18" name="4  Find and validate">
            <a:extLst xmlns:a="http://schemas.openxmlformats.org/drawingml/2006/main">
              <a:ext uri="{FF2B5EF4-FFF2-40B4-BE49-F238E27FC236}">
                <a16:creationId xmlns:a16="http://schemas.microsoft.com/office/drawing/2014/main" id="{FA0D4393-08D6-47D6-B9A4-E343F82862CE}"/>
              </a:ext>
            </a:extLst>
          </p:cNvPr>
          <p:cNvSpPr>
            <a:spLocks xmlns:a="http://schemas.openxmlformats.org/drawingml/2006/main" noGrp="1"/>
          </p:cNvSpPr>
          <p:nvPr/>
        </p:nvSpPr>
        <p:spPr>
          <a:xfrm xmlns:a="http://schemas.openxmlformats.org/drawingml/2006/main">
            <a:off x="11382375" y="22860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19" name="">
            <a:extLst xmlns:a="http://schemas.openxmlformats.org/drawingml/2006/main">
              <a:ext uri="{FF2B5EF4-FFF2-40B4-BE49-F238E27FC236}">
                <a16:creationId xmlns:a16="http://schemas.microsoft.com/office/drawing/2014/main" id="{2CB77173-130E-4C24-896B-3D0FE47BC8CF}"/>
              </a:ext>
            </a:extLst>
          </p:cNvPr>
          <p:cNvSpPr>
            <a:spLocks xmlns:a="http://schemas.openxmlformats.org/drawingml/2006/main" noGrp="1"/>
          </p:cNvSpPr>
          <p:nvPr/>
        </p:nvSpPr>
        <p:spPr>
          <a:xfrm xmlns:a="http://schemas.openxmlformats.org/drawingml/2006/main">
            <a:off x="11544300" y="24003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20" name="">
            <a:extLst xmlns:a="http://schemas.openxmlformats.org/drawingml/2006/main">
              <a:ext uri="{FF2B5EF4-FFF2-40B4-BE49-F238E27FC236}">
                <a16:creationId xmlns:a16="http://schemas.microsoft.com/office/drawing/2014/main" id="{AE9288F3-B962-4772-84BC-763BAD414A06}"/>
              </a:ext>
            </a:extLst>
          </p:cNvPr>
          <p:cNvSpPr>
            <a:spLocks xmlns:a="http://schemas.openxmlformats.org/drawingml/2006/main" noGrp="1"/>
          </p:cNvSpPr>
          <p:nvPr/>
        </p:nvSpPr>
        <p:spPr>
          <a:xfrm xmlns:a="http://schemas.openxmlformats.org/drawingml/2006/main">
            <a:off x="11544300" y="27241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4  Find and validate</a:t>
            </a:r>
          </a:p>
        </p:txBody>
      </p:sp>
      <p:sp>
        <p:nvSpPr>
          <p:cNvPr id="21" name="">
            <a:extLst xmlns:a="http://schemas.openxmlformats.org/drawingml/2006/main">
              <a:ext uri="{FF2B5EF4-FFF2-40B4-BE49-F238E27FC236}">
                <a16:creationId xmlns:a16="http://schemas.microsoft.com/office/drawing/2014/main" id="{129A0664-56B5-4A2F-973E-15283CAD8B43}"/>
              </a:ext>
            </a:extLst>
          </p:cNvPr>
          <p:cNvSpPr>
            <a:spLocks xmlns:a="http://schemas.openxmlformats.org/drawingml/2006/main" noGrp="1"/>
          </p:cNvSpPr>
          <p:nvPr/>
        </p:nvSpPr>
        <p:spPr>
          <a:xfrm xmlns:a="http://schemas.openxmlformats.org/drawingml/2006/main">
            <a:off x="11544300" y="32289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Uber + Claude</a:t>
            </a:r>
          </a:p>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Greptile</a:t>
            </a:r>
          </a:p>
        </p:txBody>
      </p:sp>
      <p:sp>
        <p:nvSpPr>
          <p:cNvPr id="22" name="">
            <a:extLst xmlns:a="http://schemas.openxmlformats.org/drawingml/2006/main">
              <a:ext uri="{FF2B5EF4-FFF2-40B4-BE49-F238E27FC236}">
                <a16:creationId xmlns:a16="http://schemas.microsoft.com/office/drawing/2014/main" id="{55A8314D-B190-4DF1-9CC2-443201289825}"/>
              </a:ext>
            </a:extLst>
          </p:cNvPr>
          <p:cNvSpPr>
            <a:spLocks xmlns:a="http://schemas.openxmlformats.org/drawingml/2006/main" noGrp="1"/>
          </p:cNvSpPr>
          <p:nvPr/>
        </p:nvSpPr>
        <p:spPr>
          <a:xfrm xmlns:a="http://schemas.openxmlformats.org/drawingml/2006/main">
            <a:off x="11544300" y="38290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Keep substantiated defects;</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refute weak findings</a:t>
            </a:r>
          </a:p>
        </p:txBody>
      </p:sp>
      <p:sp>
        <p:nvSpPr>
          <p:cNvPr id="23" name="5  Investigate">
            <a:extLst xmlns:a="http://schemas.openxmlformats.org/drawingml/2006/main">
              <a:ext uri="{FF2B5EF4-FFF2-40B4-BE49-F238E27FC236}">
                <a16:creationId xmlns:a16="http://schemas.microsoft.com/office/drawing/2014/main" id="{D511F4AC-B983-4E73-8D18-60A3EE917122}"/>
              </a:ext>
            </a:extLst>
          </p:cNvPr>
          <p:cNvSpPr>
            <a:spLocks xmlns:a="http://schemas.openxmlformats.org/drawingml/2006/main" noGrp="1"/>
          </p:cNvSpPr>
          <p:nvPr/>
        </p:nvSpPr>
        <p:spPr>
          <a:xfrm xmlns:a="http://schemas.openxmlformats.org/drawingml/2006/main">
            <a:off x="11382375" y="55245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24" name="">
            <a:extLst xmlns:a="http://schemas.openxmlformats.org/drawingml/2006/main">
              <a:ext uri="{FF2B5EF4-FFF2-40B4-BE49-F238E27FC236}">
                <a16:creationId xmlns:a16="http://schemas.microsoft.com/office/drawing/2014/main" id="{F3A3C303-B408-4D87-8F75-094B3C5094D2}"/>
              </a:ext>
            </a:extLst>
          </p:cNvPr>
          <p:cNvSpPr>
            <a:spLocks xmlns:a="http://schemas.openxmlformats.org/drawingml/2006/main" noGrp="1"/>
          </p:cNvSpPr>
          <p:nvPr/>
        </p:nvSpPr>
        <p:spPr>
          <a:xfrm xmlns:a="http://schemas.openxmlformats.org/drawingml/2006/main">
            <a:off x="11544300" y="56388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25" name="">
            <a:extLst xmlns:a="http://schemas.openxmlformats.org/drawingml/2006/main">
              <a:ext uri="{FF2B5EF4-FFF2-40B4-BE49-F238E27FC236}">
                <a16:creationId xmlns:a16="http://schemas.microsoft.com/office/drawing/2014/main" id="{2277059E-C835-4B90-A62B-1339434F774F}"/>
              </a:ext>
            </a:extLst>
          </p:cNvPr>
          <p:cNvSpPr>
            <a:spLocks xmlns:a="http://schemas.openxmlformats.org/drawingml/2006/main" noGrp="1"/>
          </p:cNvSpPr>
          <p:nvPr/>
        </p:nvSpPr>
        <p:spPr>
          <a:xfrm xmlns:a="http://schemas.openxmlformats.org/drawingml/2006/main">
            <a:off x="11544300" y="59626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5  Investigate</a:t>
            </a:r>
          </a:p>
        </p:txBody>
      </p:sp>
      <p:sp>
        <p:nvSpPr>
          <p:cNvPr id="26" name="">
            <a:extLst xmlns:a="http://schemas.openxmlformats.org/drawingml/2006/main">
              <a:ext uri="{FF2B5EF4-FFF2-40B4-BE49-F238E27FC236}">
                <a16:creationId xmlns:a16="http://schemas.microsoft.com/office/drawing/2014/main" id="{0C9D5ADD-70BD-42B7-A975-945043A56A69}"/>
              </a:ext>
            </a:extLst>
          </p:cNvPr>
          <p:cNvSpPr>
            <a:spLocks xmlns:a="http://schemas.openxmlformats.org/drawingml/2006/main" noGrp="1"/>
          </p:cNvSpPr>
          <p:nvPr/>
        </p:nvSpPr>
        <p:spPr>
          <a:xfrm xmlns:a="http://schemas.openxmlformats.org/drawingml/2006/main">
            <a:off x="11544300" y="64674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Google CodeMender</a:t>
            </a:r>
          </a:p>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Greptile TREX + Meta</a:t>
            </a:r>
          </a:p>
        </p:txBody>
      </p:sp>
      <p:sp>
        <p:nvSpPr>
          <p:cNvPr id="27" name="">
            <a:extLst xmlns:a="http://schemas.openxmlformats.org/drawingml/2006/main">
              <a:ext uri="{FF2B5EF4-FFF2-40B4-BE49-F238E27FC236}">
                <a16:creationId xmlns:a16="http://schemas.microsoft.com/office/drawing/2014/main" id="{40E901D1-41C0-4DBE-8C0E-57AFF9B41C52}"/>
              </a:ext>
            </a:extLst>
          </p:cNvPr>
          <p:cNvSpPr>
            <a:spLocks xmlns:a="http://schemas.openxmlformats.org/drawingml/2006/main" noGrp="1"/>
          </p:cNvSpPr>
          <p:nvPr/>
        </p:nvSpPr>
        <p:spPr>
          <a:xfrm xmlns:a="http://schemas.openxmlformats.org/drawingml/2006/main">
            <a:off x="11544300" y="70675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Use the evidence</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this claim requires</a:t>
            </a:r>
          </a:p>
        </p:txBody>
      </p:sp>
      <p:sp>
        <p:nvSpPr>
          <p:cNvPr id="28" name="6  Repair and verify">
            <a:extLst xmlns:a="http://schemas.openxmlformats.org/drawingml/2006/main">
              <a:ext uri="{FF2B5EF4-FFF2-40B4-BE49-F238E27FC236}">
                <a16:creationId xmlns:a16="http://schemas.microsoft.com/office/drawing/2014/main" id="{1BC1C3EB-235F-4D42-B108-0ED0BA2A3BD0}"/>
              </a:ext>
            </a:extLst>
          </p:cNvPr>
          <p:cNvSpPr>
            <a:spLocks xmlns:a="http://schemas.openxmlformats.org/drawingml/2006/main" noGrp="1"/>
          </p:cNvSpPr>
          <p:nvPr/>
        </p:nvSpPr>
        <p:spPr>
          <a:xfrm xmlns:a="http://schemas.openxmlformats.org/drawingml/2006/main">
            <a:off x="7810500" y="55245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29" name="">
            <a:extLst xmlns:a="http://schemas.openxmlformats.org/drawingml/2006/main">
              <a:ext uri="{FF2B5EF4-FFF2-40B4-BE49-F238E27FC236}">
                <a16:creationId xmlns:a16="http://schemas.microsoft.com/office/drawing/2014/main" id="{69D19A33-F91D-41FA-9333-3B53AF13A4E2}"/>
              </a:ext>
            </a:extLst>
          </p:cNvPr>
          <p:cNvSpPr>
            <a:spLocks xmlns:a="http://schemas.openxmlformats.org/drawingml/2006/main" noGrp="1"/>
          </p:cNvSpPr>
          <p:nvPr/>
        </p:nvSpPr>
        <p:spPr>
          <a:xfrm xmlns:a="http://schemas.openxmlformats.org/drawingml/2006/main">
            <a:off x="7972425" y="56388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30" name="">
            <a:extLst xmlns:a="http://schemas.openxmlformats.org/drawingml/2006/main">
              <a:ext uri="{FF2B5EF4-FFF2-40B4-BE49-F238E27FC236}">
                <a16:creationId xmlns:a16="http://schemas.microsoft.com/office/drawing/2014/main" id="{9309587E-4B5E-4680-AE12-EE13F7A24DB3}"/>
              </a:ext>
            </a:extLst>
          </p:cNvPr>
          <p:cNvSpPr>
            <a:spLocks xmlns:a="http://schemas.openxmlformats.org/drawingml/2006/main" noGrp="1"/>
          </p:cNvSpPr>
          <p:nvPr/>
        </p:nvSpPr>
        <p:spPr>
          <a:xfrm xmlns:a="http://schemas.openxmlformats.org/drawingml/2006/main">
            <a:off x="7972425" y="59626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6  Repair and verify</a:t>
            </a:r>
          </a:p>
        </p:txBody>
      </p:sp>
      <p:sp>
        <p:nvSpPr>
          <p:cNvPr id="31" name="">
            <a:extLst xmlns:a="http://schemas.openxmlformats.org/drawingml/2006/main">
              <a:ext uri="{FF2B5EF4-FFF2-40B4-BE49-F238E27FC236}">
                <a16:creationId xmlns:a16="http://schemas.microsoft.com/office/drawing/2014/main" id="{C6243C00-3B64-4645-87C1-22E3ED75D49D}"/>
              </a:ext>
            </a:extLst>
          </p:cNvPr>
          <p:cNvSpPr>
            <a:spLocks xmlns:a="http://schemas.openxmlformats.org/drawingml/2006/main" noGrp="1"/>
          </p:cNvSpPr>
          <p:nvPr/>
        </p:nvSpPr>
        <p:spPr>
          <a:xfrm xmlns:a="http://schemas.openxmlformats.org/drawingml/2006/main">
            <a:off x="7972425" y="64674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Stripe blueprints</a:t>
            </a:r>
          </a:p>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Meta + Google</a:t>
            </a:r>
          </a:p>
        </p:txBody>
      </p:sp>
      <p:sp>
        <p:nvSpPr>
          <p:cNvPr id="32" name="">
            <a:extLst xmlns:a="http://schemas.openxmlformats.org/drawingml/2006/main">
              <a:ext uri="{FF2B5EF4-FFF2-40B4-BE49-F238E27FC236}">
                <a16:creationId xmlns:a16="http://schemas.microsoft.com/office/drawing/2014/main" id="{5AEFDEB3-5CE4-45AD-A832-3237B59C34E1}"/>
              </a:ext>
            </a:extLst>
          </p:cNvPr>
          <p:cNvSpPr>
            <a:spLocks xmlns:a="http://schemas.openxmlformats.org/drawingml/2006/main" noGrp="1"/>
          </p:cNvSpPr>
          <p:nvPr/>
        </p:nvSpPr>
        <p:spPr>
          <a:xfrm xmlns:a="http://schemas.openxmlformats.org/drawingml/2006/main">
            <a:off x="7972425" y="70675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Constrain edits; run</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independent verification</a:t>
            </a:r>
          </a:p>
        </p:txBody>
      </p:sp>
      <p:sp>
        <p:nvSpPr>
          <p:cNvPr id="33" name="7  Control writes">
            <a:extLst xmlns:a="http://schemas.openxmlformats.org/drawingml/2006/main">
              <a:ext uri="{FF2B5EF4-FFF2-40B4-BE49-F238E27FC236}">
                <a16:creationId xmlns:a16="http://schemas.microsoft.com/office/drawing/2014/main" id="{C28208A3-DB13-4CD1-A4AC-84A08C987C80}"/>
              </a:ext>
            </a:extLst>
          </p:cNvPr>
          <p:cNvSpPr>
            <a:spLocks xmlns:a="http://schemas.openxmlformats.org/drawingml/2006/main" noGrp="1"/>
          </p:cNvSpPr>
          <p:nvPr/>
        </p:nvSpPr>
        <p:spPr>
          <a:xfrm xmlns:a="http://schemas.openxmlformats.org/drawingml/2006/main">
            <a:off x="4238625" y="55245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CA8E2F"/>
            </a:solidFill>
          </a:ln>
        </p:spPr>
      </p:sp>
      <p:sp>
        <p:nvSpPr>
          <p:cNvPr id="34" name="">
            <a:extLst xmlns:a="http://schemas.openxmlformats.org/drawingml/2006/main">
              <a:ext uri="{FF2B5EF4-FFF2-40B4-BE49-F238E27FC236}">
                <a16:creationId xmlns:a16="http://schemas.microsoft.com/office/drawing/2014/main" id="{0CCF9501-A14F-4C29-A848-7306EBD8F0CD}"/>
              </a:ext>
            </a:extLst>
          </p:cNvPr>
          <p:cNvSpPr>
            <a:spLocks xmlns:a="http://schemas.openxmlformats.org/drawingml/2006/main" noGrp="1"/>
          </p:cNvSpPr>
          <p:nvPr/>
        </p:nvSpPr>
        <p:spPr>
          <a:xfrm xmlns:a="http://schemas.openxmlformats.org/drawingml/2006/main">
            <a:off x="4400550" y="56388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CA8E2F"/>
                </a:solidFill>
                <a:latin typeface="Avenir Next"/>
                <a:ea typeface="Avenir Next"/>
                <a:cs typeface="Avenir Next"/>
              </a:defRPr>
            </a:defPPr>
            <a:lvl1pPr>
              <a:defRPr sz="1350" b="1">
                <a:solidFill>
                  <a:srgbClr val="CA8E2F"/>
                </a:solidFill>
                <a:latin typeface="Avenir Next"/>
                <a:ea typeface="Avenir Next"/>
                <a:cs typeface="Avenir Next"/>
              </a:defRPr>
            </a:lvl1pPr>
            <a:lvl2pPr>
              <a:defRPr sz="1350" b="1">
                <a:solidFill>
                  <a:srgbClr val="CA8E2F"/>
                </a:solidFill>
                <a:latin typeface="Avenir Next"/>
                <a:ea typeface="Avenir Next"/>
                <a:cs typeface="Avenir Next"/>
              </a:defRPr>
            </a:lvl2pPr>
            <a:lvl3pPr>
              <a:defRPr sz="1350" b="1">
                <a:solidFill>
                  <a:srgbClr val="CA8E2F"/>
                </a:solidFill>
                <a:latin typeface="Avenir Next"/>
                <a:ea typeface="Avenir Next"/>
                <a:cs typeface="Avenir Next"/>
              </a:defRPr>
            </a:lvl3pPr>
            <a:lvl4pPr>
              <a:defRPr sz="1350" b="1">
                <a:solidFill>
                  <a:srgbClr val="CA8E2F"/>
                </a:solidFill>
                <a:latin typeface="Avenir Next"/>
                <a:ea typeface="Avenir Next"/>
                <a:cs typeface="Avenir Next"/>
              </a:defRPr>
            </a:lvl4pPr>
            <a:lvl5pPr>
              <a:defRPr sz="1350" b="1">
                <a:solidFill>
                  <a:srgbClr val="CA8E2F"/>
                </a:solidFill>
                <a:latin typeface="Avenir Next"/>
                <a:ea typeface="Avenir Next"/>
                <a:cs typeface="Avenir Next"/>
              </a:defRPr>
            </a:lvl5pPr>
            <a:lvl6pPr>
              <a:defRPr sz="1350" b="1">
                <a:solidFill>
                  <a:srgbClr val="CA8E2F"/>
                </a:solidFill>
                <a:latin typeface="Avenir Next"/>
                <a:ea typeface="Avenir Next"/>
                <a:cs typeface="Avenir Next"/>
              </a:defRPr>
            </a:lvl6pPr>
            <a:lvl7pPr>
              <a:defRPr sz="1350" b="1">
                <a:solidFill>
                  <a:srgbClr val="CA8E2F"/>
                </a:solidFill>
                <a:latin typeface="Avenir Next"/>
                <a:ea typeface="Avenir Next"/>
                <a:cs typeface="Avenir Next"/>
              </a:defRPr>
            </a:lvl7pPr>
            <a:lvl8pPr>
              <a:defRPr sz="1350" b="1">
                <a:solidFill>
                  <a:srgbClr val="CA8E2F"/>
                </a:solidFill>
                <a:latin typeface="Avenir Next"/>
                <a:ea typeface="Avenir Next"/>
                <a:cs typeface="Avenir Next"/>
              </a:defRPr>
            </a:lvl8pPr>
            <a:lvl9pPr>
              <a:defRPr sz="1350" b="1">
                <a:solidFill>
                  <a:srgbClr val="CA8E2F"/>
                </a:solidFill>
                <a:latin typeface="Avenir Next"/>
                <a:ea typeface="Avenir Next"/>
                <a:cs typeface="Avenir Next"/>
              </a:defRPr>
            </a:lvl9pPr>
          </a:lstStyle>
          <a:p xmlns:a="http://schemas.openxmlformats.org/drawingml/2006/main">
            <a:pPr>
              <a:defRPr sz="1350" b="1">
                <a:solidFill>
                  <a:srgbClr val="CA8E2F"/>
                </a:solidFill>
                <a:latin typeface="Avenir Next"/>
                <a:ea typeface="Avenir Next"/>
                <a:cs typeface="Avenir Next"/>
              </a:defRPr>
            </a:pPr>
            <a:r>
              <a:rPr sz="1350" b="1">
                <a:solidFill>
                  <a:srgbClr val="CA8E2F"/>
                </a:solidFill>
                <a:latin typeface="Avenir Next"/>
                <a:ea typeface="Avenir Next"/>
                <a:cs typeface="Avenir Next"/>
              </a:rPr>
              <a:t>BUILD CONTROL</a:t>
            </a:r>
          </a:p>
        </p:txBody>
      </p:sp>
      <p:sp>
        <p:nvSpPr>
          <p:cNvPr id="35" name="">
            <a:extLst xmlns:a="http://schemas.openxmlformats.org/drawingml/2006/main">
              <a:ext uri="{FF2B5EF4-FFF2-40B4-BE49-F238E27FC236}">
                <a16:creationId xmlns:a16="http://schemas.microsoft.com/office/drawing/2014/main" id="{2955947A-5EFF-4B0A-AB7C-41B06C97DAE4}"/>
              </a:ext>
            </a:extLst>
          </p:cNvPr>
          <p:cNvSpPr>
            <a:spLocks xmlns:a="http://schemas.openxmlformats.org/drawingml/2006/main" noGrp="1"/>
          </p:cNvSpPr>
          <p:nvPr/>
        </p:nvSpPr>
        <p:spPr>
          <a:xfrm xmlns:a="http://schemas.openxmlformats.org/drawingml/2006/main">
            <a:off x="4400550" y="59626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7  Control writes</a:t>
            </a:r>
          </a:p>
        </p:txBody>
      </p:sp>
      <p:sp>
        <p:nvSpPr>
          <p:cNvPr id="36" name="">
            <a:extLst xmlns:a="http://schemas.openxmlformats.org/drawingml/2006/main">
              <a:ext uri="{FF2B5EF4-FFF2-40B4-BE49-F238E27FC236}">
                <a16:creationId xmlns:a16="http://schemas.microsoft.com/office/drawing/2014/main" id="{29554525-77FC-4A5B-BC24-CCA47312B428}"/>
              </a:ext>
            </a:extLst>
          </p:cNvPr>
          <p:cNvSpPr>
            <a:spLocks xmlns:a="http://schemas.openxmlformats.org/drawingml/2006/main" noGrp="1"/>
          </p:cNvSpPr>
          <p:nvPr/>
        </p:nvSpPr>
        <p:spPr>
          <a:xfrm xmlns:a="http://schemas.openxmlformats.org/drawingml/2006/main">
            <a:off x="4400550" y="64674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A8E2F"/>
                </a:solidFill>
                <a:latin typeface="Avenir Next"/>
                <a:ea typeface="Avenir Next"/>
                <a:cs typeface="Avenir Next"/>
              </a:defRPr>
            </a:defPPr>
            <a:lvl1pPr>
              <a:defRPr sz="1725" b="0">
                <a:solidFill>
                  <a:srgbClr val="CA8E2F"/>
                </a:solidFill>
                <a:latin typeface="Avenir Next"/>
                <a:ea typeface="Avenir Next"/>
                <a:cs typeface="Avenir Next"/>
              </a:defRPr>
            </a:lvl1pPr>
            <a:lvl2pPr>
              <a:defRPr sz="1725" b="0">
                <a:solidFill>
                  <a:srgbClr val="CA8E2F"/>
                </a:solidFill>
                <a:latin typeface="Avenir Next"/>
                <a:ea typeface="Avenir Next"/>
                <a:cs typeface="Avenir Next"/>
              </a:defRPr>
            </a:lvl2pPr>
            <a:lvl3pPr>
              <a:defRPr sz="1725" b="0">
                <a:solidFill>
                  <a:srgbClr val="CA8E2F"/>
                </a:solidFill>
                <a:latin typeface="Avenir Next"/>
                <a:ea typeface="Avenir Next"/>
                <a:cs typeface="Avenir Next"/>
              </a:defRPr>
            </a:lvl3pPr>
            <a:lvl4pPr>
              <a:defRPr sz="1725" b="0">
                <a:solidFill>
                  <a:srgbClr val="CA8E2F"/>
                </a:solidFill>
                <a:latin typeface="Avenir Next"/>
                <a:ea typeface="Avenir Next"/>
                <a:cs typeface="Avenir Next"/>
              </a:defRPr>
            </a:lvl4pPr>
            <a:lvl5pPr>
              <a:defRPr sz="1725" b="0">
                <a:solidFill>
                  <a:srgbClr val="CA8E2F"/>
                </a:solidFill>
                <a:latin typeface="Avenir Next"/>
                <a:ea typeface="Avenir Next"/>
                <a:cs typeface="Avenir Next"/>
              </a:defRPr>
            </a:lvl5pPr>
            <a:lvl6pPr>
              <a:defRPr sz="1725" b="0">
                <a:solidFill>
                  <a:srgbClr val="CA8E2F"/>
                </a:solidFill>
                <a:latin typeface="Avenir Next"/>
                <a:ea typeface="Avenir Next"/>
                <a:cs typeface="Avenir Next"/>
              </a:defRPr>
            </a:lvl6pPr>
            <a:lvl7pPr>
              <a:defRPr sz="1725" b="0">
                <a:solidFill>
                  <a:srgbClr val="CA8E2F"/>
                </a:solidFill>
                <a:latin typeface="Avenir Next"/>
                <a:ea typeface="Avenir Next"/>
                <a:cs typeface="Avenir Next"/>
              </a:defRPr>
            </a:lvl7pPr>
            <a:lvl8pPr>
              <a:defRPr sz="1725" b="0">
                <a:solidFill>
                  <a:srgbClr val="CA8E2F"/>
                </a:solidFill>
                <a:latin typeface="Avenir Next"/>
                <a:ea typeface="Avenir Next"/>
                <a:cs typeface="Avenir Next"/>
              </a:defRPr>
            </a:lvl8pPr>
            <a:lvl9pPr>
              <a:defRPr sz="1725" b="0">
                <a:solidFill>
                  <a:srgbClr val="CA8E2F"/>
                </a:solidFill>
                <a:latin typeface="Avenir Next"/>
                <a:ea typeface="Avenir Next"/>
                <a:cs typeface="Avenir Next"/>
              </a:defRPr>
            </a:lvl9pPr>
          </a:lstStyle>
          <a:p xmlns:a="http://schemas.openxmlformats.org/drawingml/2006/main">
            <a:pPr>
              <a:defRPr sz="1725" b="0">
                <a:solidFill>
                  <a:srgbClr val="CA8E2F"/>
                </a:solidFill>
                <a:latin typeface="Avenir Next"/>
                <a:ea typeface="Avenir Next"/>
                <a:cs typeface="Avenir Next"/>
              </a:defRPr>
            </a:pPr>
            <a:r>
              <a:rPr sz="1725" b="0">
                <a:solidFill>
                  <a:srgbClr val="CA8E2F"/>
                </a:solidFill>
                <a:latin typeface="Avenir Next"/>
                <a:ea typeface="Avenir Next"/>
                <a:cs typeface="Avenir Next"/>
              </a:rPr>
              <a:t>Anthropic + gh-aw</a:t>
            </a:r>
          </a:p>
          <a:p xmlns:a="http://schemas.openxmlformats.org/drawingml/2006/main">
            <a:pPr>
              <a:defRPr sz="1725" b="0">
                <a:solidFill>
                  <a:srgbClr val="CA8E2F"/>
                </a:solidFill>
                <a:latin typeface="Avenir Next"/>
                <a:ea typeface="Avenir Next"/>
                <a:cs typeface="Avenir Next"/>
              </a:defRPr>
            </a:pPr>
            <a:r>
              <a:rPr sz="1725" b="0">
                <a:solidFill>
                  <a:srgbClr val="CA8E2F"/>
                </a:solidFill>
                <a:latin typeface="Avenir Next"/>
                <a:ea typeface="Avenir Next"/>
                <a:cs typeface="Avenir Next"/>
              </a:rPr>
              <a:t>Our publication policy</a:t>
            </a:r>
          </a:p>
        </p:txBody>
      </p:sp>
      <p:sp>
        <p:nvSpPr>
          <p:cNvPr id="37" name="">
            <a:extLst xmlns:a="http://schemas.openxmlformats.org/drawingml/2006/main">
              <a:ext uri="{FF2B5EF4-FFF2-40B4-BE49-F238E27FC236}">
                <a16:creationId xmlns:a16="http://schemas.microsoft.com/office/drawing/2014/main" id="{B7A04C7E-A7F0-49A1-A908-2806BC060E33}"/>
              </a:ext>
            </a:extLst>
          </p:cNvPr>
          <p:cNvSpPr>
            <a:spLocks xmlns:a="http://schemas.openxmlformats.org/drawingml/2006/main" noGrp="1"/>
          </p:cNvSpPr>
          <p:nvPr/>
        </p:nvSpPr>
        <p:spPr>
          <a:xfrm xmlns:a="http://schemas.openxmlformats.org/drawingml/2006/main">
            <a:off x="4400550" y="70675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Approve exact patch;</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reject stale writes</a:t>
            </a:r>
          </a:p>
        </p:txBody>
      </p:sp>
      <p:sp>
        <p:nvSpPr>
          <p:cNvPr id="38" name="8  Learn">
            <a:extLst xmlns:a="http://schemas.openxmlformats.org/drawingml/2006/main">
              <a:ext uri="{FF2B5EF4-FFF2-40B4-BE49-F238E27FC236}">
                <a16:creationId xmlns:a16="http://schemas.microsoft.com/office/drawing/2014/main" id="{46296A29-F916-46D4-8BC4-80C3600791F0}"/>
              </a:ext>
            </a:extLst>
          </p:cNvPr>
          <p:cNvSpPr>
            <a:spLocks xmlns:a="http://schemas.openxmlformats.org/drawingml/2006/main" noGrp="1"/>
          </p:cNvSpPr>
          <p:nvPr/>
        </p:nvSpPr>
        <p:spPr>
          <a:xfrm xmlns:a="http://schemas.openxmlformats.org/drawingml/2006/main">
            <a:off x="666750" y="5524500"/>
            <a:ext cx="3190875" cy="2162175"/>
          </a:xfrm>
          <a:prstGeom xmlns:a="http://schemas.openxmlformats.org/drawingml/2006/main" prst="roundRect">
            <a:avLst>
              <a:gd name="adj" fmla="val 3524"/>
            </a:avLst>
          </a:prstGeom>
          <a:solidFill xmlns:a="http://schemas.openxmlformats.org/drawingml/2006/main">
            <a:srgbClr val="F4EFE6"/>
          </a:solidFill>
          <a:ln xmlns:a="http://schemas.openxmlformats.org/drawingml/2006/main" w="19050">
            <a:solidFill>
              <a:srgbClr val="978468"/>
            </a:solidFill>
          </a:ln>
        </p:spPr>
      </p:sp>
      <p:sp>
        <p:nvSpPr>
          <p:cNvPr id="39" name="">
            <a:extLst xmlns:a="http://schemas.openxmlformats.org/drawingml/2006/main">
              <a:ext uri="{FF2B5EF4-FFF2-40B4-BE49-F238E27FC236}">
                <a16:creationId xmlns:a16="http://schemas.microsoft.com/office/drawing/2014/main" id="{93E55563-4B35-4823-9F88-55D4B422455E}"/>
              </a:ext>
            </a:extLst>
          </p:cNvPr>
          <p:cNvSpPr>
            <a:spLocks xmlns:a="http://schemas.openxmlformats.org/drawingml/2006/main" noGrp="1"/>
          </p:cNvSpPr>
          <p:nvPr/>
        </p:nvSpPr>
        <p:spPr>
          <a:xfrm xmlns:a="http://schemas.openxmlformats.org/drawingml/2006/main">
            <a:off x="828675" y="56388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78468"/>
                </a:solidFill>
                <a:latin typeface="Avenir Next"/>
                <a:ea typeface="Avenir Next"/>
                <a:cs typeface="Avenir Next"/>
              </a:defRPr>
            </a:defPPr>
            <a:lvl1pPr>
              <a:defRPr sz="1350" b="1">
                <a:solidFill>
                  <a:srgbClr val="978468"/>
                </a:solidFill>
                <a:latin typeface="Avenir Next"/>
                <a:ea typeface="Avenir Next"/>
                <a:cs typeface="Avenir Next"/>
              </a:defRPr>
            </a:lvl1pPr>
            <a:lvl2pPr>
              <a:defRPr sz="1350" b="1">
                <a:solidFill>
                  <a:srgbClr val="978468"/>
                </a:solidFill>
                <a:latin typeface="Avenir Next"/>
                <a:ea typeface="Avenir Next"/>
                <a:cs typeface="Avenir Next"/>
              </a:defRPr>
            </a:lvl2pPr>
            <a:lvl3pPr>
              <a:defRPr sz="1350" b="1">
                <a:solidFill>
                  <a:srgbClr val="978468"/>
                </a:solidFill>
                <a:latin typeface="Avenir Next"/>
                <a:ea typeface="Avenir Next"/>
                <a:cs typeface="Avenir Next"/>
              </a:defRPr>
            </a:lvl3pPr>
            <a:lvl4pPr>
              <a:defRPr sz="1350" b="1">
                <a:solidFill>
                  <a:srgbClr val="978468"/>
                </a:solidFill>
                <a:latin typeface="Avenir Next"/>
                <a:ea typeface="Avenir Next"/>
                <a:cs typeface="Avenir Next"/>
              </a:defRPr>
            </a:lvl4pPr>
            <a:lvl5pPr>
              <a:defRPr sz="1350" b="1">
                <a:solidFill>
                  <a:srgbClr val="978468"/>
                </a:solidFill>
                <a:latin typeface="Avenir Next"/>
                <a:ea typeface="Avenir Next"/>
                <a:cs typeface="Avenir Next"/>
              </a:defRPr>
            </a:lvl5pPr>
            <a:lvl6pPr>
              <a:defRPr sz="1350" b="1">
                <a:solidFill>
                  <a:srgbClr val="978468"/>
                </a:solidFill>
                <a:latin typeface="Avenir Next"/>
                <a:ea typeface="Avenir Next"/>
                <a:cs typeface="Avenir Next"/>
              </a:defRPr>
            </a:lvl6pPr>
            <a:lvl7pPr>
              <a:defRPr sz="1350" b="1">
                <a:solidFill>
                  <a:srgbClr val="978468"/>
                </a:solidFill>
                <a:latin typeface="Avenir Next"/>
                <a:ea typeface="Avenir Next"/>
                <a:cs typeface="Avenir Next"/>
              </a:defRPr>
            </a:lvl7pPr>
            <a:lvl8pPr>
              <a:defRPr sz="1350" b="1">
                <a:solidFill>
                  <a:srgbClr val="978468"/>
                </a:solidFill>
                <a:latin typeface="Avenir Next"/>
                <a:ea typeface="Avenir Next"/>
                <a:cs typeface="Avenir Next"/>
              </a:defRPr>
            </a:lvl8pPr>
            <a:lvl9pPr>
              <a:defRPr sz="1350" b="1">
                <a:solidFill>
                  <a:srgbClr val="978468"/>
                </a:solidFill>
                <a:latin typeface="Avenir Next"/>
                <a:ea typeface="Avenir Next"/>
                <a:cs typeface="Avenir Next"/>
              </a:defRPr>
            </a:lvl9pPr>
          </a:lstStyle>
          <a:p xmlns:a="http://schemas.openxmlformats.org/drawingml/2006/main">
            <a:pPr>
              <a:defRPr sz="1350" b="1">
                <a:solidFill>
                  <a:srgbClr val="978468"/>
                </a:solidFill>
                <a:latin typeface="Avenir Next"/>
                <a:ea typeface="Avenir Next"/>
                <a:cs typeface="Avenir Next"/>
              </a:defRPr>
            </a:pPr>
            <a:r>
              <a:rPr sz="1350" b="1">
                <a:solidFill>
                  <a:srgbClr val="978468"/>
                </a:solidFill>
                <a:latin typeface="Avenir Next"/>
                <a:ea typeface="Avenir Next"/>
                <a:cs typeface="Avenir Next"/>
              </a:rPr>
              <a:t>ADAPT IDEA</a:t>
            </a:r>
          </a:p>
        </p:txBody>
      </p:sp>
      <p:sp>
        <p:nvSpPr>
          <p:cNvPr id="40" name="">
            <a:extLst xmlns:a="http://schemas.openxmlformats.org/drawingml/2006/main">
              <a:ext uri="{FF2B5EF4-FFF2-40B4-BE49-F238E27FC236}">
                <a16:creationId xmlns:a16="http://schemas.microsoft.com/office/drawing/2014/main" id="{D8F8F7F1-325D-4942-AD73-CA95BC8AEB7E}"/>
              </a:ext>
            </a:extLst>
          </p:cNvPr>
          <p:cNvSpPr>
            <a:spLocks xmlns:a="http://schemas.openxmlformats.org/drawingml/2006/main" noGrp="1"/>
          </p:cNvSpPr>
          <p:nvPr/>
        </p:nvSpPr>
        <p:spPr>
          <a:xfrm xmlns:a="http://schemas.openxmlformats.org/drawingml/2006/main">
            <a:off x="828675" y="59626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B2E23"/>
                </a:solidFill>
                <a:latin typeface="Georgia"/>
                <a:ea typeface="Georgia"/>
                <a:cs typeface="Georgia"/>
              </a:defRPr>
            </a:defPPr>
            <a:lvl1pPr>
              <a:defRPr sz="2325" b="0">
                <a:solidFill>
                  <a:srgbClr val="4B2E23"/>
                </a:solidFill>
                <a:latin typeface="Georgia"/>
                <a:ea typeface="Georgia"/>
                <a:cs typeface="Georgia"/>
              </a:defRPr>
            </a:lvl1pPr>
            <a:lvl2pPr>
              <a:defRPr sz="2325" b="0">
                <a:solidFill>
                  <a:srgbClr val="4B2E23"/>
                </a:solidFill>
                <a:latin typeface="Georgia"/>
                <a:ea typeface="Georgia"/>
                <a:cs typeface="Georgia"/>
              </a:defRPr>
            </a:lvl2pPr>
            <a:lvl3pPr>
              <a:defRPr sz="2325" b="0">
                <a:solidFill>
                  <a:srgbClr val="4B2E23"/>
                </a:solidFill>
                <a:latin typeface="Georgia"/>
                <a:ea typeface="Georgia"/>
                <a:cs typeface="Georgia"/>
              </a:defRPr>
            </a:lvl3pPr>
            <a:lvl4pPr>
              <a:defRPr sz="2325" b="0">
                <a:solidFill>
                  <a:srgbClr val="4B2E23"/>
                </a:solidFill>
                <a:latin typeface="Georgia"/>
                <a:ea typeface="Georgia"/>
                <a:cs typeface="Georgia"/>
              </a:defRPr>
            </a:lvl4pPr>
            <a:lvl5pPr>
              <a:defRPr sz="2325" b="0">
                <a:solidFill>
                  <a:srgbClr val="4B2E23"/>
                </a:solidFill>
                <a:latin typeface="Georgia"/>
                <a:ea typeface="Georgia"/>
                <a:cs typeface="Georgia"/>
              </a:defRPr>
            </a:lvl5pPr>
            <a:lvl6pPr>
              <a:defRPr sz="2325" b="0">
                <a:solidFill>
                  <a:srgbClr val="4B2E23"/>
                </a:solidFill>
                <a:latin typeface="Georgia"/>
                <a:ea typeface="Georgia"/>
                <a:cs typeface="Georgia"/>
              </a:defRPr>
            </a:lvl6pPr>
            <a:lvl7pPr>
              <a:defRPr sz="2325" b="0">
                <a:solidFill>
                  <a:srgbClr val="4B2E23"/>
                </a:solidFill>
                <a:latin typeface="Georgia"/>
                <a:ea typeface="Georgia"/>
                <a:cs typeface="Georgia"/>
              </a:defRPr>
            </a:lvl7pPr>
            <a:lvl8pPr>
              <a:defRPr sz="2325" b="0">
                <a:solidFill>
                  <a:srgbClr val="4B2E23"/>
                </a:solidFill>
                <a:latin typeface="Georgia"/>
                <a:ea typeface="Georgia"/>
                <a:cs typeface="Georgia"/>
              </a:defRPr>
            </a:lvl8pPr>
            <a:lvl9pPr>
              <a:defRPr sz="2325" b="0">
                <a:solidFill>
                  <a:srgbClr val="4B2E23"/>
                </a:solidFill>
                <a:latin typeface="Georgia"/>
                <a:ea typeface="Georgia"/>
                <a:cs typeface="Georgia"/>
              </a:defRPr>
            </a:lvl9pPr>
          </a:lstStyle>
          <a:p xmlns:a="http://schemas.openxmlformats.org/drawingml/2006/main">
            <a:pPr>
              <a:defRPr sz="2325" b="0">
                <a:solidFill>
                  <a:srgbClr val="4B2E23"/>
                </a:solidFill>
                <a:latin typeface="Georgia"/>
                <a:ea typeface="Georgia"/>
                <a:cs typeface="Georgia"/>
              </a:defRPr>
            </a:pPr>
            <a:r>
              <a:rPr sz="2325" b="0">
                <a:solidFill>
                  <a:srgbClr val="4B2E23"/>
                </a:solidFill>
                <a:latin typeface="Georgia"/>
                <a:ea typeface="Georgia"/>
                <a:cs typeface="Georgia"/>
              </a:rPr>
              <a:t>8  Learn</a:t>
            </a:r>
          </a:p>
        </p:txBody>
      </p:sp>
      <p:sp>
        <p:nvSpPr>
          <p:cNvPr id="41" name="">
            <a:extLst xmlns:a="http://schemas.openxmlformats.org/drawingml/2006/main">
              <a:ext uri="{FF2B5EF4-FFF2-40B4-BE49-F238E27FC236}">
                <a16:creationId xmlns:a16="http://schemas.microsoft.com/office/drawing/2014/main" id="{5D06AA27-B5A5-4732-80D1-47F0D0B29222}"/>
              </a:ext>
            </a:extLst>
          </p:cNvPr>
          <p:cNvSpPr>
            <a:spLocks xmlns:a="http://schemas.openxmlformats.org/drawingml/2006/main" noGrp="1"/>
          </p:cNvSpPr>
          <p:nvPr/>
        </p:nvSpPr>
        <p:spPr>
          <a:xfrm xmlns:a="http://schemas.openxmlformats.org/drawingml/2006/main">
            <a:off x="828675" y="64674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78468"/>
                </a:solidFill>
                <a:latin typeface="Avenir Next"/>
                <a:ea typeface="Avenir Next"/>
                <a:cs typeface="Avenir Next"/>
              </a:defRPr>
            </a:defPPr>
            <a:lvl1pPr>
              <a:defRPr sz="1725" b="0">
                <a:solidFill>
                  <a:srgbClr val="978468"/>
                </a:solidFill>
                <a:latin typeface="Avenir Next"/>
                <a:ea typeface="Avenir Next"/>
                <a:cs typeface="Avenir Next"/>
              </a:defRPr>
            </a:lvl1pPr>
            <a:lvl2pPr>
              <a:defRPr sz="1725" b="0">
                <a:solidFill>
                  <a:srgbClr val="978468"/>
                </a:solidFill>
                <a:latin typeface="Avenir Next"/>
                <a:ea typeface="Avenir Next"/>
                <a:cs typeface="Avenir Next"/>
              </a:defRPr>
            </a:lvl2pPr>
            <a:lvl3pPr>
              <a:defRPr sz="1725" b="0">
                <a:solidFill>
                  <a:srgbClr val="978468"/>
                </a:solidFill>
                <a:latin typeface="Avenir Next"/>
                <a:ea typeface="Avenir Next"/>
                <a:cs typeface="Avenir Next"/>
              </a:defRPr>
            </a:lvl3pPr>
            <a:lvl4pPr>
              <a:defRPr sz="1725" b="0">
                <a:solidFill>
                  <a:srgbClr val="978468"/>
                </a:solidFill>
                <a:latin typeface="Avenir Next"/>
                <a:ea typeface="Avenir Next"/>
                <a:cs typeface="Avenir Next"/>
              </a:defRPr>
            </a:lvl4pPr>
            <a:lvl5pPr>
              <a:defRPr sz="1725" b="0">
                <a:solidFill>
                  <a:srgbClr val="978468"/>
                </a:solidFill>
                <a:latin typeface="Avenir Next"/>
                <a:ea typeface="Avenir Next"/>
                <a:cs typeface="Avenir Next"/>
              </a:defRPr>
            </a:lvl5pPr>
            <a:lvl6pPr>
              <a:defRPr sz="1725" b="0">
                <a:solidFill>
                  <a:srgbClr val="978468"/>
                </a:solidFill>
                <a:latin typeface="Avenir Next"/>
                <a:ea typeface="Avenir Next"/>
                <a:cs typeface="Avenir Next"/>
              </a:defRPr>
            </a:lvl6pPr>
            <a:lvl7pPr>
              <a:defRPr sz="1725" b="0">
                <a:solidFill>
                  <a:srgbClr val="978468"/>
                </a:solidFill>
                <a:latin typeface="Avenir Next"/>
                <a:ea typeface="Avenir Next"/>
                <a:cs typeface="Avenir Next"/>
              </a:defRPr>
            </a:lvl7pPr>
            <a:lvl8pPr>
              <a:defRPr sz="1725" b="0">
                <a:solidFill>
                  <a:srgbClr val="978468"/>
                </a:solidFill>
                <a:latin typeface="Avenir Next"/>
                <a:ea typeface="Avenir Next"/>
                <a:cs typeface="Avenir Next"/>
              </a:defRPr>
            </a:lvl8pPr>
            <a:lvl9pPr>
              <a:defRPr sz="1725" b="0">
                <a:solidFill>
                  <a:srgbClr val="978468"/>
                </a:solidFill>
                <a:latin typeface="Avenir Next"/>
                <a:ea typeface="Avenir Next"/>
                <a:cs typeface="Avenir Next"/>
              </a:defRPr>
            </a:lvl9pPr>
          </a:lstStyle>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Uber + OpenAI</a:t>
            </a:r>
          </a:p>
          <a:p xmlns:a="http://schemas.openxmlformats.org/drawingml/2006/main">
            <a:pPr>
              <a:defRPr sz="1725" b="0">
                <a:solidFill>
                  <a:srgbClr val="978468"/>
                </a:solidFill>
                <a:latin typeface="Avenir Next"/>
                <a:ea typeface="Avenir Next"/>
                <a:cs typeface="Avenir Next"/>
              </a:defRPr>
            </a:pPr>
            <a:r>
              <a:rPr sz="1725" b="0">
                <a:solidFill>
                  <a:srgbClr val="978468"/>
                </a:solidFill>
                <a:latin typeface="Avenir Next"/>
                <a:ea typeface="Avenir Next"/>
                <a:cs typeface="Avenir Next"/>
              </a:rPr>
              <a:t>Anthropic incident evals</a:t>
            </a:r>
          </a:p>
        </p:txBody>
      </p:sp>
      <p:sp>
        <p:nvSpPr>
          <p:cNvPr id="42" name="">
            <a:extLst xmlns:a="http://schemas.openxmlformats.org/drawingml/2006/main">
              <a:ext uri="{FF2B5EF4-FFF2-40B4-BE49-F238E27FC236}">
                <a16:creationId xmlns:a16="http://schemas.microsoft.com/office/drawing/2014/main" id="{2D6C9A9F-0FED-41C2-905B-47D8B303B20F}"/>
              </a:ext>
            </a:extLst>
          </p:cNvPr>
          <p:cNvSpPr>
            <a:spLocks xmlns:a="http://schemas.openxmlformats.org/drawingml/2006/main" noGrp="1"/>
          </p:cNvSpPr>
          <p:nvPr/>
        </p:nvSpPr>
        <p:spPr>
          <a:xfrm xmlns:a="http://schemas.openxmlformats.org/drawingml/2006/main">
            <a:off x="828675" y="70675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B2E23"/>
                </a:solidFill>
                <a:latin typeface="Avenir Next"/>
                <a:ea typeface="Avenir Next"/>
                <a:cs typeface="Avenir Next"/>
              </a:defRPr>
            </a:defPPr>
            <a:lvl1pPr>
              <a:defRPr sz="1575" b="0">
                <a:solidFill>
                  <a:srgbClr val="4B2E23"/>
                </a:solidFill>
                <a:latin typeface="Avenir Next"/>
                <a:ea typeface="Avenir Next"/>
                <a:cs typeface="Avenir Next"/>
              </a:defRPr>
            </a:lvl1pPr>
            <a:lvl2pPr>
              <a:defRPr sz="1575" b="0">
                <a:solidFill>
                  <a:srgbClr val="4B2E23"/>
                </a:solidFill>
                <a:latin typeface="Avenir Next"/>
                <a:ea typeface="Avenir Next"/>
                <a:cs typeface="Avenir Next"/>
              </a:defRPr>
            </a:lvl2pPr>
            <a:lvl3pPr>
              <a:defRPr sz="1575" b="0">
                <a:solidFill>
                  <a:srgbClr val="4B2E23"/>
                </a:solidFill>
                <a:latin typeface="Avenir Next"/>
                <a:ea typeface="Avenir Next"/>
                <a:cs typeface="Avenir Next"/>
              </a:defRPr>
            </a:lvl3pPr>
            <a:lvl4pPr>
              <a:defRPr sz="1575" b="0">
                <a:solidFill>
                  <a:srgbClr val="4B2E23"/>
                </a:solidFill>
                <a:latin typeface="Avenir Next"/>
                <a:ea typeface="Avenir Next"/>
                <a:cs typeface="Avenir Next"/>
              </a:defRPr>
            </a:lvl4pPr>
            <a:lvl5pPr>
              <a:defRPr sz="1575" b="0">
                <a:solidFill>
                  <a:srgbClr val="4B2E23"/>
                </a:solidFill>
                <a:latin typeface="Avenir Next"/>
                <a:ea typeface="Avenir Next"/>
                <a:cs typeface="Avenir Next"/>
              </a:defRPr>
            </a:lvl5pPr>
            <a:lvl6pPr>
              <a:defRPr sz="1575" b="0">
                <a:solidFill>
                  <a:srgbClr val="4B2E23"/>
                </a:solidFill>
                <a:latin typeface="Avenir Next"/>
                <a:ea typeface="Avenir Next"/>
                <a:cs typeface="Avenir Next"/>
              </a:defRPr>
            </a:lvl6pPr>
            <a:lvl7pPr>
              <a:defRPr sz="1575" b="0">
                <a:solidFill>
                  <a:srgbClr val="4B2E23"/>
                </a:solidFill>
                <a:latin typeface="Avenir Next"/>
                <a:ea typeface="Avenir Next"/>
                <a:cs typeface="Avenir Next"/>
              </a:defRPr>
            </a:lvl7pPr>
            <a:lvl8pPr>
              <a:defRPr sz="1575" b="0">
                <a:solidFill>
                  <a:srgbClr val="4B2E23"/>
                </a:solidFill>
                <a:latin typeface="Avenir Next"/>
                <a:ea typeface="Avenir Next"/>
                <a:cs typeface="Avenir Next"/>
              </a:defRPr>
            </a:lvl8pPr>
            <a:lvl9pPr>
              <a:defRPr sz="1575" b="0">
                <a:solidFill>
                  <a:srgbClr val="4B2E23"/>
                </a:solidFill>
                <a:latin typeface="Avenir Next"/>
                <a:ea typeface="Avenir Next"/>
                <a:cs typeface="Avenir Next"/>
              </a:defRPr>
            </a:lvl9pPr>
          </a:lstStyle>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Govern feedback, rules</a:t>
            </a:r>
          </a:p>
          <a:p xmlns:a="http://schemas.openxmlformats.org/drawingml/2006/main">
            <a:pPr>
              <a:defRPr sz="1575" b="0">
                <a:solidFill>
                  <a:srgbClr val="4B2E23"/>
                </a:solidFill>
                <a:latin typeface="Avenir Next"/>
                <a:ea typeface="Avenir Next"/>
                <a:cs typeface="Avenir Next"/>
              </a:defRPr>
            </a:pPr>
            <a:r>
              <a:rPr sz="1575" b="0">
                <a:solidFill>
                  <a:srgbClr val="4B2E23"/>
                </a:solidFill>
                <a:latin typeface="Avenir Next"/>
                <a:ea typeface="Avenir Next"/>
                <a:cs typeface="Avenir Next"/>
              </a:rPr>
              <a:t>and escaped-defect learning</a:t>
            </a:r>
          </a:p>
        </p:txBody>
      </p:sp>
      <p:sp>
        <p:nvSpPr>
          <p:cNvPr id="50" name="">
            <a:extLst xmlns:a="http://schemas.openxmlformats.org/drawingml/2006/main">
              <a:ext uri="{FF2B5EF4-FFF2-40B4-BE49-F238E27FC236}">
                <a16:creationId xmlns:a16="http://schemas.microsoft.com/office/drawing/2014/main" id="{3F265505-A929-434D-9C5B-2EFAFF1CAB6F}"/>
              </a:ext>
            </a:extLst>
          </p:cNvPr>
          <p:cNvSpPr>
            <a:spLocks xmlns:a="http://schemas.openxmlformats.org/drawingml/2006/main" noGrp="1"/>
          </p:cNvSpPr>
          <p:nvPr/>
        </p:nvSpPr>
        <p:spPr>
          <a:xfrm xmlns:a="http://schemas.openxmlformats.org/drawingml/2006/main">
            <a:off x="685800" y="8096250"/>
            <a:ext cx="1381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8E5033"/>
                </a:solidFill>
                <a:latin typeface="Avenir Next"/>
                <a:ea typeface="Avenir Next"/>
                <a:cs typeface="Avenir Next"/>
              </a:defRPr>
            </a:defPPr>
            <a:lvl1pPr>
              <a:defRPr sz="2025" b="0">
                <a:solidFill>
                  <a:srgbClr val="8E5033"/>
                </a:solidFill>
                <a:latin typeface="Avenir Next"/>
                <a:ea typeface="Avenir Next"/>
                <a:cs typeface="Avenir Next"/>
              </a:defRPr>
            </a:lvl1pPr>
            <a:lvl2pPr>
              <a:defRPr sz="2025" b="0">
                <a:solidFill>
                  <a:srgbClr val="8E5033"/>
                </a:solidFill>
                <a:latin typeface="Avenir Next"/>
                <a:ea typeface="Avenir Next"/>
                <a:cs typeface="Avenir Next"/>
              </a:defRPr>
            </a:lvl2pPr>
            <a:lvl3pPr>
              <a:defRPr sz="2025" b="0">
                <a:solidFill>
                  <a:srgbClr val="8E5033"/>
                </a:solidFill>
                <a:latin typeface="Avenir Next"/>
                <a:ea typeface="Avenir Next"/>
                <a:cs typeface="Avenir Next"/>
              </a:defRPr>
            </a:lvl3pPr>
            <a:lvl4pPr>
              <a:defRPr sz="2025" b="0">
                <a:solidFill>
                  <a:srgbClr val="8E5033"/>
                </a:solidFill>
                <a:latin typeface="Avenir Next"/>
                <a:ea typeface="Avenir Next"/>
                <a:cs typeface="Avenir Next"/>
              </a:defRPr>
            </a:lvl4pPr>
            <a:lvl5pPr>
              <a:defRPr sz="2025" b="0">
                <a:solidFill>
                  <a:srgbClr val="8E5033"/>
                </a:solidFill>
                <a:latin typeface="Avenir Next"/>
                <a:ea typeface="Avenir Next"/>
                <a:cs typeface="Avenir Next"/>
              </a:defRPr>
            </a:lvl5pPr>
            <a:lvl6pPr>
              <a:defRPr sz="2025" b="0">
                <a:solidFill>
                  <a:srgbClr val="8E5033"/>
                </a:solidFill>
                <a:latin typeface="Avenir Next"/>
                <a:ea typeface="Avenir Next"/>
                <a:cs typeface="Avenir Next"/>
              </a:defRPr>
            </a:lvl6pPr>
            <a:lvl7pPr>
              <a:defRPr sz="2025" b="0">
                <a:solidFill>
                  <a:srgbClr val="8E5033"/>
                </a:solidFill>
                <a:latin typeface="Avenir Next"/>
                <a:ea typeface="Avenir Next"/>
                <a:cs typeface="Avenir Next"/>
              </a:defRPr>
            </a:lvl7pPr>
            <a:lvl8pPr>
              <a:defRPr sz="2025" b="0">
                <a:solidFill>
                  <a:srgbClr val="8E5033"/>
                </a:solidFill>
                <a:latin typeface="Avenir Next"/>
                <a:ea typeface="Avenir Next"/>
                <a:cs typeface="Avenir Next"/>
              </a:defRPr>
            </a:lvl8pPr>
            <a:lvl9pPr>
              <a:defRPr sz="2025" b="0">
                <a:solidFill>
                  <a:srgbClr val="8E5033"/>
                </a:solidFill>
                <a:latin typeface="Avenir Next"/>
                <a:ea typeface="Avenir Next"/>
                <a:cs typeface="Avenir Next"/>
              </a:defRPr>
            </a:lvl9pPr>
          </a:lstStyle>
          <a:p xmlns:a="http://schemas.openxmlformats.org/drawingml/2006/main">
            <a:pPr>
              <a:defRPr sz="2025" b="0">
                <a:solidFill>
                  <a:srgbClr val="8E5033"/>
                </a:solidFill>
                <a:latin typeface="Avenir Next"/>
                <a:ea typeface="Avenir Next"/>
                <a:cs typeface="Avenir Next"/>
              </a:defRPr>
            </a:pPr>
            <a:r>
              <a:rPr sz="2025" b="0">
                <a:solidFill>
                  <a:srgbClr val="8E5033"/>
                </a:solidFill>
                <a:latin typeface="Avenir Next"/>
                <a:ea typeface="Avenir Next"/>
                <a:cs typeface="Avenir Next"/>
              </a:rPr>
              <a:t>Risk determines the investigation. Refute weak claims. Bound repair loops. Feed release outcomes into learning.</a:t>
            </a:r>
          </a:p>
        </p:txBody>
      </p:sp>
      <p:sp>
        <p:nvSpPr>
          <p:cNvPr id="51" name="">
            <a:extLst xmlns:a="http://schemas.openxmlformats.org/drawingml/2006/main">
              <a:ext uri="{FF2B5EF4-FFF2-40B4-BE49-F238E27FC236}">
                <a16:creationId xmlns:a16="http://schemas.microsoft.com/office/drawing/2014/main" id="{8CB9AA5D-8866-4EFB-B523-3083670E1076}"/>
              </a:ext>
            </a:extLst>
          </p:cNvPr>
          <p:cNvSpPr>
            <a:spLocks xmlns:a="http://schemas.openxmlformats.org/drawingml/2006/main" noGrp="1"/>
          </p:cNvSpPr>
          <p:nvPr/>
        </p:nvSpPr>
        <p:spPr>
          <a:xfrm xmlns:a="http://schemas.openxmlformats.org/drawingml/2006/main">
            <a:off x="685800" y="8858250"/>
            <a:ext cx="13858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B2E23"/>
                </a:solidFill>
                <a:latin typeface="Avenir Next"/>
                <a:ea typeface="Avenir Next"/>
                <a:cs typeface="Avenir Next"/>
              </a:defRPr>
            </a:defPPr>
            <a:lvl1pPr>
              <a:defRPr sz="1500" b="0">
                <a:solidFill>
                  <a:srgbClr val="4B2E23"/>
                </a:solidFill>
                <a:latin typeface="Avenir Next"/>
                <a:ea typeface="Avenir Next"/>
                <a:cs typeface="Avenir Next"/>
              </a:defRPr>
            </a:lvl1pPr>
            <a:lvl2pPr>
              <a:defRPr sz="1500" b="0">
                <a:solidFill>
                  <a:srgbClr val="4B2E23"/>
                </a:solidFill>
                <a:latin typeface="Avenir Next"/>
                <a:ea typeface="Avenir Next"/>
                <a:cs typeface="Avenir Next"/>
              </a:defRPr>
            </a:lvl2pPr>
            <a:lvl3pPr>
              <a:defRPr sz="1500" b="0">
                <a:solidFill>
                  <a:srgbClr val="4B2E23"/>
                </a:solidFill>
                <a:latin typeface="Avenir Next"/>
                <a:ea typeface="Avenir Next"/>
                <a:cs typeface="Avenir Next"/>
              </a:defRPr>
            </a:lvl3pPr>
            <a:lvl4pPr>
              <a:defRPr sz="1500" b="0">
                <a:solidFill>
                  <a:srgbClr val="4B2E23"/>
                </a:solidFill>
                <a:latin typeface="Avenir Next"/>
                <a:ea typeface="Avenir Next"/>
                <a:cs typeface="Avenir Next"/>
              </a:defRPr>
            </a:lvl4pPr>
            <a:lvl5pPr>
              <a:defRPr sz="1500" b="0">
                <a:solidFill>
                  <a:srgbClr val="4B2E23"/>
                </a:solidFill>
                <a:latin typeface="Avenir Next"/>
                <a:ea typeface="Avenir Next"/>
                <a:cs typeface="Avenir Next"/>
              </a:defRPr>
            </a:lvl5pPr>
            <a:lvl6pPr>
              <a:defRPr sz="1500" b="0">
                <a:solidFill>
                  <a:srgbClr val="4B2E23"/>
                </a:solidFill>
                <a:latin typeface="Avenir Next"/>
                <a:ea typeface="Avenir Next"/>
                <a:cs typeface="Avenir Next"/>
              </a:defRPr>
            </a:lvl6pPr>
            <a:lvl7pPr>
              <a:defRPr sz="1500" b="0">
                <a:solidFill>
                  <a:srgbClr val="4B2E23"/>
                </a:solidFill>
                <a:latin typeface="Avenir Next"/>
                <a:ea typeface="Avenir Next"/>
                <a:cs typeface="Avenir Next"/>
              </a:defRPr>
            </a:lvl7pPr>
            <a:lvl8pPr>
              <a:defRPr sz="1500" b="0">
                <a:solidFill>
                  <a:srgbClr val="4B2E23"/>
                </a:solidFill>
                <a:latin typeface="Avenir Next"/>
                <a:ea typeface="Avenir Next"/>
                <a:cs typeface="Avenir Next"/>
              </a:defRPr>
            </a:lvl8pPr>
            <a:lvl9pPr>
              <a:defRPr sz="1500" b="0">
                <a:solidFill>
                  <a:srgbClr val="4B2E23"/>
                </a:solidFill>
                <a:latin typeface="Avenir Next"/>
                <a:ea typeface="Avenir Next"/>
                <a:cs typeface="Avenir Next"/>
              </a:defRPr>
            </a:lvl9pPr>
          </a:lstStyle>
          <a:p xmlns:a="http://schemas.openxmlformats.org/drawingml/2006/main">
            <a:pPr>
              <a:defRPr sz="1500" b="0">
                <a:solidFill>
                  <a:srgbClr val="4B2E23"/>
                </a:solidFill>
                <a:latin typeface="Avenir Next"/>
                <a:ea typeface="Avenir Next"/>
                <a:cs typeface="Avenir Next"/>
              </a:defRPr>
            </a:pPr>
            <a:r>
              <a:rPr sz="1500" b="0">
                <a:solidFill>
                  <a:srgbClr val="4B2E23"/>
                </a:solidFill>
                <a:latin typeface="Avenir Next"/>
                <a:ea typeface="Avenir Next"/>
                <a:cs typeface="Avenir Next"/>
              </a:rPr>
              <a:t>Selected policy: human approval of each exact tested push; no automatic merge. Ideas are eligible whether code is public or private.</a:t>
            </a:r>
          </a:p>
        </p:txBody>
      </p:sp>
    </p:spTree>
    <p:extLst>
      <p:ext uri="{BB962C8B-B14F-4D97-AF65-F5344CB8AC3E}">
        <p14:creationId xmlns:p14="http://schemas.microsoft.com/office/powerpoint/2010/main" val="886863121"/>
      </p:ext>
    </p:extLst>
  </p:cSld>
</p:sld>
</file>

<file path=ppt/slides/slide2.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E30158-F09B-404E-9FC0-30B670F77A34}"/>
              </a:ext>
            </a:extLst>
          </p:cNvPr>
          <p:cNvSpPr>
            <a:spLocks xmlns:a="http://schemas.openxmlformats.org/drawingml/2006/main" noGrp="1"/>
          </p:cNvSpPr>
          <p:nvPr/>
        </p:nvSpPr>
        <p:spPr>
          <a:xfrm xmlns:a="http://schemas.openxmlformats.org/drawingml/2006/main">
            <a:off x="628650" y="3810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4B2E23"/>
                </a:solidFill>
                <a:latin typeface="Georgia"/>
                <a:ea typeface="Georgia"/>
                <a:cs typeface="Georgia"/>
              </a:defRPr>
            </a:defPPr>
            <a:lvl1pPr>
              <a:defRPr sz="3825" b="0">
                <a:solidFill>
                  <a:srgbClr val="4B2E23"/>
                </a:solidFill>
                <a:latin typeface="Georgia"/>
                <a:ea typeface="Georgia"/>
                <a:cs typeface="Georgia"/>
              </a:defRPr>
            </a:lvl1pPr>
            <a:lvl2pPr>
              <a:defRPr sz="3825" b="0">
                <a:solidFill>
                  <a:srgbClr val="4B2E23"/>
                </a:solidFill>
                <a:latin typeface="Georgia"/>
                <a:ea typeface="Georgia"/>
                <a:cs typeface="Georgia"/>
              </a:defRPr>
            </a:lvl2pPr>
            <a:lvl3pPr>
              <a:defRPr sz="3825" b="0">
                <a:solidFill>
                  <a:srgbClr val="4B2E23"/>
                </a:solidFill>
                <a:latin typeface="Georgia"/>
                <a:ea typeface="Georgia"/>
                <a:cs typeface="Georgia"/>
              </a:defRPr>
            </a:lvl3pPr>
            <a:lvl4pPr>
              <a:defRPr sz="3825" b="0">
                <a:solidFill>
                  <a:srgbClr val="4B2E23"/>
                </a:solidFill>
                <a:latin typeface="Georgia"/>
                <a:ea typeface="Georgia"/>
                <a:cs typeface="Georgia"/>
              </a:defRPr>
            </a:lvl4pPr>
            <a:lvl5pPr>
              <a:defRPr sz="3825" b="0">
                <a:solidFill>
                  <a:srgbClr val="4B2E23"/>
                </a:solidFill>
                <a:latin typeface="Georgia"/>
                <a:ea typeface="Georgia"/>
                <a:cs typeface="Georgia"/>
              </a:defRPr>
            </a:lvl5pPr>
            <a:lvl6pPr>
              <a:defRPr sz="3825" b="0">
                <a:solidFill>
                  <a:srgbClr val="4B2E23"/>
                </a:solidFill>
                <a:latin typeface="Georgia"/>
                <a:ea typeface="Georgia"/>
                <a:cs typeface="Georgia"/>
              </a:defRPr>
            </a:lvl6pPr>
            <a:lvl7pPr>
              <a:defRPr sz="3825" b="0">
                <a:solidFill>
                  <a:srgbClr val="4B2E23"/>
                </a:solidFill>
                <a:latin typeface="Georgia"/>
                <a:ea typeface="Georgia"/>
                <a:cs typeface="Georgia"/>
              </a:defRPr>
            </a:lvl7pPr>
            <a:lvl8pPr>
              <a:defRPr sz="3825" b="0">
                <a:solidFill>
                  <a:srgbClr val="4B2E23"/>
                </a:solidFill>
                <a:latin typeface="Georgia"/>
                <a:ea typeface="Georgia"/>
                <a:cs typeface="Georgia"/>
              </a:defRPr>
            </a:lvl8pPr>
            <a:lvl9pPr>
              <a:defRPr sz="3825" b="0">
                <a:solidFill>
                  <a:srgbClr val="4B2E23"/>
                </a:solidFill>
                <a:latin typeface="Georgia"/>
                <a:ea typeface="Georgia"/>
                <a:cs typeface="Georgia"/>
              </a:defRPr>
            </a:lvl9pPr>
          </a:lstStyle>
          <a:p xmlns:a="http://schemas.openxmlformats.org/drawingml/2006/main">
            <a:pPr>
              <a:defRPr sz="3825" b="0">
                <a:solidFill>
                  <a:srgbClr val="4B2E23"/>
                </a:solidFill>
                <a:latin typeface="Georgia"/>
                <a:ea typeface="Georgia"/>
                <a:cs typeface="Georgia"/>
              </a:defRPr>
            </a:pPr>
            <a:r>
              <a:rPr sz="3825" b="0">
                <a:solidFill>
                  <a:srgbClr val="4B2E23"/>
                </a:solidFill>
                <a:latin typeface="Georgia"/>
                <a:ea typeface="Georgia"/>
                <a:cs typeface="Georgia"/>
              </a:rPr>
              <a:t>Why these pieces and where the authority lives</a:t>
            </a:r>
          </a:p>
        </p:txBody>
      </p:sp>
      <p:graphicFrame>
        <p:nvGraphicFramePr>
          <p:cNvPr id="2" name="">
            <a:extLst xmlns:a="http://schemas.openxmlformats.org/drawingml/2006/main">
              <a:ext uri="{FF2B5EF4-FFF2-40B4-BE49-F238E27FC236}">
                <a16:creationId xmlns:a16="http://schemas.microsoft.com/office/drawing/2014/main" id="{8755F035-5414-4E57-B9FB-839FE4D72774}"/>
              </a:ext>
            </a:extLst>
          </p:cNvPr>
          <p:cNvGraphicFramePr/>
          <p:nvPr/>
        </p:nvGraphicFramePr>
        <p:xfrm>
          <a:off xmlns:a="http://schemas.openxmlformats.org/drawingml/2006/main" x="666750" y="1809750"/>
          <a:ext xmlns:a="http://schemas.openxmlformats.org/drawingml/2006/main" cx="13906500" cy="5391150"/>
        </p:xfrm>
        <a:graphic xmlns:a="http://schemas.openxmlformats.org/drawingml/2006/main">
          <a:graphicData uri="http://schemas.openxmlformats.org/drawingml/2006/table">
            <a:tbl>
              <a:tblPr/>
              <a:tblGrid>
                <a:gridCol w="3429000"/>
                <a:gridCol w="3429000"/>
                <a:gridCol w="7048500"/>
              </a:tblGrid>
              <a:tr h="673894">
                <a:tc>
                  <a:txBody>
                    <a:bodyPr/>
                    <a:lstStyle/>
                    <a:p>
                      <a:r>
                        <a:rPr sz="1725" b="1">
                          <a:solidFill>
                            <a:srgbClr val="FFFFFF"/>
                          </a:solidFill>
                          <a:latin typeface="Avenir Next"/>
                          <a:ea typeface="Avenir Next"/>
                          <a:cs typeface="Avenir Next"/>
                        </a:rPr>
                        <a:t>Idea source</a:t>
                      </a:r>
                    </a:p>
                  </a:txBody>
                  <a:tcPr marL="91440" marR="91440" marT="45720" marB="45720">
                    <a:lnL w="9525">
                      <a:solidFill>
                        <a:srgbClr val="E7E1D5"/>
                      </a:solidFill>
                      <a:prstDash val="solid"/>
                    </a:lnL>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725" b="1">
                          <a:solidFill>
                            <a:srgbClr val="FFFFFF"/>
                          </a:solidFill>
                          <a:latin typeface="Avenir Next"/>
                          <a:ea typeface="Avenir Next"/>
                          <a:cs typeface="Avenir Next"/>
                        </a:rPr>
                        <a:t>Block we take</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725" b="1">
                          <a:solidFill>
                            <a:srgbClr val="FFFFFF"/>
                          </a:solidFill>
                          <a:latin typeface="Avenir Next"/>
                          <a:ea typeface="Avenir Next"/>
                          <a:cs typeface="Avenir Next"/>
                        </a:rPr>
                        <a:t>Why and what we build</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r>
              <a:tr h="673894">
                <a:tc>
                  <a:txBody>
                    <a:bodyPr/>
                    <a:lstStyle/>
                    <a:p>
                      <a:r>
                        <a:rPr sz="1725" b="0">
                          <a:solidFill>
                            <a:srgbClr val="4B2E23"/>
                          </a:solidFill>
                          <a:latin typeface="Avenir Next"/>
                          <a:ea typeface="Avenir Next"/>
                          <a:cs typeface="Avenir Next"/>
                        </a:rPr>
                        <a:t>Aviator · OpenAI</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Intent and acceptance plan</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Turn requirements into explicit claims and checks</a:t>
                      </a:r>
                    </a:p>
                  </a:txBody>
                  <a:tcPr marL="91440" marR="91440" marT="45720" marB="45720">
                    <a:lnR w="9525">
                      <a:solidFill>
                        <a:srgbClr val="E7E1D5"/>
                      </a:solidFill>
                      <a:prstDash val="solid"/>
                    </a:lnR>
                    <a:lnB w="9525">
                      <a:solidFill>
                        <a:srgbClr val="E7E1D5"/>
                      </a:solidFill>
                      <a:prstDash val="solid"/>
                    </a:lnB>
                    <a:solidFill>
                      <a:srgbClr val="F4EFE6"/>
                    </a:solidFill>
                  </a:tcPr>
                </a:tc>
              </a:tr>
              <a:tr h="673894">
                <a:tc>
                  <a:txBody>
                    <a:bodyPr/>
                    <a:lstStyle/>
                    <a:p>
                      <a:r>
                        <a:rPr sz="1725" b="0">
                          <a:solidFill>
                            <a:srgbClr val="4B2E23"/>
                          </a:solidFill>
                          <a:latin typeface="Avenir Next"/>
                          <a:ea typeface="Avenir Next"/>
                          <a:cs typeface="Avenir Next"/>
                        </a:rPr>
                        <a:t>Qodo · Greptile · Sourcegraph</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725" b="0">
                          <a:solidFill>
                            <a:srgbClr val="4B2E23"/>
                          </a:solidFill>
                          <a:latin typeface="Avenir Next"/>
                          <a:ea typeface="Avenir Next"/>
                          <a:cs typeface="Avenir Next"/>
                        </a:rPr>
                        <a:t>Versioned context and impact</a:t>
                      </a:r>
                    </a:p>
                  </a:txBody>
                  <a:tcPr marL="91440" marR="91440" marT="45720" marB="45720">
                    <a:lnR w="9525">
                      <a:solidFill>
                        <a:srgbClr val="E7E1D5"/>
                      </a:solidFill>
                      <a:prstDash val="solid"/>
                    </a:lnR>
                    <a:lnB w="9525">
                      <a:solidFill>
                        <a:srgbClr val="E7E1D5"/>
                      </a:solidFill>
                      <a:prstDash val="solid"/>
                    </a:lnB>
                    <a:solidFill>
                      <a:srgbClr val="E7E1D5"/>
                    </a:solidFill>
                  </a:tcPr>
                </a:tc>
                <a:tc>
                  <a:txBody>
                    <a:bodyPr/>
                    <a:lstStyle/>
                    <a:p>
                      <a:r>
                        <a:rPr sz="1725" b="0">
                          <a:solidFill>
                            <a:srgbClr val="4B2E23"/>
                          </a:solidFill>
                          <a:latin typeface="Avenir Next"/>
                          <a:ea typeface="Avenir Next"/>
                          <a:cs typeface="Avenir Next"/>
                        </a:rPr>
                        <a:t>Fetch relevant multi-repo facts with provenance</a:t>
                      </a:r>
                    </a:p>
                  </a:txBody>
                  <a:tcPr marL="91440" marR="91440" marT="45720" marB="45720">
                    <a:lnR w="9525">
                      <a:solidFill>
                        <a:srgbClr val="E7E1D5"/>
                      </a:solidFill>
                      <a:prstDash val="solid"/>
                    </a:lnR>
                    <a:lnB w="9525">
                      <a:solidFill>
                        <a:srgbClr val="E7E1D5"/>
                      </a:solidFill>
                      <a:prstDash val="solid"/>
                    </a:lnB>
                    <a:solidFill>
                      <a:srgbClr val="E7E1D5"/>
                    </a:solidFill>
                  </a:tcPr>
                </a:tc>
              </a:tr>
              <a:tr h="673894">
                <a:tc>
                  <a:txBody>
                    <a:bodyPr/>
                    <a:lstStyle/>
                    <a:p>
                      <a:r>
                        <a:rPr sz="1725" b="0">
                          <a:solidFill>
                            <a:srgbClr val="4B2E23"/>
                          </a:solidFill>
                          <a:latin typeface="Avenir Next"/>
                          <a:ea typeface="Avenir Next"/>
                          <a:cs typeface="Avenir Next"/>
                        </a:rPr>
                        <a:t>Uber · Claude Code Review</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Specialist finding + refutation</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Suppress weak, duplicate and low-value findings</a:t>
                      </a:r>
                    </a:p>
                  </a:txBody>
                  <a:tcPr marL="91440" marR="91440" marT="45720" marB="45720">
                    <a:lnR w="9525">
                      <a:solidFill>
                        <a:srgbClr val="E7E1D5"/>
                      </a:solidFill>
                      <a:prstDash val="solid"/>
                    </a:lnR>
                    <a:lnB w="9525">
                      <a:solidFill>
                        <a:srgbClr val="E7E1D5"/>
                      </a:solidFill>
                      <a:prstDash val="solid"/>
                    </a:lnB>
                    <a:solidFill>
                      <a:srgbClr val="F4EFE6"/>
                    </a:solidFill>
                  </a:tcPr>
                </a:tc>
              </a:tr>
              <a:tr h="673894">
                <a:tc>
                  <a:txBody>
                    <a:bodyPr/>
                    <a:lstStyle/>
                    <a:p>
                      <a:r>
                        <a:rPr sz="1725" b="0">
                          <a:solidFill>
                            <a:srgbClr val="4B2E23"/>
                          </a:solidFill>
                          <a:latin typeface="Avenir Next"/>
                          <a:ea typeface="Avenir Next"/>
                          <a:cs typeface="Avenir Next"/>
                        </a:rPr>
                        <a:t>Google · Greptile TREX · Meta</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725" b="0">
                          <a:solidFill>
                            <a:srgbClr val="4B2E23"/>
                          </a:solidFill>
                          <a:latin typeface="Avenir Next"/>
                          <a:ea typeface="Avenir Next"/>
                          <a:cs typeface="Avenir Next"/>
                        </a:rPr>
                        <a:t>Runtime reproduction</a:t>
                      </a:r>
                    </a:p>
                  </a:txBody>
                  <a:tcPr marL="91440" marR="91440" marT="45720" marB="45720">
                    <a:lnR w="9525">
                      <a:solidFill>
                        <a:srgbClr val="E7E1D5"/>
                      </a:solidFill>
                      <a:prstDash val="solid"/>
                    </a:lnR>
                    <a:lnB w="9525">
                      <a:solidFill>
                        <a:srgbClr val="E7E1D5"/>
                      </a:solidFill>
                      <a:prstDash val="solid"/>
                    </a:lnB>
                    <a:solidFill>
                      <a:srgbClr val="E7E1D5"/>
                    </a:solidFill>
                  </a:tcPr>
                </a:tc>
                <a:tc>
                  <a:txBody>
                    <a:bodyPr/>
                    <a:lstStyle/>
                    <a:p>
                      <a:r>
                        <a:rPr sz="1725" b="0">
                          <a:solidFill>
                            <a:srgbClr val="4B2E23"/>
                          </a:solidFill>
                          <a:latin typeface="Avenir Next"/>
                          <a:ea typeface="Avenir Next"/>
                          <a:cs typeface="Avenir Next"/>
                        </a:rPr>
                        <a:t>Test causal behavior before accepting a finding</a:t>
                      </a:r>
                    </a:p>
                  </a:txBody>
                  <a:tcPr marL="91440" marR="91440" marT="45720" marB="45720">
                    <a:lnR w="9525">
                      <a:solidFill>
                        <a:srgbClr val="E7E1D5"/>
                      </a:solidFill>
                      <a:prstDash val="solid"/>
                    </a:lnR>
                    <a:lnB w="9525">
                      <a:solidFill>
                        <a:srgbClr val="E7E1D5"/>
                      </a:solidFill>
                      <a:prstDash val="solid"/>
                    </a:lnB>
                    <a:solidFill>
                      <a:srgbClr val="E7E1D5"/>
                    </a:solidFill>
                  </a:tcPr>
                </a:tc>
              </a:tr>
              <a:tr h="673894">
                <a:tc>
                  <a:txBody>
                    <a:bodyPr/>
                    <a:lstStyle/>
                    <a:p>
                      <a:r>
                        <a:rPr sz="1725" b="0">
                          <a:solidFill>
                            <a:srgbClr val="4B2E23"/>
                          </a:solidFill>
                          <a:latin typeface="Avenir Next"/>
                          <a:ea typeface="Avenir Next"/>
                          <a:cs typeface="Avenir Next"/>
                        </a:rPr>
                        <a:t>Stripe · Meta · Google</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Bounded repair and independent checks</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Mix deterministic steps and reasoning; verify regressions</a:t>
                      </a:r>
                    </a:p>
                  </a:txBody>
                  <a:tcPr marL="91440" marR="91440" marT="45720" marB="45720">
                    <a:lnR w="9525">
                      <a:solidFill>
                        <a:srgbClr val="E7E1D5"/>
                      </a:solidFill>
                      <a:prstDash val="solid"/>
                    </a:lnR>
                    <a:lnB w="9525">
                      <a:solidFill>
                        <a:srgbClr val="E7E1D5"/>
                      </a:solidFill>
                      <a:prstDash val="solid"/>
                    </a:lnB>
                    <a:solidFill>
                      <a:srgbClr val="F4EFE6"/>
                    </a:solidFill>
                  </a:tcPr>
                </a:tc>
              </a:tr>
              <a:tr h="673894">
                <a:tc>
                  <a:txBody>
                    <a:bodyPr/>
                    <a:lstStyle/>
                    <a:p>
                      <a:r>
                        <a:rPr sz="1725" b="0">
                          <a:solidFill>
                            <a:srgbClr val="4B2E23"/>
                          </a:solidFill>
                          <a:latin typeface="Avenir Next"/>
                          <a:ea typeface="Avenir Next"/>
                          <a:cs typeface="Avenir Next"/>
                        </a:rPr>
                        <a:t>Anthropic · gh-aw · our policy</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725" b="0">
                          <a:solidFill>
                            <a:srgbClr val="4B2E23"/>
                          </a:solidFill>
                          <a:latin typeface="Avenir Next"/>
                          <a:ea typeface="Avenir Next"/>
                          <a:cs typeface="Avenir Next"/>
                        </a:rPr>
                        <a:t>Approval and publication authority</a:t>
                      </a:r>
                    </a:p>
                  </a:txBody>
                  <a:tcPr marL="91440" marR="91440" marT="45720" marB="45720">
                    <a:lnR w="9525">
                      <a:solidFill>
                        <a:srgbClr val="E7E1D5"/>
                      </a:solidFill>
                      <a:prstDash val="solid"/>
                    </a:lnR>
                    <a:lnB w="9525">
                      <a:solidFill>
                        <a:srgbClr val="E7E1D5"/>
                      </a:solidFill>
                      <a:prstDash val="solid"/>
                    </a:lnB>
                    <a:solidFill>
                      <a:srgbClr val="E7E1D5"/>
                    </a:solidFill>
                  </a:tcPr>
                </a:tc>
                <a:tc>
                  <a:txBody>
                    <a:bodyPr/>
                    <a:lstStyle/>
                    <a:p>
                      <a:r>
                        <a:rPr sz="1725" b="0">
                          <a:solidFill>
                            <a:srgbClr val="4B2E23"/>
                          </a:solidFill>
                          <a:latin typeface="Avenir Next"/>
                          <a:ea typeface="Avenir Next"/>
                          <a:cs typeface="Avenir Next"/>
                        </a:rPr>
                        <a:t>Extend commit-bound ideas to exact pre-push authorization</a:t>
                      </a:r>
                    </a:p>
                  </a:txBody>
                  <a:tcPr marL="91440" marR="91440" marT="45720" marB="45720">
                    <a:lnR w="9525">
                      <a:solidFill>
                        <a:srgbClr val="E7E1D5"/>
                      </a:solidFill>
                      <a:prstDash val="solid"/>
                    </a:lnR>
                    <a:lnB w="9525">
                      <a:solidFill>
                        <a:srgbClr val="E7E1D5"/>
                      </a:solidFill>
                      <a:prstDash val="solid"/>
                    </a:lnB>
                    <a:solidFill>
                      <a:srgbClr val="E7E1D5"/>
                    </a:solidFill>
                  </a:tcPr>
                </a:tc>
              </a:tr>
              <a:tr h="673894">
                <a:tc>
                  <a:txBody>
                    <a:bodyPr/>
                    <a:lstStyle/>
                    <a:p>
                      <a:r>
                        <a:rPr sz="1725" b="0">
                          <a:solidFill>
                            <a:srgbClr val="4B2E23"/>
                          </a:solidFill>
                          <a:latin typeface="Avenir Next"/>
                          <a:ea typeface="Avenir Next"/>
                          <a:cs typeface="Avenir Next"/>
                        </a:rPr>
                        <a:t>Uber · OpenAI · Anthropic</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Governed learning and incident replay</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725" b="0">
                          <a:solidFill>
                            <a:srgbClr val="4B2E23"/>
                          </a:solidFill>
                          <a:latin typeface="Avenir Next"/>
                          <a:ea typeface="Avenir Next"/>
                          <a:cs typeface="Avenir Next"/>
                        </a:rPr>
                        <a:t>Improve rules and tools without silently weakening standards</a:t>
                      </a:r>
                    </a:p>
                  </a:txBody>
                  <a:tcPr marL="91440" marR="91440" marT="45720" marB="45720">
                    <a:lnR w="9525">
                      <a:solidFill>
                        <a:srgbClr val="E7E1D5"/>
                      </a:solidFill>
                      <a:prstDash val="solid"/>
                    </a:lnR>
                    <a:lnB w="9525">
                      <a:solidFill>
                        <a:srgbClr val="E7E1D5"/>
                      </a:solidFill>
                      <a:prstDash val="solid"/>
                    </a:lnB>
                    <a:solidFill>
                      <a:srgbClr val="F4EFE6"/>
                    </a:solidFill>
                  </a:tcPr>
                </a:tc>
              </a:tr>
            </a:tbl>
          </a:graphicData>
        </a:graphic>
      </p:graphicFrame>
      <p:sp>
        <p:nvSpPr>
          <p:cNvPr id="3" name="">
            <a:extLst xmlns:a="http://schemas.openxmlformats.org/drawingml/2006/main">
              <a:ext uri="{FF2B5EF4-FFF2-40B4-BE49-F238E27FC236}">
                <a16:creationId xmlns:a16="http://schemas.microsoft.com/office/drawing/2014/main" id="{ACF8027E-BF50-4114-9BF4-788E1D3074E1}"/>
              </a:ext>
            </a:extLst>
          </p:cNvPr>
          <p:cNvSpPr>
            <a:spLocks xmlns:a="http://schemas.openxmlformats.org/drawingml/2006/main" noGrp="1"/>
          </p:cNvSpPr>
          <p:nvPr/>
        </p:nvSpPr>
        <p:spPr>
          <a:xfrm xmlns:a="http://schemas.openxmlformats.org/drawingml/2006/main">
            <a:off x="704850" y="7667625"/>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8E5033"/>
                </a:solidFill>
                <a:latin typeface="Georgia"/>
                <a:ea typeface="Georgia"/>
                <a:cs typeface="Georgia"/>
              </a:defRPr>
            </a:defPPr>
            <a:lvl1pPr>
              <a:defRPr sz="2325" b="0">
                <a:solidFill>
                  <a:srgbClr val="8E5033"/>
                </a:solidFill>
                <a:latin typeface="Georgia"/>
                <a:ea typeface="Georgia"/>
                <a:cs typeface="Georgia"/>
              </a:defRPr>
            </a:lvl1pPr>
            <a:lvl2pPr>
              <a:defRPr sz="2325" b="0">
                <a:solidFill>
                  <a:srgbClr val="8E5033"/>
                </a:solidFill>
                <a:latin typeface="Georgia"/>
                <a:ea typeface="Georgia"/>
                <a:cs typeface="Georgia"/>
              </a:defRPr>
            </a:lvl2pPr>
            <a:lvl3pPr>
              <a:defRPr sz="2325" b="0">
                <a:solidFill>
                  <a:srgbClr val="8E5033"/>
                </a:solidFill>
                <a:latin typeface="Georgia"/>
                <a:ea typeface="Georgia"/>
                <a:cs typeface="Georgia"/>
              </a:defRPr>
            </a:lvl3pPr>
            <a:lvl4pPr>
              <a:defRPr sz="2325" b="0">
                <a:solidFill>
                  <a:srgbClr val="8E5033"/>
                </a:solidFill>
                <a:latin typeface="Georgia"/>
                <a:ea typeface="Georgia"/>
                <a:cs typeface="Georgia"/>
              </a:defRPr>
            </a:lvl4pPr>
            <a:lvl5pPr>
              <a:defRPr sz="2325" b="0">
                <a:solidFill>
                  <a:srgbClr val="8E5033"/>
                </a:solidFill>
                <a:latin typeface="Georgia"/>
                <a:ea typeface="Georgia"/>
                <a:cs typeface="Georgia"/>
              </a:defRPr>
            </a:lvl5pPr>
            <a:lvl6pPr>
              <a:defRPr sz="2325" b="0">
                <a:solidFill>
                  <a:srgbClr val="8E5033"/>
                </a:solidFill>
                <a:latin typeface="Georgia"/>
                <a:ea typeface="Georgia"/>
                <a:cs typeface="Georgia"/>
              </a:defRPr>
            </a:lvl6pPr>
            <a:lvl7pPr>
              <a:defRPr sz="2325" b="0">
                <a:solidFill>
                  <a:srgbClr val="8E5033"/>
                </a:solidFill>
                <a:latin typeface="Georgia"/>
                <a:ea typeface="Georgia"/>
                <a:cs typeface="Georgia"/>
              </a:defRPr>
            </a:lvl7pPr>
            <a:lvl8pPr>
              <a:defRPr sz="2325" b="0">
                <a:solidFill>
                  <a:srgbClr val="8E5033"/>
                </a:solidFill>
                <a:latin typeface="Georgia"/>
                <a:ea typeface="Georgia"/>
                <a:cs typeface="Georgia"/>
              </a:defRPr>
            </a:lvl8pPr>
            <a:lvl9pPr>
              <a:defRPr sz="2325" b="0">
                <a:solidFill>
                  <a:srgbClr val="8E5033"/>
                </a:solidFill>
                <a:latin typeface="Georgia"/>
                <a:ea typeface="Georgia"/>
                <a:cs typeface="Georgia"/>
              </a:defRPr>
            </a:lvl9pPr>
          </a:lstStyle>
          <a:p xmlns:a="http://schemas.openxmlformats.org/drawingml/2006/main">
            <a:pPr>
              <a:defRPr sz="2325" b="0">
                <a:solidFill>
                  <a:srgbClr val="8E5033"/>
                </a:solidFill>
                <a:latin typeface="Georgia"/>
                <a:ea typeface="Georgia"/>
                <a:cs typeface="Georgia"/>
              </a:defRPr>
            </a:pPr>
            <a:r>
              <a:rPr sz="2325" b="0">
                <a:solidFill>
                  <a:srgbClr val="8E5033"/>
                </a:solidFill>
                <a:latin typeface="Georgia"/>
                <a:ea typeface="Georgia"/>
                <a:cs typeface="Georgia"/>
              </a:rPr>
              <a:t>Public code is an implementation option. The target design is not limited to it.</a:t>
            </a:r>
          </a:p>
        </p:txBody>
      </p:sp>
      <p:sp>
        <p:nvSpPr>
          <p:cNvPr id="4" name="">
            <a:extLst xmlns:a="http://schemas.openxmlformats.org/drawingml/2006/main">
              <a:ext uri="{FF2B5EF4-FFF2-40B4-BE49-F238E27FC236}">
                <a16:creationId xmlns:a16="http://schemas.microsoft.com/office/drawing/2014/main" id="{4AB5001C-A51A-4DE8-96A1-F07B2491DB65}"/>
              </a:ext>
            </a:extLst>
          </p:cNvPr>
          <p:cNvSpPr>
            <a:spLocks xmlns:a="http://schemas.openxmlformats.org/drawingml/2006/main" noGrp="1"/>
          </p:cNvSpPr>
          <p:nvPr/>
        </p:nvSpPr>
        <p:spPr>
          <a:xfrm xmlns:a="http://schemas.openxmlformats.org/drawingml/2006/main">
            <a:off x="704850" y="857250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B2E23"/>
                </a:solidFill>
                <a:latin typeface="Avenir Next"/>
                <a:ea typeface="Avenir Next"/>
                <a:cs typeface="Avenir Next"/>
              </a:defRPr>
            </a:defPPr>
            <a:lvl1pPr>
              <a:defRPr sz="1950" b="0">
                <a:solidFill>
                  <a:srgbClr val="4B2E23"/>
                </a:solidFill>
                <a:latin typeface="Avenir Next"/>
                <a:ea typeface="Avenir Next"/>
                <a:cs typeface="Avenir Next"/>
              </a:defRPr>
            </a:lvl1pPr>
            <a:lvl2pPr>
              <a:defRPr sz="1950" b="0">
                <a:solidFill>
                  <a:srgbClr val="4B2E23"/>
                </a:solidFill>
                <a:latin typeface="Avenir Next"/>
                <a:ea typeface="Avenir Next"/>
                <a:cs typeface="Avenir Next"/>
              </a:defRPr>
            </a:lvl2pPr>
            <a:lvl3pPr>
              <a:defRPr sz="1950" b="0">
                <a:solidFill>
                  <a:srgbClr val="4B2E23"/>
                </a:solidFill>
                <a:latin typeface="Avenir Next"/>
                <a:ea typeface="Avenir Next"/>
                <a:cs typeface="Avenir Next"/>
              </a:defRPr>
            </a:lvl3pPr>
            <a:lvl4pPr>
              <a:defRPr sz="1950" b="0">
                <a:solidFill>
                  <a:srgbClr val="4B2E23"/>
                </a:solidFill>
                <a:latin typeface="Avenir Next"/>
                <a:ea typeface="Avenir Next"/>
                <a:cs typeface="Avenir Next"/>
              </a:defRPr>
            </a:lvl4pPr>
            <a:lvl5pPr>
              <a:defRPr sz="1950" b="0">
                <a:solidFill>
                  <a:srgbClr val="4B2E23"/>
                </a:solidFill>
                <a:latin typeface="Avenir Next"/>
                <a:ea typeface="Avenir Next"/>
                <a:cs typeface="Avenir Next"/>
              </a:defRPr>
            </a:lvl5pPr>
            <a:lvl6pPr>
              <a:defRPr sz="1950" b="0">
                <a:solidFill>
                  <a:srgbClr val="4B2E23"/>
                </a:solidFill>
                <a:latin typeface="Avenir Next"/>
                <a:ea typeface="Avenir Next"/>
                <a:cs typeface="Avenir Next"/>
              </a:defRPr>
            </a:lvl6pPr>
            <a:lvl7pPr>
              <a:defRPr sz="1950" b="0">
                <a:solidFill>
                  <a:srgbClr val="4B2E23"/>
                </a:solidFill>
                <a:latin typeface="Avenir Next"/>
                <a:ea typeface="Avenir Next"/>
                <a:cs typeface="Avenir Next"/>
              </a:defRPr>
            </a:lvl7pPr>
            <a:lvl8pPr>
              <a:defRPr sz="1950" b="0">
                <a:solidFill>
                  <a:srgbClr val="4B2E23"/>
                </a:solidFill>
                <a:latin typeface="Avenir Next"/>
                <a:ea typeface="Avenir Next"/>
                <a:cs typeface="Avenir Next"/>
              </a:defRPr>
            </a:lvl8pPr>
            <a:lvl9pPr>
              <a:defRPr sz="1950" b="0">
                <a:solidFill>
                  <a:srgbClr val="4B2E23"/>
                </a:solidFill>
                <a:latin typeface="Avenir Next"/>
                <a:ea typeface="Avenir Next"/>
                <a:cs typeface="Avenir Next"/>
              </a:defRPr>
            </a:lvl9pPr>
          </a:lstStyle>
          <a:p xmlns:a="http://schemas.openxmlformats.org/drawingml/2006/main">
            <a:pPr>
              <a:defRPr sz="1950" b="0">
                <a:solidFill>
                  <a:srgbClr val="4B2E23"/>
                </a:solidFill>
                <a:latin typeface="Avenir Next"/>
                <a:ea typeface="Avenir Next"/>
                <a:cs typeface="Avenir Next"/>
              </a:defRPr>
            </a:pPr>
            <a:r>
              <a:rPr sz="1950" b="0">
                <a:solidFill>
                  <a:srgbClr val="4B2E23"/>
                </a:solidFill>
                <a:latin typeface="Avenir Next"/>
                <a:ea typeface="Avenir Next"/>
                <a:cs typeface="Avenir Next"/>
              </a:rPr>
              <a:t>Build options follow the design. Current policy requires exact tested push approval and no automatic merge.</a:t>
            </a:r>
          </a:p>
        </p:txBody>
      </p:sp>
    </p:spTree>
    <p:extLst>
      <p:ext uri="{BB962C8B-B14F-4D97-AF65-F5344CB8AC3E}">
        <p14:creationId xmlns:p14="http://schemas.microsoft.com/office/powerpoint/2010/main" val="2817992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2026-10-21T07:24:35.4570000Z</dcterms:created>
  <dcterms:modified xsi:type="dcterms:W3CDTF">2026-10-21T07:24:35.4580000Z</dcterms:modified>
</coreProperties>
</file>